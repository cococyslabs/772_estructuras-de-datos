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Inter Medium" charset="1" panose="02000503000000020004"/>
      <p:regular r:id="rId26"/>
    </p:embeddedFont>
    <p:embeddedFont>
      <p:font typeface="Inter" charset="1" panose="020B0502030000000004"/>
      <p:regular r:id="rId27"/>
    </p:embeddedFont>
    <p:embeddedFont>
      <p:font typeface="Anton" charset="1" panose="00000500000000000000"/>
      <p:regular r:id="rId28"/>
    </p:embeddedFont>
    <p:embeddedFont>
      <p:font typeface="Inter Bold" charset="1" panose="020B08020300000000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5.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0.png" Type="http://schemas.openxmlformats.org/officeDocument/2006/relationships/image"/><Relationship Id="rId9"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5.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6.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7.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scholarhat.com/tutorial/c/data-types-in-c-with-example" TargetMode="External" Type="http://schemas.openxmlformats.org/officeDocument/2006/relationships/hyperlink"/><Relationship Id="rId2" Target="../media/image29.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https://www.scholarhat.com/tutorial/c/array-in-c" TargetMode="External" Type="http://schemas.openxmlformats.org/officeDocument/2006/relationships/hyperlink"/></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430"/>
            <a:ext cx="18267725" cy="10298430"/>
          </a:xfrm>
          <a:custGeom>
            <a:avLst/>
            <a:gdLst/>
            <a:ahLst/>
            <a:cxnLst/>
            <a:rect r="r" b="b" t="t" l="l"/>
            <a:pathLst>
              <a:path h="10298430" w="18267725">
                <a:moveTo>
                  <a:pt x="0" y="0"/>
                </a:moveTo>
                <a:lnTo>
                  <a:pt x="18267725" y="0"/>
                </a:lnTo>
                <a:lnTo>
                  <a:pt x="18267725" y="10298430"/>
                </a:lnTo>
                <a:lnTo>
                  <a:pt x="0" y="10298430"/>
                </a:lnTo>
                <a:lnTo>
                  <a:pt x="0" y="0"/>
                </a:lnTo>
                <a:close/>
              </a:path>
            </a:pathLst>
          </a:custGeom>
          <a:blipFill>
            <a:blip r:embed="rId2"/>
            <a:stretch>
              <a:fillRect l="0" t="0" r="0" b="0"/>
            </a:stretch>
          </a:blipFill>
        </p:spPr>
      </p:sp>
      <p:sp>
        <p:nvSpPr>
          <p:cNvPr name="Freeform 3" id="3"/>
          <p:cNvSpPr/>
          <p:nvPr/>
        </p:nvSpPr>
        <p:spPr>
          <a:xfrm flipH="false" flipV="false" rot="0">
            <a:off x="10227967" y="2468096"/>
            <a:ext cx="7192720" cy="1771207"/>
          </a:xfrm>
          <a:custGeom>
            <a:avLst/>
            <a:gdLst/>
            <a:ahLst/>
            <a:cxnLst/>
            <a:rect r="r" b="b" t="t" l="l"/>
            <a:pathLst>
              <a:path h="1771207" w="7192720">
                <a:moveTo>
                  <a:pt x="0" y="0"/>
                </a:moveTo>
                <a:lnTo>
                  <a:pt x="7192720" y="0"/>
                </a:lnTo>
                <a:lnTo>
                  <a:pt x="7192720" y="1771207"/>
                </a:lnTo>
                <a:lnTo>
                  <a:pt x="0" y="1771207"/>
                </a:lnTo>
                <a:lnTo>
                  <a:pt x="0" y="0"/>
                </a:lnTo>
                <a:close/>
              </a:path>
            </a:pathLst>
          </a:custGeom>
          <a:blipFill>
            <a:blip r:embed="rId3"/>
            <a:stretch>
              <a:fillRect l="0" t="0" r="0" b="0"/>
            </a:stretch>
          </a:blipFill>
        </p:spPr>
      </p:sp>
      <p:sp>
        <p:nvSpPr>
          <p:cNvPr name="TextBox 4" id="4"/>
          <p:cNvSpPr txBox="true"/>
          <p:nvPr/>
        </p:nvSpPr>
        <p:spPr>
          <a:xfrm rot="0">
            <a:off x="2728639" y="4344078"/>
            <a:ext cx="12794942" cy="2486684"/>
          </a:xfrm>
          <a:prstGeom prst="rect">
            <a:avLst/>
          </a:prstGeom>
        </p:spPr>
        <p:txBody>
          <a:bodyPr anchor="t" rtlCol="false" tIns="0" lIns="0" bIns="0" rIns="0">
            <a:spAutoFit/>
          </a:bodyPr>
          <a:lstStyle/>
          <a:p>
            <a:pPr algn="ctr">
              <a:lnSpc>
                <a:spcPts val="9992"/>
              </a:lnSpc>
              <a:spcBef>
                <a:spcPct val="0"/>
              </a:spcBef>
            </a:pPr>
            <a:r>
              <a:rPr lang="en-US" b="true" sz="7137">
                <a:solidFill>
                  <a:srgbClr val="000000"/>
                </a:solidFill>
                <a:latin typeface="Inter Medium"/>
                <a:ea typeface="Inter Medium"/>
                <a:cs typeface="Inter Medium"/>
                <a:sym typeface="Inter Medium"/>
              </a:rPr>
              <a:t>ESTRUCTURAS DE DATOS - x</a:t>
            </a:r>
          </a:p>
          <a:p>
            <a:pPr algn="ctr">
              <a:lnSpc>
                <a:spcPts val="9992"/>
              </a:lnSpc>
              <a:spcBef>
                <a:spcPct val="0"/>
              </a:spcBef>
            </a:pPr>
            <a:r>
              <a:rPr lang="en-US" b="true" sz="7137">
                <a:solidFill>
                  <a:srgbClr val="000000"/>
                </a:solidFill>
                <a:latin typeface="Inter Medium"/>
                <a:ea typeface="Inter Medium"/>
                <a:cs typeface="Inter Medium"/>
                <a:sym typeface="Inter Medium"/>
              </a:rPr>
              <a:t> </a:t>
            </a:r>
          </a:p>
        </p:txBody>
      </p:sp>
      <p:sp>
        <p:nvSpPr>
          <p:cNvPr name="TextBox 5" id="5"/>
          <p:cNvSpPr txBox="true"/>
          <p:nvPr/>
        </p:nvSpPr>
        <p:spPr>
          <a:xfrm rot="0">
            <a:off x="5359840" y="5678064"/>
            <a:ext cx="851042" cy="678779"/>
          </a:xfrm>
          <a:prstGeom prst="rect">
            <a:avLst/>
          </a:prstGeom>
        </p:spPr>
        <p:txBody>
          <a:bodyPr anchor="t" rtlCol="false" tIns="0" lIns="0" bIns="0" rIns="0">
            <a:spAutoFit/>
          </a:bodyPr>
          <a:lstStyle/>
          <a:p>
            <a:pPr algn="ctr">
              <a:lnSpc>
                <a:spcPts val="5568"/>
              </a:lnSpc>
              <a:spcBef>
                <a:spcPct val="0"/>
              </a:spcBef>
            </a:pPr>
            <a:r>
              <a:rPr lang="en-US" sz="3977">
                <a:solidFill>
                  <a:srgbClr val="000000"/>
                </a:solidFill>
                <a:latin typeface="Inter"/>
                <a:ea typeface="Inter"/>
                <a:cs typeface="Inter"/>
                <a:sym typeface="Inter"/>
              </a:rPr>
              <a:t>aux</a:t>
            </a:r>
          </a:p>
        </p:txBody>
      </p:sp>
      <p:sp>
        <p:nvSpPr>
          <p:cNvPr name="TextBox 6" id="6"/>
          <p:cNvSpPr txBox="true"/>
          <p:nvPr/>
        </p:nvSpPr>
        <p:spPr>
          <a:xfrm rot="0">
            <a:off x="10412153" y="2576483"/>
            <a:ext cx="2760495" cy="684248"/>
          </a:xfrm>
          <a:prstGeom prst="rect">
            <a:avLst/>
          </a:prstGeom>
        </p:spPr>
        <p:txBody>
          <a:bodyPr anchor="t" rtlCol="false" tIns="0" lIns="0" bIns="0" rIns="0">
            <a:spAutoFit/>
          </a:bodyPr>
          <a:lstStyle/>
          <a:p>
            <a:pPr algn="ctr">
              <a:lnSpc>
                <a:spcPts val="5531"/>
              </a:lnSpc>
              <a:spcBef>
                <a:spcPct val="0"/>
              </a:spcBef>
            </a:pPr>
            <a:r>
              <a:rPr lang="en-US" b="true" sz="3950">
                <a:solidFill>
                  <a:srgbClr val="000000"/>
                </a:solidFill>
                <a:latin typeface="Inter Medium"/>
                <a:ea typeface="Inter Medium"/>
                <a:cs typeface="Inter Medium"/>
                <a:sym typeface="Inter Medium"/>
              </a:rPr>
              <a:t>Día, Fecha: </a:t>
            </a:r>
          </a:p>
        </p:txBody>
      </p:sp>
      <p:sp>
        <p:nvSpPr>
          <p:cNvPr name="TextBox 7" id="7"/>
          <p:cNvSpPr txBox="true"/>
          <p:nvPr/>
        </p:nvSpPr>
        <p:spPr>
          <a:xfrm rot="0">
            <a:off x="13521218" y="2642759"/>
            <a:ext cx="3379764" cy="595522"/>
          </a:xfrm>
          <a:prstGeom prst="rect">
            <a:avLst/>
          </a:prstGeom>
        </p:spPr>
        <p:txBody>
          <a:bodyPr anchor="t" rtlCol="false" tIns="0" lIns="0" bIns="0" rIns="0">
            <a:spAutoFit/>
          </a:bodyPr>
          <a:lstStyle/>
          <a:p>
            <a:pPr algn="ctr">
              <a:lnSpc>
                <a:spcPts val="4887"/>
              </a:lnSpc>
              <a:spcBef>
                <a:spcPct val="0"/>
              </a:spcBef>
            </a:pPr>
            <a:r>
              <a:rPr lang="en-US" b="true" sz="3490">
                <a:solidFill>
                  <a:srgbClr val="000000"/>
                </a:solidFill>
                <a:latin typeface="Inter Medium"/>
                <a:ea typeface="Inter Medium"/>
                <a:cs typeface="Inter Medium"/>
                <a:sym typeface="Inter Medium"/>
              </a:rPr>
              <a:t>DIA, xx/xx/</a:t>
            </a:r>
            <a:r>
              <a:rPr lang="en-US" b="true" sz="3490">
                <a:solidFill>
                  <a:srgbClr val="000000"/>
                </a:solidFill>
                <a:latin typeface="Inter Medium"/>
                <a:ea typeface="Inter Medium"/>
                <a:cs typeface="Inter Medium"/>
                <a:sym typeface="Inter Medium"/>
              </a:rPr>
              <a:t>2027</a:t>
            </a:r>
          </a:p>
        </p:txBody>
      </p:sp>
      <p:sp>
        <p:nvSpPr>
          <p:cNvPr name="TextBox 8" id="8"/>
          <p:cNvSpPr txBox="true"/>
          <p:nvPr/>
        </p:nvSpPr>
        <p:spPr>
          <a:xfrm rot="0">
            <a:off x="14099325" y="3248924"/>
            <a:ext cx="1603669" cy="859675"/>
          </a:xfrm>
          <a:prstGeom prst="rect">
            <a:avLst/>
          </a:prstGeom>
        </p:spPr>
        <p:txBody>
          <a:bodyPr anchor="t" rtlCol="false" tIns="0" lIns="0" bIns="0" rIns="0">
            <a:spAutoFit/>
          </a:bodyPr>
          <a:lstStyle/>
          <a:p>
            <a:pPr algn="ctr">
              <a:lnSpc>
                <a:spcPts val="6976"/>
              </a:lnSpc>
              <a:spcBef>
                <a:spcPct val="0"/>
              </a:spcBef>
            </a:pPr>
            <a:r>
              <a:rPr lang="en-US" b="true" sz="4983">
                <a:solidFill>
                  <a:srgbClr val="000000"/>
                </a:solidFill>
                <a:latin typeface="Inter Medium"/>
                <a:ea typeface="Inter Medium"/>
                <a:cs typeface="Inter Medium"/>
                <a:sym typeface="Inter Medium"/>
              </a:rPr>
              <a:t>17</a:t>
            </a:r>
            <a:r>
              <a:rPr lang="en-US" b="true" sz="4983">
                <a:solidFill>
                  <a:srgbClr val="000000"/>
                </a:solidFill>
                <a:latin typeface="Inter Medium"/>
                <a:ea typeface="Inter Medium"/>
                <a:cs typeface="Inter Medium"/>
                <a:sym typeface="Inter Medium"/>
              </a:rPr>
              <a:t>:25</a:t>
            </a:r>
          </a:p>
        </p:txBody>
      </p:sp>
      <p:sp>
        <p:nvSpPr>
          <p:cNvPr name="TextBox 9" id="9"/>
          <p:cNvSpPr txBox="true"/>
          <p:nvPr/>
        </p:nvSpPr>
        <p:spPr>
          <a:xfrm rot="0">
            <a:off x="10412153" y="3415298"/>
            <a:ext cx="2733601" cy="543878"/>
          </a:xfrm>
          <a:prstGeom prst="rect">
            <a:avLst/>
          </a:prstGeom>
        </p:spPr>
        <p:txBody>
          <a:bodyPr anchor="t" rtlCol="false" tIns="0" lIns="0" bIns="0" rIns="0">
            <a:spAutoFit/>
          </a:bodyPr>
          <a:lstStyle/>
          <a:p>
            <a:pPr algn="ctr">
              <a:lnSpc>
                <a:spcPts val="4410"/>
              </a:lnSpc>
              <a:spcBef>
                <a:spcPct val="0"/>
              </a:spcBef>
            </a:pPr>
            <a:r>
              <a:rPr lang="en-US" b="true" sz="3150">
                <a:solidFill>
                  <a:srgbClr val="000000"/>
                </a:solidFill>
                <a:latin typeface="Inter Medium"/>
                <a:ea typeface="Inter Medium"/>
                <a:cs typeface="Inter Medium"/>
                <a:sym typeface="Inter Medium"/>
              </a:rPr>
              <a:t>Hora de inicio: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78324">
            <a:off x="16510765" y="8736045"/>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399375" y="4583851"/>
            <a:ext cx="498808" cy="849363"/>
          </a:xfrm>
          <a:custGeom>
            <a:avLst/>
            <a:gdLst/>
            <a:ahLst/>
            <a:cxnLst/>
            <a:rect r="r" b="b" t="t" l="l"/>
            <a:pathLst>
              <a:path h="849363" w="498808">
                <a:moveTo>
                  <a:pt x="0" y="0"/>
                </a:moveTo>
                <a:lnTo>
                  <a:pt x="498808" y="0"/>
                </a:lnTo>
                <a:lnTo>
                  <a:pt x="498808" y="849363"/>
                </a:lnTo>
                <a:lnTo>
                  <a:pt x="0" y="8493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44272"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459844"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561106" y="1346835"/>
            <a:ext cx="6335946"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AGENDA</a:t>
            </a:r>
          </a:p>
        </p:txBody>
      </p:sp>
      <p:sp>
        <p:nvSpPr>
          <p:cNvPr name="TextBox 8" id="8"/>
          <p:cNvSpPr txBox="true"/>
          <p:nvPr/>
        </p:nvSpPr>
        <p:spPr>
          <a:xfrm rot="0">
            <a:off x="2010475" y="3604559"/>
            <a:ext cx="13555582" cy="4729420"/>
          </a:xfrm>
          <a:prstGeom prst="rect">
            <a:avLst/>
          </a:prstGeom>
        </p:spPr>
        <p:txBody>
          <a:bodyPr anchor="t" rtlCol="false" tIns="0" lIns="0" bIns="0" rIns="0">
            <a:spAutoFit/>
          </a:bodyPr>
          <a:lstStyle/>
          <a:p>
            <a:pPr algn="l" marL="729660" indent="-364830" lvl="1">
              <a:lnSpc>
                <a:spcPts val="4731"/>
              </a:lnSpc>
              <a:buFont typeface="Arial"/>
              <a:buChar char="•"/>
            </a:pPr>
            <a:r>
              <a:rPr lang="en-US" sz="3379">
                <a:solidFill>
                  <a:srgbClr val="000000"/>
                </a:solidFill>
                <a:latin typeface="Inter"/>
                <a:ea typeface="Inter"/>
                <a:cs typeface="Inter"/>
                <a:sym typeface="Inter"/>
              </a:rPr>
              <a:t>Avisos Generales</a:t>
            </a:r>
          </a:p>
          <a:p>
            <a:pPr algn="l" marL="729660" indent="-364830" lvl="1">
              <a:lnSpc>
                <a:spcPts val="4731"/>
              </a:lnSpc>
              <a:buFont typeface="Arial"/>
              <a:buChar char="•"/>
            </a:pPr>
            <a:r>
              <a:rPr lang="en-US" sz="3379">
                <a:solidFill>
                  <a:srgbClr val="000000"/>
                </a:solidFill>
                <a:latin typeface="Inter"/>
                <a:ea typeface="Inter"/>
                <a:cs typeface="Inter"/>
                <a:sym typeface="Inter"/>
              </a:rPr>
              <a:t>Dudas del proyecto</a:t>
            </a:r>
          </a:p>
          <a:p>
            <a:pPr algn="l" marL="729660" indent="-364830" lvl="1">
              <a:lnSpc>
                <a:spcPts val="4731"/>
              </a:lnSpc>
              <a:buFont typeface="Arial"/>
              <a:buChar char="•"/>
            </a:pPr>
            <a:r>
              <a:rPr lang="en-US" sz="3379">
                <a:solidFill>
                  <a:srgbClr val="000000"/>
                </a:solidFill>
                <a:latin typeface="Inter"/>
                <a:ea typeface="Inter"/>
                <a:cs typeface="Inter"/>
                <a:sym typeface="Inter"/>
              </a:rPr>
              <a:t>actualizacion de proyecto f1</a:t>
            </a:r>
          </a:p>
          <a:p>
            <a:pPr algn="l" marL="729660" indent="-364830" lvl="1">
              <a:lnSpc>
                <a:spcPts val="4731"/>
              </a:lnSpc>
              <a:buFont typeface="Arial"/>
              <a:buChar char="•"/>
            </a:pPr>
            <a:r>
              <a:rPr lang="en-US" sz="3379">
                <a:solidFill>
                  <a:srgbClr val="000000"/>
                </a:solidFill>
                <a:latin typeface="Inter"/>
                <a:ea typeface="Inter"/>
                <a:cs typeface="Inter"/>
                <a:sym typeface="Inter"/>
              </a:rPr>
              <a:t>Asignación a DTT </a:t>
            </a:r>
          </a:p>
          <a:p>
            <a:pPr algn="l" marL="1459321" indent="-486440" lvl="2">
              <a:lnSpc>
                <a:spcPts val="4731"/>
              </a:lnSpc>
              <a:buFont typeface="Arial"/>
              <a:buChar char="⚬"/>
            </a:pPr>
            <a:r>
              <a:rPr lang="en-US" sz="3379">
                <a:solidFill>
                  <a:srgbClr val="000000"/>
                </a:solidFill>
                <a:latin typeface="Inter"/>
                <a:ea typeface="Inter"/>
                <a:cs typeface="Inter"/>
                <a:sym typeface="Inter"/>
              </a:rPr>
              <a:t>(ultima oportunidad de avisar si no están asignados)</a:t>
            </a:r>
          </a:p>
          <a:p>
            <a:pPr algn="l" marL="729660" indent="-364830" lvl="1">
              <a:lnSpc>
                <a:spcPts val="4731"/>
              </a:lnSpc>
              <a:buFont typeface="Arial"/>
              <a:buChar char="•"/>
            </a:pPr>
            <a:r>
              <a:rPr lang="en-US" sz="3379">
                <a:solidFill>
                  <a:srgbClr val="000000"/>
                </a:solidFill>
                <a:latin typeface="Inter"/>
                <a:ea typeface="Inter"/>
                <a:cs typeface="Inter"/>
                <a:sym typeface="Inter"/>
              </a:rPr>
              <a:t>Listas circulares</a:t>
            </a:r>
          </a:p>
          <a:p>
            <a:pPr algn="l" marL="729660" indent="-364830" lvl="1">
              <a:lnSpc>
                <a:spcPts val="4731"/>
              </a:lnSpc>
              <a:buFont typeface="Arial"/>
              <a:buChar char="•"/>
            </a:pPr>
            <a:r>
              <a:rPr lang="en-US" sz="3379">
                <a:solidFill>
                  <a:srgbClr val="000000"/>
                </a:solidFill>
                <a:latin typeface="Inter"/>
                <a:ea typeface="Inter"/>
                <a:cs typeface="Inter"/>
                <a:sym typeface="Inter"/>
              </a:rPr>
              <a:t>Introduccion a Listas de listas</a:t>
            </a:r>
          </a:p>
          <a:p>
            <a:pPr algn="l" marL="729660" indent="-364830" lvl="1">
              <a:lnSpc>
                <a:spcPts val="4731"/>
              </a:lnSpc>
              <a:buFont typeface="Arial"/>
              <a:buChar char="•"/>
            </a:pPr>
            <a:r>
              <a:rPr lang="en-US" sz="3379">
                <a:solidFill>
                  <a:srgbClr val="000000"/>
                </a:solidFill>
                <a:latin typeface="Inter"/>
                <a:ea typeface="Inter"/>
                <a:cs typeface="Inter"/>
                <a:sym typeface="Inter"/>
              </a:rPr>
              <a:t>Dudas?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2923" y="610095"/>
            <a:ext cx="5451344" cy="6924340"/>
          </a:xfrm>
          <a:custGeom>
            <a:avLst/>
            <a:gdLst/>
            <a:ahLst/>
            <a:cxnLst/>
            <a:rect r="r" b="b" t="t" l="l"/>
            <a:pathLst>
              <a:path h="6924340" w="5451344">
                <a:moveTo>
                  <a:pt x="0" y="0"/>
                </a:moveTo>
                <a:lnTo>
                  <a:pt x="5451344" y="0"/>
                </a:lnTo>
                <a:lnTo>
                  <a:pt x="5451344" y="6924340"/>
                </a:lnTo>
                <a:lnTo>
                  <a:pt x="0" y="6924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78324">
            <a:off x="1153800" y="7869185"/>
            <a:ext cx="969389" cy="1306774"/>
          </a:xfrm>
          <a:custGeom>
            <a:avLst/>
            <a:gdLst/>
            <a:ahLst/>
            <a:cxnLst/>
            <a:rect r="r" b="b" t="t" l="l"/>
            <a:pathLst>
              <a:path h="1306774" w="969389">
                <a:moveTo>
                  <a:pt x="0" y="0"/>
                </a:moveTo>
                <a:lnTo>
                  <a:pt x="969389" y="0"/>
                </a:lnTo>
                <a:lnTo>
                  <a:pt x="969389" y="1306774"/>
                </a:lnTo>
                <a:lnTo>
                  <a:pt x="0" y="13067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14666" y="2166144"/>
            <a:ext cx="1127677" cy="1127677"/>
          </a:xfrm>
          <a:custGeom>
            <a:avLst/>
            <a:gdLst/>
            <a:ahLst/>
            <a:cxnLst/>
            <a:rect r="r" b="b" t="t" l="l"/>
            <a:pathLst>
              <a:path h="1127677" w="1127677">
                <a:moveTo>
                  <a:pt x="0" y="0"/>
                </a:moveTo>
                <a:lnTo>
                  <a:pt x="1127677" y="0"/>
                </a:lnTo>
                <a:lnTo>
                  <a:pt x="1127677" y="1127677"/>
                </a:lnTo>
                <a:lnTo>
                  <a:pt x="0" y="11276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9996739" y="4081790"/>
            <a:ext cx="7107899" cy="3152775"/>
          </a:xfrm>
          <a:prstGeom prst="rect">
            <a:avLst/>
          </a:prstGeom>
        </p:spPr>
        <p:txBody>
          <a:bodyPr anchor="t" rtlCol="false" tIns="0" lIns="0" bIns="0" rIns="0">
            <a:spAutoFit/>
          </a:bodyPr>
          <a:lstStyle/>
          <a:p>
            <a:pPr algn="l">
              <a:lnSpc>
                <a:spcPts val="12480"/>
              </a:lnSpc>
            </a:pPr>
            <a:r>
              <a:rPr lang="en-US" sz="10400">
                <a:solidFill>
                  <a:srgbClr val="000000"/>
                </a:solidFill>
                <a:latin typeface="Anton"/>
                <a:ea typeface="Anton"/>
                <a:cs typeface="Anton"/>
                <a:sym typeface="Anton"/>
              </a:rPr>
              <a:t>DUDAS DEL PROYECTO?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145125" y="2759842"/>
            <a:ext cx="9787511" cy="7234881"/>
            <a:chOff x="0" y="0"/>
            <a:chExt cx="13050015" cy="9646508"/>
          </a:xfrm>
        </p:grpSpPr>
        <p:grpSp>
          <p:nvGrpSpPr>
            <p:cNvPr name="Group 3" id="3"/>
            <p:cNvGrpSpPr/>
            <p:nvPr/>
          </p:nvGrpSpPr>
          <p:grpSpPr>
            <a:xfrm rot="0">
              <a:off x="0" y="0"/>
              <a:ext cx="13050015" cy="9646508"/>
              <a:chOff x="0" y="0"/>
              <a:chExt cx="2106363" cy="1557014"/>
            </a:xfrm>
          </p:grpSpPr>
          <p:sp>
            <p:nvSpPr>
              <p:cNvPr name="Freeform 4" id="4"/>
              <p:cNvSpPr/>
              <p:nvPr/>
            </p:nvSpPr>
            <p:spPr>
              <a:xfrm flipH="false" flipV="false" rot="0">
                <a:off x="0" y="0"/>
                <a:ext cx="2106363" cy="1557014"/>
              </a:xfrm>
              <a:custGeom>
                <a:avLst/>
                <a:gdLst/>
                <a:ahLst/>
                <a:cxnLst/>
                <a:rect r="r" b="b" t="t" l="l"/>
                <a:pathLst>
                  <a:path h="1557014" w="2106363">
                    <a:moveTo>
                      <a:pt x="0" y="0"/>
                    </a:moveTo>
                    <a:lnTo>
                      <a:pt x="2106363" y="0"/>
                    </a:lnTo>
                    <a:lnTo>
                      <a:pt x="2106363" y="1557014"/>
                    </a:lnTo>
                    <a:lnTo>
                      <a:pt x="0" y="1557014"/>
                    </a:lnTo>
                    <a:close/>
                  </a:path>
                </a:pathLst>
              </a:custGeom>
              <a:solidFill>
                <a:srgbClr val="F7F7F0"/>
              </a:solidFill>
              <a:ln w="38100" cap="sq">
                <a:solidFill>
                  <a:srgbClr val="000000"/>
                </a:solidFill>
                <a:prstDash val="solid"/>
                <a:miter/>
              </a:ln>
            </p:spPr>
          </p:sp>
          <p:sp>
            <p:nvSpPr>
              <p:cNvPr name="TextBox 5" id="5"/>
              <p:cNvSpPr txBox="true"/>
              <p:nvPr/>
            </p:nvSpPr>
            <p:spPr>
              <a:xfrm>
                <a:off x="0" y="-47625"/>
                <a:ext cx="2106363" cy="1604639"/>
              </a:xfrm>
              <a:prstGeom prst="rect">
                <a:avLst/>
              </a:prstGeom>
            </p:spPr>
            <p:txBody>
              <a:bodyPr anchor="ctr" rtlCol="false" tIns="50800" lIns="50800" bIns="50800" rIns="50800"/>
              <a:lstStyle/>
              <a:p>
                <a:pPr algn="ctr">
                  <a:lnSpc>
                    <a:spcPts val="2940"/>
                  </a:lnSpc>
                </a:pPr>
              </a:p>
            </p:txBody>
          </p:sp>
        </p:grpSp>
        <p:sp>
          <p:nvSpPr>
            <p:cNvPr name="TextBox 6" id="6"/>
            <p:cNvSpPr txBox="true"/>
            <p:nvPr/>
          </p:nvSpPr>
          <p:spPr>
            <a:xfrm rot="0">
              <a:off x="5014502" y="5810524"/>
              <a:ext cx="8035513" cy="474630"/>
            </a:xfrm>
            <a:prstGeom prst="rect">
              <a:avLst/>
            </a:prstGeom>
          </p:spPr>
          <p:txBody>
            <a:bodyPr anchor="t" rtlCol="false" tIns="0" lIns="0" bIns="0" rIns="0">
              <a:spAutoFit/>
            </a:bodyPr>
            <a:lstStyle/>
            <a:p>
              <a:pPr algn="ctr">
                <a:lnSpc>
                  <a:spcPts val="3083"/>
                </a:lnSpc>
              </a:pPr>
            </a:p>
          </p:txBody>
        </p:sp>
      </p:grpSp>
      <p:grpSp>
        <p:nvGrpSpPr>
          <p:cNvPr name="Group 7" id="7"/>
          <p:cNvGrpSpPr/>
          <p:nvPr/>
        </p:nvGrpSpPr>
        <p:grpSpPr>
          <a:xfrm rot="0">
            <a:off x="1698595" y="3415295"/>
            <a:ext cx="5771418" cy="4021049"/>
            <a:chOff x="0" y="0"/>
            <a:chExt cx="7695224" cy="5361399"/>
          </a:xfrm>
        </p:grpSpPr>
        <p:grpSp>
          <p:nvGrpSpPr>
            <p:cNvPr name="Group 8" id="8"/>
            <p:cNvGrpSpPr/>
            <p:nvPr/>
          </p:nvGrpSpPr>
          <p:grpSpPr>
            <a:xfrm rot="0">
              <a:off x="0" y="0"/>
              <a:ext cx="7695224" cy="5361399"/>
              <a:chOff x="0" y="0"/>
              <a:chExt cx="1166613" cy="812800"/>
            </a:xfrm>
          </p:grpSpPr>
          <p:sp>
            <p:nvSpPr>
              <p:cNvPr name="Freeform 9" id="9"/>
              <p:cNvSpPr/>
              <p:nvPr/>
            </p:nvSpPr>
            <p:spPr>
              <a:xfrm flipH="false" flipV="false" rot="0">
                <a:off x="0" y="0"/>
                <a:ext cx="1166613" cy="812800"/>
              </a:xfrm>
              <a:custGeom>
                <a:avLst/>
                <a:gdLst/>
                <a:ahLst/>
                <a:cxnLst/>
                <a:rect r="r" b="b" t="t" l="l"/>
                <a:pathLst>
                  <a:path h="812800" w="1166613">
                    <a:moveTo>
                      <a:pt x="0" y="0"/>
                    </a:moveTo>
                    <a:lnTo>
                      <a:pt x="1166613" y="0"/>
                    </a:lnTo>
                    <a:lnTo>
                      <a:pt x="1166613" y="812800"/>
                    </a:lnTo>
                    <a:lnTo>
                      <a:pt x="0" y="812800"/>
                    </a:lnTo>
                    <a:close/>
                  </a:path>
                </a:pathLst>
              </a:custGeom>
              <a:solidFill>
                <a:srgbClr val="F7F7F0"/>
              </a:solidFill>
              <a:ln w="38100" cap="sq">
                <a:solidFill>
                  <a:srgbClr val="000000"/>
                </a:solidFill>
                <a:prstDash val="solid"/>
                <a:miter/>
              </a:ln>
            </p:spPr>
          </p:sp>
          <p:sp>
            <p:nvSpPr>
              <p:cNvPr name="TextBox 10" id="10"/>
              <p:cNvSpPr txBox="true"/>
              <p:nvPr/>
            </p:nvSpPr>
            <p:spPr>
              <a:xfrm>
                <a:off x="0" y="-47625"/>
                <a:ext cx="1166613" cy="860425"/>
              </a:xfrm>
              <a:prstGeom prst="rect">
                <a:avLst/>
              </a:prstGeom>
            </p:spPr>
            <p:txBody>
              <a:bodyPr anchor="ctr" rtlCol="false" tIns="50800" lIns="50800" bIns="50800" rIns="50800"/>
              <a:lstStyle/>
              <a:p>
                <a:pPr algn="ctr">
                  <a:lnSpc>
                    <a:spcPts val="2939"/>
                  </a:lnSpc>
                </a:pPr>
              </a:p>
            </p:txBody>
          </p:sp>
        </p:grpSp>
        <p:sp>
          <p:nvSpPr>
            <p:cNvPr name="TextBox 11" id="11"/>
            <p:cNvSpPr txBox="true"/>
            <p:nvPr/>
          </p:nvSpPr>
          <p:spPr>
            <a:xfrm rot="0">
              <a:off x="1609090" y="1672050"/>
              <a:ext cx="4477043" cy="1606402"/>
            </a:xfrm>
            <a:prstGeom prst="rect">
              <a:avLst/>
            </a:prstGeom>
          </p:spPr>
          <p:txBody>
            <a:bodyPr anchor="t" rtlCol="false" tIns="0" lIns="0" bIns="0" rIns="0">
              <a:spAutoFit/>
            </a:bodyPr>
            <a:lstStyle/>
            <a:p>
              <a:pPr algn="ctr">
                <a:lnSpc>
                  <a:spcPts val="3283"/>
                </a:lnSpc>
              </a:pPr>
              <a:r>
                <a:rPr lang="en-US" sz="2345">
                  <a:solidFill>
                    <a:srgbClr val="000000"/>
                  </a:solidFill>
                  <a:latin typeface="Inter"/>
                  <a:ea typeface="Inter"/>
                  <a:cs typeface="Inter"/>
                  <a:sym typeface="Inter"/>
                </a:rPr>
                <a:t>Una lis</a:t>
              </a:r>
              <a:r>
                <a:rPr lang="en-US" sz="2345">
                  <a:solidFill>
                    <a:srgbClr val="000000"/>
                  </a:solidFill>
                  <a:latin typeface="Inter"/>
                  <a:ea typeface="Inter"/>
                  <a:cs typeface="Inter"/>
                  <a:sym typeface="Inter"/>
                </a:rPr>
                <a:t>ta circular simple la podemos representar gráficamente:</a:t>
              </a:r>
            </a:p>
          </p:txBody>
        </p:sp>
      </p:grpSp>
      <p:sp>
        <p:nvSpPr>
          <p:cNvPr name="Freeform 12" id="12"/>
          <p:cNvSpPr/>
          <p:nvPr/>
        </p:nvSpPr>
        <p:spPr>
          <a:xfrm flipH="false" flipV="false" rot="0">
            <a:off x="9333167" y="3064363"/>
            <a:ext cx="7803878" cy="2361457"/>
          </a:xfrm>
          <a:custGeom>
            <a:avLst/>
            <a:gdLst/>
            <a:ahLst/>
            <a:cxnLst/>
            <a:rect r="r" b="b" t="t" l="l"/>
            <a:pathLst>
              <a:path h="2361457" w="7803878">
                <a:moveTo>
                  <a:pt x="0" y="0"/>
                </a:moveTo>
                <a:lnTo>
                  <a:pt x="7803878" y="0"/>
                </a:lnTo>
                <a:lnTo>
                  <a:pt x="7803878" y="2361457"/>
                </a:lnTo>
                <a:lnTo>
                  <a:pt x="0" y="2361457"/>
                </a:lnTo>
                <a:lnTo>
                  <a:pt x="0" y="0"/>
                </a:lnTo>
                <a:close/>
              </a:path>
            </a:pathLst>
          </a:custGeom>
          <a:blipFill>
            <a:blip r:embed="rId2"/>
            <a:stretch>
              <a:fillRect l="-11102" t="-34875" r="-6895" b="-31826"/>
            </a:stretch>
          </a:blipFill>
        </p:spPr>
      </p:sp>
      <p:sp>
        <p:nvSpPr>
          <p:cNvPr name="TextBox 13" id="13"/>
          <p:cNvSpPr txBox="true"/>
          <p:nvPr/>
        </p:nvSpPr>
        <p:spPr>
          <a:xfrm rot="0">
            <a:off x="791388" y="1346835"/>
            <a:ext cx="9218459" cy="1248209"/>
          </a:xfrm>
          <a:prstGeom prst="rect">
            <a:avLst/>
          </a:prstGeom>
        </p:spPr>
        <p:txBody>
          <a:bodyPr anchor="t" rtlCol="false" tIns="0" lIns="0" bIns="0" rIns="0">
            <a:spAutoFit/>
          </a:bodyPr>
          <a:lstStyle/>
          <a:p>
            <a:pPr algn="ctr">
              <a:lnSpc>
                <a:spcPts val="9828"/>
              </a:lnSpc>
            </a:pPr>
            <a:r>
              <a:rPr lang="en-US" sz="8190">
                <a:solidFill>
                  <a:srgbClr val="000000"/>
                </a:solidFill>
                <a:latin typeface="Anton"/>
                <a:ea typeface="Anton"/>
                <a:cs typeface="Anton"/>
                <a:sym typeface="Anton"/>
              </a:rPr>
              <a:t>LISTAS CIRCULARES</a:t>
            </a:r>
          </a:p>
        </p:txBody>
      </p:sp>
      <p:sp>
        <p:nvSpPr>
          <p:cNvPr name="TextBox 14" id="14"/>
          <p:cNvSpPr txBox="true"/>
          <p:nvPr/>
        </p:nvSpPr>
        <p:spPr>
          <a:xfrm rot="0">
            <a:off x="8557042" y="5607257"/>
            <a:ext cx="8967483" cy="3769156"/>
          </a:xfrm>
          <a:prstGeom prst="rect">
            <a:avLst/>
          </a:prstGeom>
        </p:spPr>
        <p:txBody>
          <a:bodyPr anchor="t" rtlCol="false" tIns="0" lIns="0" bIns="0" rIns="0">
            <a:spAutoFit/>
          </a:bodyPr>
          <a:lstStyle/>
          <a:p>
            <a:pPr algn="just">
              <a:lnSpc>
                <a:spcPts val="3301"/>
              </a:lnSpc>
              <a:spcBef>
                <a:spcPct val="0"/>
              </a:spcBef>
            </a:pPr>
            <a:r>
              <a:rPr lang="en-US" b="true" sz="2358">
                <a:solidFill>
                  <a:srgbClr val="000000"/>
                </a:solidFill>
                <a:latin typeface="Inter Bold"/>
                <a:ea typeface="Inter Bold"/>
                <a:cs typeface="Inter Bold"/>
                <a:sym typeface="Inter Bold"/>
              </a:rPr>
              <a:t>Una lista enlazada circular es un tipo de estructura de datos donde cada nodo apunta al siguiente nodo y el último nodo apunta al primero, formando un círculo. </a:t>
            </a:r>
          </a:p>
          <a:p>
            <a:pPr algn="just">
              <a:lnSpc>
                <a:spcPts val="3301"/>
              </a:lnSpc>
              <a:spcBef>
                <a:spcPct val="0"/>
              </a:spcBef>
            </a:pPr>
          </a:p>
          <a:p>
            <a:pPr algn="just">
              <a:lnSpc>
                <a:spcPts val="3301"/>
              </a:lnSpc>
              <a:spcBef>
                <a:spcPct val="0"/>
              </a:spcBef>
            </a:pPr>
            <a:r>
              <a:rPr lang="en-US" b="true" sz="2358">
                <a:solidFill>
                  <a:srgbClr val="000000"/>
                </a:solidFill>
                <a:latin typeface="Inter Bold"/>
                <a:ea typeface="Inter Bold"/>
                <a:cs typeface="Inter Bold"/>
                <a:sym typeface="Inter Bold"/>
              </a:rPr>
              <a:t>Esta configuración permite un ciclo interminable de recorrido de nodos, lo que puede resultar particularmente útil en aplicaciones donde el final de la lista se vuelve a conectar naturalmente con el principio.</a:t>
            </a:r>
          </a:p>
          <a:p>
            <a:pPr algn="just">
              <a:lnSpc>
                <a:spcPts val="3301"/>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44272"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459844"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0574977" y="7732305"/>
            <a:ext cx="6461430" cy="993589"/>
            <a:chOff x="0" y="0"/>
            <a:chExt cx="8615240" cy="1324786"/>
          </a:xfrm>
        </p:grpSpPr>
        <p:sp>
          <p:nvSpPr>
            <p:cNvPr name="Freeform 6" id="6"/>
            <p:cNvSpPr/>
            <p:nvPr/>
          </p:nvSpPr>
          <p:spPr>
            <a:xfrm flipH="false" flipV="false" rot="0">
              <a:off x="0" y="614911"/>
              <a:ext cx="709875" cy="709875"/>
            </a:xfrm>
            <a:custGeom>
              <a:avLst/>
              <a:gdLst/>
              <a:ahLst/>
              <a:cxnLst/>
              <a:rect r="r" b="b" t="t" l="l"/>
              <a:pathLst>
                <a:path h="709875" w="709875">
                  <a:moveTo>
                    <a:pt x="0" y="0"/>
                  </a:moveTo>
                  <a:lnTo>
                    <a:pt x="709875" y="0"/>
                  </a:lnTo>
                  <a:lnTo>
                    <a:pt x="709875" y="709875"/>
                  </a:lnTo>
                  <a:lnTo>
                    <a:pt x="0" y="7098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265890" y="705257"/>
              <a:ext cx="7349350" cy="396240"/>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next almacena la dirección de 1</a:t>
              </a:r>
            </a:p>
          </p:txBody>
        </p:sp>
        <p:sp>
          <p:nvSpPr>
            <p:cNvPr name="TextBox 8" id="8"/>
            <p:cNvSpPr txBox="true"/>
            <p:nvPr/>
          </p:nvSpPr>
          <p:spPr>
            <a:xfrm rot="0">
              <a:off x="1265890" y="-47625"/>
              <a:ext cx="7349350" cy="471805"/>
            </a:xfrm>
            <a:prstGeom prst="rect">
              <a:avLst/>
            </a:prstGeom>
          </p:spPr>
          <p:txBody>
            <a:bodyPr anchor="t" rtlCol="false" tIns="0" lIns="0" bIns="0" rIns="0">
              <a:spAutoFit/>
            </a:bodyPr>
            <a:lstStyle/>
            <a:p>
              <a:pPr algn="l">
                <a:lnSpc>
                  <a:spcPts val="2940"/>
                </a:lnSpc>
              </a:pPr>
              <a:r>
                <a:rPr lang="en-US" sz="2100" b="true">
                  <a:solidFill>
                    <a:srgbClr val="000000"/>
                  </a:solidFill>
                  <a:latin typeface="Inter Medium"/>
                  <a:ea typeface="Inter Medium"/>
                  <a:cs typeface="Inter Medium"/>
                  <a:sym typeface="Inter Medium"/>
                </a:rPr>
                <a:t>Para el NODO 3 </a:t>
              </a:r>
            </a:p>
          </p:txBody>
        </p:sp>
      </p:grpSp>
      <p:grpSp>
        <p:nvGrpSpPr>
          <p:cNvPr name="Group 9" id="9"/>
          <p:cNvGrpSpPr/>
          <p:nvPr/>
        </p:nvGrpSpPr>
        <p:grpSpPr>
          <a:xfrm rot="0">
            <a:off x="10574977" y="5844776"/>
            <a:ext cx="7170309" cy="1102595"/>
            <a:chOff x="0" y="0"/>
            <a:chExt cx="9560412" cy="1470127"/>
          </a:xfrm>
        </p:grpSpPr>
        <p:sp>
          <p:nvSpPr>
            <p:cNvPr name="Freeform 10" id="10"/>
            <p:cNvSpPr/>
            <p:nvPr/>
          </p:nvSpPr>
          <p:spPr>
            <a:xfrm flipH="false" flipV="false" rot="0">
              <a:off x="0" y="682373"/>
              <a:ext cx="787754" cy="787754"/>
            </a:xfrm>
            <a:custGeom>
              <a:avLst/>
              <a:gdLst/>
              <a:ahLst/>
              <a:cxnLst/>
              <a:rect r="r" b="b" t="t" l="l"/>
              <a:pathLst>
                <a:path h="787754" w="787754">
                  <a:moveTo>
                    <a:pt x="0" y="0"/>
                  </a:moveTo>
                  <a:lnTo>
                    <a:pt x="787754" y="0"/>
                  </a:lnTo>
                  <a:lnTo>
                    <a:pt x="787754" y="787754"/>
                  </a:lnTo>
                  <a:lnTo>
                    <a:pt x="0" y="7877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404770" y="786810"/>
              <a:ext cx="8155642" cy="435531"/>
            </a:xfrm>
            <a:prstGeom prst="rect">
              <a:avLst/>
            </a:prstGeom>
          </p:spPr>
          <p:txBody>
            <a:bodyPr anchor="t" rtlCol="false" tIns="0" lIns="0" bIns="0" rIns="0">
              <a:spAutoFit/>
            </a:bodyPr>
            <a:lstStyle/>
            <a:p>
              <a:pPr algn="l">
                <a:lnSpc>
                  <a:spcPts val="2796"/>
                </a:lnSpc>
              </a:pPr>
              <a:r>
                <a:rPr lang="en-US" sz="1997">
                  <a:solidFill>
                    <a:srgbClr val="000000"/>
                  </a:solidFill>
                  <a:latin typeface="Inter"/>
                  <a:ea typeface="Inter"/>
                  <a:cs typeface="Inter"/>
                  <a:sym typeface="Inter"/>
                </a:rPr>
                <a:t>next almacena la dirección de 3</a:t>
              </a:r>
            </a:p>
          </p:txBody>
        </p:sp>
        <p:sp>
          <p:nvSpPr>
            <p:cNvPr name="TextBox 12" id="12"/>
            <p:cNvSpPr txBox="true"/>
            <p:nvPr/>
          </p:nvSpPr>
          <p:spPr>
            <a:xfrm rot="0">
              <a:off x="1404770" y="-47625"/>
              <a:ext cx="8155642" cy="518342"/>
            </a:xfrm>
            <a:prstGeom prst="rect">
              <a:avLst/>
            </a:prstGeom>
          </p:spPr>
          <p:txBody>
            <a:bodyPr anchor="t" rtlCol="false" tIns="0" lIns="0" bIns="0" rIns="0">
              <a:spAutoFit/>
            </a:bodyPr>
            <a:lstStyle/>
            <a:p>
              <a:pPr algn="l">
                <a:lnSpc>
                  <a:spcPts val="3262"/>
                </a:lnSpc>
              </a:pPr>
              <a:r>
                <a:rPr lang="en-US" sz="2330" b="true">
                  <a:solidFill>
                    <a:srgbClr val="000000"/>
                  </a:solidFill>
                  <a:latin typeface="Inter Medium"/>
                  <a:ea typeface="Inter Medium"/>
                  <a:cs typeface="Inter Medium"/>
                  <a:sym typeface="Inter Medium"/>
                </a:rPr>
                <a:t>Para el NODO 2</a:t>
              </a:r>
            </a:p>
          </p:txBody>
        </p:sp>
      </p:grpSp>
      <p:grpSp>
        <p:nvGrpSpPr>
          <p:cNvPr name="Group 13" id="13"/>
          <p:cNvGrpSpPr/>
          <p:nvPr/>
        </p:nvGrpSpPr>
        <p:grpSpPr>
          <a:xfrm rot="0">
            <a:off x="10574977" y="3757009"/>
            <a:ext cx="7043994" cy="1261269"/>
            <a:chOff x="0" y="0"/>
            <a:chExt cx="9391991" cy="1681693"/>
          </a:xfrm>
        </p:grpSpPr>
        <p:sp>
          <p:nvSpPr>
            <p:cNvPr name="Freeform 14" id="14"/>
            <p:cNvSpPr/>
            <p:nvPr/>
          </p:nvSpPr>
          <p:spPr>
            <a:xfrm flipH="false" flipV="false" rot="0">
              <a:off x="0" y="694350"/>
              <a:ext cx="773877" cy="773877"/>
            </a:xfrm>
            <a:custGeom>
              <a:avLst/>
              <a:gdLst/>
              <a:ahLst/>
              <a:cxnLst/>
              <a:rect r="r" b="b" t="t" l="l"/>
              <a:pathLst>
                <a:path h="773877" w="773877">
                  <a:moveTo>
                    <a:pt x="0" y="0"/>
                  </a:moveTo>
                  <a:lnTo>
                    <a:pt x="773877" y="0"/>
                  </a:lnTo>
                  <a:lnTo>
                    <a:pt x="773877" y="773877"/>
                  </a:lnTo>
                  <a:lnTo>
                    <a:pt x="0" y="7738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380023" y="786752"/>
              <a:ext cx="8011968" cy="894941"/>
            </a:xfrm>
            <a:prstGeom prst="rect">
              <a:avLst/>
            </a:prstGeom>
          </p:spPr>
          <p:txBody>
            <a:bodyPr anchor="t" rtlCol="false" tIns="0" lIns="0" bIns="0" rIns="0">
              <a:spAutoFit/>
            </a:bodyPr>
            <a:lstStyle/>
            <a:p>
              <a:pPr algn="l">
                <a:lnSpc>
                  <a:spcPts val="2747"/>
                </a:lnSpc>
              </a:pPr>
              <a:r>
                <a:rPr lang="en-US" sz="1962">
                  <a:solidFill>
                    <a:srgbClr val="000000"/>
                  </a:solidFill>
                  <a:latin typeface="Inter"/>
                  <a:ea typeface="Inter"/>
                  <a:cs typeface="Inter"/>
                  <a:sym typeface="Inter"/>
                </a:rPr>
                <a:t>next almacena la direccion de 2, (no hay ningún nodo antes)</a:t>
              </a:r>
            </a:p>
          </p:txBody>
        </p:sp>
        <p:sp>
          <p:nvSpPr>
            <p:cNvPr name="TextBox 16" id="16"/>
            <p:cNvSpPr txBox="true"/>
            <p:nvPr/>
          </p:nvSpPr>
          <p:spPr>
            <a:xfrm rot="0">
              <a:off x="1380023" y="-47625"/>
              <a:ext cx="8011968" cy="534047"/>
            </a:xfrm>
            <a:prstGeom prst="rect">
              <a:avLst/>
            </a:prstGeom>
          </p:spPr>
          <p:txBody>
            <a:bodyPr anchor="t" rtlCol="false" tIns="0" lIns="0" bIns="0" rIns="0">
              <a:spAutoFit/>
            </a:bodyPr>
            <a:lstStyle/>
            <a:p>
              <a:pPr algn="l">
                <a:lnSpc>
                  <a:spcPts val="3357"/>
                </a:lnSpc>
              </a:pPr>
              <a:r>
                <a:rPr lang="en-US" sz="2398" b="true">
                  <a:solidFill>
                    <a:srgbClr val="000000"/>
                  </a:solidFill>
                  <a:latin typeface="Inter Medium"/>
                  <a:ea typeface="Inter Medium"/>
                  <a:cs typeface="Inter Medium"/>
                  <a:sym typeface="Inter Medium"/>
                </a:rPr>
                <a:t>Para el NODO 1</a:t>
              </a:r>
            </a:p>
          </p:txBody>
        </p:sp>
      </p:grpSp>
      <p:sp>
        <p:nvSpPr>
          <p:cNvPr name="Freeform 17" id="17"/>
          <p:cNvSpPr/>
          <p:nvPr/>
        </p:nvSpPr>
        <p:spPr>
          <a:xfrm flipH="false" flipV="false" rot="0">
            <a:off x="6509057" y="1207756"/>
            <a:ext cx="11346346" cy="2808221"/>
          </a:xfrm>
          <a:custGeom>
            <a:avLst/>
            <a:gdLst/>
            <a:ahLst/>
            <a:cxnLst/>
            <a:rect r="r" b="b" t="t" l="l"/>
            <a:pathLst>
              <a:path h="2808221" w="11346346">
                <a:moveTo>
                  <a:pt x="0" y="0"/>
                </a:moveTo>
                <a:lnTo>
                  <a:pt x="11346346" y="0"/>
                </a:lnTo>
                <a:lnTo>
                  <a:pt x="11346346" y="2808220"/>
                </a:lnTo>
                <a:lnTo>
                  <a:pt x="0" y="2808220"/>
                </a:lnTo>
                <a:lnTo>
                  <a:pt x="0" y="0"/>
                </a:lnTo>
                <a:close/>
              </a:path>
            </a:pathLst>
          </a:custGeom>
          <a:blipFill>
            <a:blip r:embed="rId4"/>
            <a:stretch>
              <a:fillRect l="0" t="0" r="0" b="0"/>
            </a:stretch>
          </a:blipFill>
        </p:spPr>
      </p:sp>
      <p:sp>
        <p:nvSpPr>
          <p:cNvPr name="TextBox 18" id="18"/>
          <p:cNvSpPr txBox="true"/>
          <p:nvPr/>
        </p:nvSpPr>
        <p:spPr>
          <a:xfrm rot="0">
            <a:off x="1294903" y="1654945"/>
            <a:ext cx="5041695" cy="36576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NODOS EN LA LISTAS CIRCULARES</a:t>
            </a:r>
          </a:p>
        </p:txBody>
      </p:sp>
      <p:sp>
        <p:nvSpPr>
          <p:cNvPr name="TextBox 19" id="19"/>
          <p:cNvSpPr txBox="true"/>
          <p:nvPr/>
        </p:nvSpPr>
        <p:spPr>
          <a:xfrm rot="0">
            <a:off x="1157587" y="6296769"/>
            <a:ext cx="7986413" cy="1843676"/>
          </a:xfrm>
          <a:prstGeom prst="rect">
            <a:avLst/>
          </a:prstGeom>
        </p:spPr>
        <p:txBody>
          <a:bodyPr anchor="t" rtlCol="false" tIns="0" lIns="0" bIns="0" rIns="0">
            <a:spAutoFit/>
          </a:bodyPr>
          <a:lstStyle/>
          <a:p>
            <a:pPr algn="l">
              <a:lnSpc>
                <a:spcPts val="3715"/>
              </a:lnSpc>
            </a:pPr>
            <a:r>
              <a:rPr lang="en-US" sz="2654">
                <a:solidFill>
                  <a:srgbClr val="000000"/>
                </a:solidFill>
                <a:latin typeface="Inter"/>
                <a:ea typeface="Inter"/>
                <a:cs typeface="Inter"/>
                <a:sym typeface="Inter"/>
              </a:rPr>
              <a:t>Las listas circ</a:t>
            </a:r>
            <a:r>
              <a:rPr lang="en-US" sz="2654">
                <a:solidFill>
                  <a:srgbClr val="000000"/>
                </a:solidFill>
                <a:latin typeface="Inter"/>
                <a:ea typeface="Inter"/>
                <a:cs typeface="Inter"/>
                <a:sym typeface="Inter"/>
              </a:rPr>
              <a:t>ulares evitan excepciones en las operaciones que se realicen sobre ellas. No existen casos especiales, cada nodo siempre tiene uno anterior y uno siguiente.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97870" y="7803527"/>
            <a:ext cx="6461430" cy="1140448"/>
            <a:chOff x="0" y="0"/>
            <a:chExt cx="8615240" cy="1520597"/>
          </a:xfrm>
        </p:grpSpPr>
        <p:sp>
          <p:nvSpPr>
            <p:cNvPr name="Freeform 3" id="3"/>
            <p:cNvSpPr/>
            <p:nvPr/>
          </p:nvSpPr>
          <p:spPr>
            <a:xfrm flipH="false" flipV="false" rot="0">
              <a:off x="0" y="614911"/>
              <a:ext cx="709875" cy="709875"/>
            </a:xfrm>
            <a:custGeom>
              <a:avLst/>
              <a:gdLst/>
              <a:ahLst/>
              <a:cxnLst/>
              <a:rect r="r" b="b" t="t" l="l"/>
              <a:pathLst>
                <a:path h="709875" w="709875">
                  <a:moveTo>
                    <a:pt x="0" y="0"/>
                  </a:moveTo>
                  <a:lnTo>
                    <a:pt x="709875" y="0"/>
                  </a:lnTo>
                  <a:lnTo>
                    <a:pt x="709875" y="709875"/>
                  </a:lnTo>
                  <a:lnTo>
                    <a:pt x="0" y="7098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265890" y="705257"/>
              <a:ext cx="7349350" cy="815340"/>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Fác</a:t>
              </a:r>
              <a:r>
                <a:rPr lang="en-US" sz="1800">
                  <a:solidFill>
                    <a:srgbClr val="000000"/>
                  </a:solidFill>
                  <a:latin typeface="Inter"/>
                  <a:ea typeface="Inter"/>
                  <a:cs typeface="Inter"/>
                  <a:sym typeface="Inter"/>
                </a:rPr>
                <a:t>il de implementar, utiliza menos memoria por nodo (un puntero).</a:t>
              </a:r>
            </a:p>
          </p:txBody>
        </p:sp>
        <p:sp>
          <p:nvSpPr>
            <p:cNvPr name="TextBox 5" id="5"/>
            <p:cNvSpPr txBox="true"/>
            <p:nvPr/>
          </p:nvSpPr>
          <p:spPr>
            <a:xfrm rot="0">
              <a:off x="1265890" y="-47625"/>
              <a:ext cx="7349350" cy="471805"/>
            </a:xfrm>
            <a:prstGeom prst="rect">
              <a:avLst/>
            </a:prstGeom>
          </p:spPr>
          <p:txBody>
            <a:bodyPr anchor="t" rtlCol="false" tIns="0" lIns="0" bIns="0" rIns="0">
              <a:spAutoFit/>
            </a:bodyPr>
            <a:lstStyle/>
            <a:p>
              <a:pPr algn="l">
                <a:lnSpc>
                  <a:spcPts val="2940"/>
                </a:lnSpc>
              </a:pPr>
              <a:r>
                <a:rPr lang="en-US" sz="2100" b="true">
                  <a:solidFill>
                    <a:srgbClr val="000000"/>
                  </a:solidFill>
                  <a:latin typeface="Inter Medium"/>
                  <a:ea typeface="Inter Medium"/>
                  <a:cs typeface="Inter Medium"/>
                  <a:sym typeface="Inter Medium"/>
                </a:rPr>
                <a:t>Ventajas:</a:t>
              </a:r>
            </a:p>
          </p:txBody>
        </p:sp>
      </p:grpSp>
      <p:grpSp>
        <p:nvGrpSpPr>
          <p:cNvPr name="Group 6" id="6"/>
          <p:cNvGrpSpPr/>
          <p:nvPr/>
        </p:nvGrpSpPr>
        <p:grpSpPr>
          <a:xfrm rot="0">
            <a:off x="1028700" y="5725809"/>
            <a:ext cx="9006576" cy="3532491"/>
            <a:chOff x="0" y="0"/>
            <a:chExt cx="1054463" cy="413573"/>
          </a:xfrm>
        </p:grpSpPr>
        <p:sp>
          <p:nvSpPr>
            <p:cNvPr name="Freeform 7" id="7"/>
            <p:cNvSpPr/>
            <p:nvPr/>
          </p:nvSpPr>
          <p:spPr>
            <a:xfrm flipH="false" flipV="false" rot="0">
              <a:off x="0" y="0"/>
              <a:ext cx="1054463" cy="413573"/>
            </a:xfrm>
            <a:custGeom>
              <a:avLst/>
              <a:gdLst/>
              <a:ahLst/>
              <a:cxnLst/>
              <a:rect r="r" b="b" t="t" l="l"/>
              <a:pathLst>
                <a:path h="413573" w="1054463">
                  <a:moveTo>
                    <a:pt x="0" y="0"/>
                  </a:moveTo>
                  <a:lnTo>
                    <a:pt x="1054463" y="0"/>
                  </a:lnTo>
                  <a:lnTo>
                    <a:pt x="1054463" y="413573"/>
                  </a:lnTo>
                  <a:lnTo>
                    <a:pt x="0" y="413573"/>
                  </a:lnTo>
                  <a:close/>
                </a:path>
              </a:pathLst>
            </a:custGeom>
            <a:blipFill>
              <a:blip r:embed="rId4"/>
              <a:stretch>
                <a:fillRect l="-1269" t="0" r="-1269" b="0"/>
              </a:stretch>
            </a:blipFill>
            <a:ln w="38100" cap="sq">
              <a:solidFill>
                <a:srgbClr val="000000"/>
              </a:solidFill>
              <a:prstDash val="solid"/>
              <a:miter/>
            </a:ln>
          </p:spPr>
        </p:sp>
      </p:grpSp>
      <p:sp>
        <p:nvSpPr>
          <p:cNvPr name="Freeform 8" id="8"/>
          <p:cNvSpPr/>
          <p:nvPr/>
        </p:nvSpPr>
        <p:spPr>
          <a:xfrm flipH="false" flipV="false" rot="678324">
            <a:off x="748546" y="8459969"/>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9719123" y="5603832"/>
            <a:ext cx="498808" cy="849363"/>
          </a:xfrm>
          <a:custGeom>
            <a:avLst/>
            <a:gdLst/>
            <a:ahLst/>
            <a:cxnLst/>
            <a:rect r="r" b="b" t="t" l="l"/>
            <a:pathLst>
              <a:path h="849363" w="498808">
                <a:moveTo>
                  <a:pt x="0" y="0"/>
                </a:moveTo>
                <a:lnTo>
                  <a:pt x="498808" y="0"/>
                </a:lnTo>
                <a:lnTo>
                  <a:pt x="498808" y="849364"/>
                </a:lnTo>
                <a:lnTo>
                  <a:pt x="0" y="8493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0" id="10"/>
          <p:cNvGrpSpPr/>
          <p:nvPr/>
        </p:nvGrpSpPr>
        <p:grpSpPr>
          <a:xfrm rot="0">
            <a:off x="11272579" y="1852840"/>
            <a:ext cx="5512012" cy="3390253"/>
            <a:chOff x="0" y="0"/>
            <a:chExt cx="7349350" cy="4520337"/>
          </a:xfrm>
        </p:grpSpPr>
        <p:sp>
          <p:nvSpPr>
            <p:cNvPr name="TextBox 11" id="11"/>
            <p:cNvSpPr txBox="true"/>
            <p:nvPr/>
          </p:nvSpPr>
          <p:spPr>
            <a:xfrm rot="0">
              <a:off x="0" y="771297"/>
              <a:ext cx="7349350" cy="3749040"/>
            </a:xfrm>
            <a:prstGeom prst="rect">
              <a:avLst/>
            </a:prstGeom>
          </p:spPr>
          <p:txBody>
            <a:bodyPr anchor="t" rtlCol="false" tIns="0" lIns="0" bIns="0" rIns="0">
              <a:spAutoFit/>
            </a:bodyPr>
            <a:lstStyle/>
            <a:p>
              <a:pPr algn="r">
                <a:lnSpc>
                  <a:spcPts val="2520"/>
                </a:lnSpc>
              </a:pPr>
              <a:r>
                <a:rPr lang="en-US" sz="1800">
                  <a:solidFill>
                    <a:srgbClr val="000000"/>
                  </a:solidFill>
                  <a:latin typeface="Inter"/>
                  <a:ea typeface="Inter"/>
                  <a:cs typeface="Inter"/>
                  <a:sym typeface="Inter"/>
                </a:rPr>
                <a:t>cada nodo contiene un único puntero que apunta al siguiente</a:t>
              </a:r>
              <a:r>
                <a:rPr lang="en-US" sz="1800">
                  <a:solidFill>
                    <a:srgbClr val="000000"/>
                  </a:solidFill>
                  <a:latin typeface="Inter"/>
                  <a:ea typeface="Inter"/>
                  <a:cs typeface="Inter"/>
                  <a:sym typeface="Inter"/>
                </a:rPr>
                <a:t> nodo de la secuencia. </a:t>
              </a:r>
            </a:p>
            <a:p>
              <a:pPr algn="r">
                <a:lnSpc>
                  <a:spcPts val="2520"/>
                </a:lnSpc>
              </a:pPr>
            </a:p>
            <a:p>
              <a:pPr algn="r">
                <a:lnSpc>
                  <a:spcPts val="2520"/>
                </a:lnSpc>
              </a:pPr>
              <a:r>
                <a:rPr lang="en-US" sz="1800">
                  <a:solidFill>
                    <a:srgbClr val="000000"/>
                  </a:solidFill>
                  <a:latin typeface="Inter"/>
                  <a:ea typeface="Inter"/>
                  <a:cs typeface="Inter"/>
                  <a:sym typeface="Inter"/>
                </a:rPr>
                <a:t>El aspecto único de esta estructura es que el último nodo de la lista apunta al primer nodo, formando un círculo. </a:t>
              </a:r>
            </a:p>
            <a:p>
              <a:pPr algn="r">
                <a:lnSpc>
                  <a:spcPts val="2520"/>
                </a:lnSpc>
              </a:pPr>
            </a:p>
            <a:p>
              <a:pPr algn="r">
                <a:lnSpc>
                  <a:spcPts val="2520"/>
                </a:lnSpc>
              </a:pPr>
              <a:r>
                <a:rPr lang="en-US" sz="1800">
                  <a:solidFill>
                    <a:srgbClr val="000000"/>
                  </a:solidFill>
                  <a:latin typeface="Inter"/>
                  <a:ea typeface="Inter"/>
                  <a:cs typeface="Inter"/>
                  <a:sym typeface="Inter"/>
                </a:rPr>
                <a:t>Esta configuración permite un recorrido continuo de extremo a extremo de la lista.</a:t>
              </a:r>
            </a:p>
          </p:txBody>
        </p:sp>
        <p:sp>
          <p:nvSpPr>
            <p:cNvPr name="TextBox 12" id="12"/>
            <p:cNvSpPr txBox="true"/>
            <p:nvPr/>
          </p:nvSpPr>
          <p:spPr>
            <a:xfrm rot="0">
              <a:off x="0" y="-47625"/>
              <a:ext cx="7349350" cy="537845"/>
            </a:xfrm>
            <a:prstGeom prst="rect">
              <a:avLst/>
            </a:prstGeom>
          </p:spPr>
          <p:txBody>
            <a:bodyPr anchor="t" rtlCol="false" tIns="0" lIns="0" bIns="0" rIns="0">
              <a:spAutoFit/>
            </a:bodyPr>
            <a:lstStyle/>
            <a:p>
              <a:pPr algn="l">
                <a:lnSpc>
                  <a:spcPts val="3359"/>
                </a:lnSpc>
              </a:pPr>
              <a:r>
                <a:rPr lang="en-US" sz="2399" b="true">
                  <a:solidFill>
                    <a:srgbClr val="000000"/>
                  </a:solidFill>
                  <a:latin typeface="Inter Medium"/>
                  <a:ea typeface="Inter Medium"/>
                  <a:cs typeface="Inter Medium"/>
                  <a:sym typeface="Inter Medium"/>
                </a:rPr>
                <a:t>1) Lista enlazada circular simple</a:t>
              </a:r>
            </a:p>
          </p:txBody>
        </p:sp>
      </p:grpSp>
      <p:sp>
        <p:nvSpPr>
          <p:cNvPr name="TextBox 13" id="13"/>
          <p:cNvSpPr txBox="true"/>
          <p:nvPr/>
        </p:nvSpPr>
        <p:spPr>
          <a:xfrm rot="0">
            <a:off x="1028700" y="945466"/>
            <a:ext cx="8227005" cy="3646867"/>
          </a:xfrm>
          <a:prstGeom prst="rect">
            <a:avLst/>
          </a:prstGeom>
        </p:spPr>
        <p:txBody>
          <a:bodyPr anchor="t" rtlCol="false" tIns="0" lIns="0" bIns="0" rIns="0">
            <a:spAutoFit/>
          </a:bodyPr>
          <a:lstStyle/>
          <a:p>
            <a:pPr algn="l">
              <a:lnSpc>
                <a:spcPts val="9596"/>
              </a:lnSpc>
            </a:pPr>
            <a:r>
              <a:rPr lang="en-US" sz="7997">
                <a:solidFill>
                  <a:srgbClr val="000000"/>
                </a:solidFill>
                <a:latin typeface="Anton"/>
                <a:ea typeface="Anton"/>
                <a:cs typeface="Anton"/>
                <a:sym typeface="Anton"/>
              </a:rPr>
              <a:t>TIPOS DE LISTA ENLAZADA CIRCULAR</a:t>
            </a:r>
          </a:p>
          <a:p>
            <a:pPr algn="l">
              <a:lnSpc>
                <a:spcPts val="9596"/>
              </a:lnSpc>
            </a:pPr>
          </a:p>
        </p:txBody>
      </p:sp>
      <p:sp>
        <p:nvSpPr>
          <p:cNvPr name="TextBox 14" id="14"/>
          <p:cNvSpPr txBox="true"/>
          <p:nvPr/>
        </p:nvSpPr>
        <p:spPr>
          <a:xfrm rot="0">
            <a:off x="2570534" y="3513353"/>
            <a:ext cx="5922908"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Las listas circulares se pueden clasificar en 2 tipos respecto a como se vinculan los nodo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86638" y="7069788"/>
            <a:ext cx="7033747" cy="2397748"/>
            <a:chOff x="0" y="0"/>
            <a:chExt cx="9378329" cy="3196997"/>
          </a:xfrm>
        </p:grpSpPr>
        <p:sp>
          <p:nvSpPr>
            <p:cNvPr name="Freeform 3" id="3"/>
            <p:cNvSpPr/>
            <p:nvPr/>
          </p:nvSpPr>
          <p:spPr>
            <a:xfrm flipH="false" flipV="false" rot="0">
              <a:off x="0" y="614911"/>
              <a:ext cx="709875" cy="709875"/>
            </a:xfrm>
            <a:custGeom>
              <a:avLst/>
              <a:gdLst/>
              <a:ahLst/>
              <a:cxnLst/>
              <a:rect r="r" b="b" t="t" l="l"/>
              <a:pathLst>
                <a:path h="709875" w="709875">
                  <a:moveTo>
                    <a:pt x="0" y="0"/>
                  </a:moveTo>
                  <a:lnTo>
                    <a:pt x="709875" y="0"/>
                  </a:lnTo>
                  <a:lnTo>
                    <a:pt x="709875" y="709875"/>
                  </a:lnTo>
                  <a:lnTo>
                    <a:pt x="0" y="7098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265890" y="705257"/>
              <a:ext cx="8112439" cy="2491740"/>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Permite recorrer tanto hac</a:t>
              </a:r>
              <a:r>
                <a:rPr lang="en-US" sz="1800">
                  <a:solidFill>
                    <a:srgbClr val="000000"/>
                  </a:solidFill>
                  <a:latin typeface="Inter"/>
                  <a:ea typeface="Inter"/>
                  <a:cs typeface="Inter"/>
                  <a:sym typeface="Inter"/>
                </a:rPr>
                <a:t>ia adelante como hacia atrás, lo que facilita la navegación y la modificación de la lista. </a:t>
              </a:r>
            </a:p>
            <a:p>
              <a:pPr algn="l">
                <a:lnSpc>
                  <a:spcPts val="2520"/>
                </a:lnSpc>
              </a:pPr>
            </a:p>
            <a:p>
              <a:pPr algn="l">
                <a:lnSpc>
                  <a:spcPts val="2520"/>
                </a:lnSpc>
              </a:pPr>
              <a:r>
                <a:rPr lang="en-US" sz="1800">
                  <a:solidFill>
                    <a:srgbClr val="000000"/>
                  </a:solidFill>
                  <a:latin typeface="Inter"/>
                  <a:ea typeface="Inter"/>
                  <a:cs typeface="Inter"/>
                  <a:sym typeface="Inter"/>
                </a:rPr>
                <a:t>Útil para estructuras de datos más complejas donde es posible que sea necesario eliminar o agregar nodos con frecuencia y desde diferentes posiciones.</a:t>
              </a:r>
            </a:p>
          </p:txBody>
        </p:sp>
        <p:sp>
          <p:nvSpPr>
            <p:cNvPr name="TextBox 5" id="5"/>
            <p:cNvSpPr txBox="true"/>
            <p:nvPr/>
          </p:nvSpPr>
          <p:spPr>
            <a:xfrm rot="0">
              <a:off x="1265890" y="-47625"/>
              <a:ext cx="7349350" cy="471805"/>
            </a:xfrm>
            <a:prstGeom prst="rect">
              <a:avLst/>
            </a:prstGeom>
          </p:spPr>
          <p:txBody>
            <a:bodyPr anchor="t" rtlCol="false" tIns="0" lIns="0" bIns="0" rIns="0">
              <a:spAutoFit/>
            </a:bodyPr>
            <a:lstStyle/>
            <a:p>
              <a:pPr algn="l">
                <a:lnSpc>
                  <a:spcPts val="2940"/>
                </a:lnSpc>
              </a:pPr>
              <a:r>
                <a:rPr lang="en-US" sz="2100" b="true">
                  <a:solidFill>
                    <a:srgbClr val="000000"/>
                  </a:solidFill>
                  <a:latin typeface="Inter Medium"/>
                  <a:ea typeface="Inter Medium"/>
                  <a:cs typeface="Inter Medium"/>
                  <a:sym typeface="Inter Medium"/>
                </a:rPr>
                <a:t>Ventajas:</a:t>
              </a:r>
            </a:p>
          </p:txBody>
        </p:sp>
      </p:grpSp>
      <p:grpSp>
        <p:nvGrpSpPr>
          <p:cNvPr name="Group 6" id="6"/>
          <p:cNvGrpSpPr/>
          <p:nvPr/>
        </p:nvGrpSpPr>
        <p:grpSpPr>
          <a:xfrm rot="0">
            <a:off x="1028700" y="5725809"/>
            <a:ext cx="9006576" cy="3532491"/>
            <a:chOff x="0" y="0"/>
            <a:chExt cx="1054463" cy="413573"/>
          </a:xfrm>
        </p:grpSpPr>
        <p:sp>
          <p:nvSpPr>
            <p:cNvPr name="Freeform 7" id="7"/>
            <p:cNvSpPr/>
            <p:nvPr/>
          </p:nvSpPr>
          <p:spPr>
            <a:xfrm flipH="false" flipV="false" rot="0">
              <a:off x="0" y="0"/>
              <a:ext cx="1054463" cy="413573"/>
            </a:xfrm>
            <a:custGeom>
              <a:avLst/>
              <a:gdLst/>
              <a:ahLst/>
              <a:cxnLst/>
              <a:rect r="r" b="b" t="t" l="l"/>
              <a:pathLst>
                <a:path h="413573" w="1054463">
                  <a:moveTo>
                    <a:pt x="0" y="0"/>
                  </a:moveTo>
                  <a:lnTo>
                    <a:pt x="1054463" y="0"/>
                  </a:lnTo>
                  <a:lnTo>
                    <a:pt x="1054463" y="413573"/>
                  </a:lnTo>
                  <a:lnTo>
                    <a:pt x="0" y="413573"/>
                  </a:lnTo>
                  <a:close/>
                </a:path>
              </a:pathLst>
            </a:custGeom>
            <a:blipFill>
              <a:blip r:embed="rId4"/>
              <a:stretch>
                <a:fillRect l="-14132" t="0" r="-12361" b="-23361"/>
              </a:stretch>
            </a:blipFill>
            <a:ln w="38100" cap="sq">
              <a:solidFill>
                <a:srgbClr val="000000"/>
              </a:solidFill>
              <a:prstDash val="solid"/>
              <a:miter/>
            </a:ln>
          </p:spPr>
        </p:sp>
      </p:grpSp>
      <p:sp>
        <p:nvSpPr>
          <p:cNvPr name="Freeform 8" id="8"/>
          <p:cNvSpPr/>
          <p:nvPr/>
        </p:nvSpPr>
        <p:spPr>
          <a:xfrm flipH="false" flipV="false" rot="678324">
            <a:off x="748546" y="8459969"/>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9719123" y="5603832"/>
            <a:ext cx="498808" cy="849363"/>
          </a:xfrm>
          <a:custGeom>
            <a:avLst/>
            <a:gdLst/>
            <a:ahLst/>
            <a:cxnLst/>
            <a:rect r="r" b="b" t="t" l="l"/>
            <a:pathLst>
              <a:path h="849363" w="498808">
                <a:moveTo>
                  <a:pt x="0" y="0"/>
                </a:moveTo>
                <a:lnTo>
                  <a:pt x="498808" y="0"/>
                </a:lnTo>
                <a:lnTo>
                  <a:pt x="498808" y="849364"/>
                </a:lnTo>
                <a:lnTo>
                  <a:pt x="0" y="8493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0" id="10"/>
          <p:cNvGrpSpPr/>
          <p:nvPr/>
        </p:nvGrpSpPr>
        <p:grpSpPr>
          <a:xfrm rot="0">
            <a:off x="11272579" y="1852840"/>
            <a:ext cx="5512012" cy="4018903"/>
            <a:chOff x="0" y="0"/>
            <a:chExt cx="7349350" cy="5358537"/>
          </a:xfrm>
        </p:grpSpPr>
        <p:sp>
          <p:nvSpPr>
            <p:cNvPr name="TextBox 11" id="11"/>
            <p:cNvSpPr txBox="true"/>
            <p:nvPr/>
          </p:nvSpPr>
          <p:spPr>
            <a:xfrm rot="0">
              <a:off x="0" y="771297"/>
              <a:ext cx="7349350" cy="4587240"/>
            </a:xfrm>
            <a:prstGeom prst="rect">
              <a:avLst/>
            </a:prstGeom>
          </p:spPr>
          <p:txBody>
            <a:bodyPr anchor="t" rtlCol="false" tIns="0" lIns="0" bIns="0" rIns="0">
              <a:spAutoFit/>
            </a:bodyPr>
            <a:lstStyle/>
            <a:p>
              <a:pPr algn="r">
                <a:lnSpc>
                  <a:spcPts val="2520"/>
                </a:lnSpc>
              </a:pPr>
            </a:p>
            <a:p>
              <a:pPr algn="r">
                <a:lnSpc>
                  <a:spcPts val="2520"/>
                </a:lnSpc>
              </a:pPr>
              <a:r>
                <a:rPr lang="en-US" sz="1800">
                  <a:solidFill>
                    <a:srgbClr val="000000"/>
                  </a:solidFill>
                  <a:latin typeface="Inter"/>
                  <a:ea typeface="Inter"/>
                  <a:cs typeface="Inter"/>
                  <a:sym typeface="Inter"/>
                </a:rPr>
                <a:t>Mejora la lista enlazada circular simple agregando un puntero adicional en cada nodo. </a:t>
              </a:r>
            </a:p>
            <a:p>
              <a:pPr algn="r">
                <a:lnSpc>
                  <a:spcPts val="2520"/>
                </a:lnSpc>
              </a:pPr>
            </a:p>
            <a:p>
              <a:pPr algn="r">
                <a:lnSpc>
                  <a:spcPts val="2520"/>
                </a:lnSpc>
              </a:pPr>
              <a:r>
                <a:rPr lang="en-US" sz="1800">
                  <a:solidFill>
                    <a:srgbClr val="000000"/>
                  </a:solidFill>
                  <a:latin typeface="Inter"/>
                  <a:ea typeface="Inter"/>
                  <a:cs typeface="Inter"/>
                  <a:sym typeface="Inter"/>
                </a:rPr>
                <a:t>Este segundo puntero vincula cada nodo con su nodo anterior, así como con su siguiente</a:t>
              </a:r>
              <a:r>
                <a:rPr lang="en-US" sz="1800">
                  <a:solidFill>
                    <a:srgbClr val="000000"/>
                  </a:solidFill>
                  <a:latin typeface="Inter"/>
                  <a:ea typeface="Inter"/>
                  <a:cs typeface="Inter"/>
                  <a:sym typeface="Inter"/>
                </a:rPr>
                <a:t> nodo, formando un enlace bidireccional.</a:t>
              </a:r>
            </a:p>
            <a:p>
              <a:pPr algn="r">
                <a:lnSpc>
                  <a:spcPts val="2520"/>
                </a:lnSpc>
              </a:pPr>
            </a:p>
            <a:p>
              <a:pPr algn="r">
                <a:lnSpc>
                  <a:spcPts val="2520"/>
                </a:lnSpc>
              </a:pPr>
              <a:r>
                <a:rPr lang="en-US" sz="1800">
                  <a:solidFill>
                    <a:srgbClr val="000000"/>
                  </a:solidFill>
                  <a:latin typeface="Inter"/>
                  <a:ea typeface="Inter"/>
                  <a:cs typeface="Inter"/>
                  <a:sym typeface="Inter"/>
                </a:rPr>
                <a:t>Aquí, tanto la cabeza como la cola están interconectadas, creando un sistema de navegación circular sin fisuras.</a:t>
              </a:r>
            </a:p>
          </p:txBody>
        </p:sp>
        <p:sp>
          <p:nvSpPr>
            <p:cNvPr name="TextBox 12" id="12"/>
            <p:cNvSpPr txBox="true"/>
            <p:nvPr/>
          </p:nvSpPr>
          <p:spPr>
            <a:xfrm rot="0">
              <a:off x="0" y="-47625"/>
              <a:ext cx="7349350" cy="537845"/>
            </a:xfrm>
            <a:prstGeom prst="rect">
              <a:avLst/>
            </a:prstGeom>
          </p:spPr>
          <p:txBody>
            <a:bodyPr anchor="t" rtlCol="false" tIns="0" lIns="0" bIns="0" rIns="0">
              <a:spAutoFit/>
            </a:bodyPr>
            <a:lstStyle/>
            <a:p>
              <a:pPr algn="l">
                <a:lnSpc>
                  <a:spcPts val="3359"/>
                </a:lnSpc>
              </a:pPr>
              <a:r>
                <a:rPr lang="en-US" sz="2399" b="true">
                  <a:solidFill>
                    <a:srgbClr val="000000"/>
                  </a:solidFill>
                  <a:latin typeface="Inter Medium"/>
                  <a:ea typeface="Inter Medium"/>
                  <a:cs typeface="Inter Medium"/>
                  <a:sym typeface="Inter Medium"/>
                </a:rPr>
                <a:t>1) Lista enlazada doblemente circular</a:t>
              </a:r>
            </a:p>
          </p:txBody>
        </p:sp>
      </p:grpSp>
      <p:sp>
        <p:nvSpPr>
          <p:cNvPr name="TextBox 13" id="13"/>
          <p:cNvSpPr txBox="true"/>
          <p:nvPr/>
        </p:nvSpPr>
        <p:spPr>
          <a:xfrm rot="0">
            <a:off x="1028700" y="945466"/>
            <a:ext cx="8227005" cy="3646867"/>
          </a:xfrm>
          <a:prstGeom prst="rect">
            <a:avLst/>
          </a:prstGeom>
        </p:spPr>
        <p:txBody>
          <a:bodyPr anchor="t" rtlCol="false" tIns="0" lIns="0" bIns="0" rIns="0">
            <a:spAutoFit/>
          </a:bodyPr>
          <a:lstStyle/>
          <a:p>
            <a:pPr algn="l">
              <a:lnSpc>
                <a:spcPts val="9596"/>
              </a:lnSpc>
            </a:pPr>
            <a:r>
              <a:rPr lang="en-US" sz="7997">
                <a:solidFill>
                  <a:srgbClr val="000000"/>
                </a:solidFill>
                <a:latin typeface="Anton"/>
                <a:ea typeface="Anton"/>
                <a:cs typeface="Anton"/>
                <a:sym typeface="Anton"/>
              </a:rPr>
              <a:t>TIPOS DE LISTA ENLAZADA CIRCULAR</a:t>
            </a:r>
          </a:p>
          <a:p>
            <a:pPr algn="l">
              <a:lnSpc>
                <a:spcPts val="9596"/>
              </a:lnSpc>
            </a:pPr>
          </a:p>
        </p:txBody>
      </p:sp>
      <p:sp>
        <p:nvSpPr>
          <p:cNvPr name="TextBox 14" id="14"/>
          <p:cNvSpPr txBox="true"/>
          <p:nvPr/>
        </p:nvSpPr>
        <p:spPr>
          <a:xfrm rot="0">
            <a:off x="2570534" y="3513353"/>
            <a:ext cx="5922908"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Las listas circulares se pueden clasificar en 2 tipos respecto a como se vinculan los nodo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5725809"/>
            <a:ext cx="3855654" cy="3532491"/>
            <a:chOff x="0" y="0"/>
            <a:chExt cx="451408" cy="413573"/>
          </a:xfrm>
        </p:grpSpPr>
        <p:sp>
          <p:nvSpPr>
            <p:cNvPr name="Freeform 3" id="3"/>
            <p:cNvSpPr/>
            <p:nvPr/>
          </p:nvSpPr>
          <p:spPr>
            <a:xfrm flipH="false" flipV="false" rot="0">
              <a:off x="0" y="0"/>
              <a:ext cx="451408" cy="413573"/>
            </a:xfrm>
            <a:custGeom>
              <a:avLst/>
              <a:gdLst/>
              <a:ahLst/>
              <a:cxnLst/>
              <a:rect r="r" b="b" t="t" l="l"/>
              <a:pathLst>
                <a:path h="413573" w="451408">
                  <a:moveTo>
                    <a:pt x="0" y="0"/>
                  </a:moveTo>
                  <a:lnTo>
                    <a:pt x="451408" y="0"/>
                  </a:lnTo>
                  <a:lnTo>
                    <a:pt x="451408" y="413573"/>
                  </a:lnTo>
                  <a:lnTo>
                    <a:pt x="0" y="413573"/>
                  </a:lnTo>
                  <a:close/>
                </a:path>
              </a:pathLst>
            </a:custGeom>
            <a:blipFill>
              <a:blip r:embed="rId2"/>
              <a:stretch>
                <a:fillRect l="0" t="-4574" r="0" b="-4574"/>
              </a:stretch>
            </a:blipFill>
            <a:ln w="38100" cap="sq">
              <a:solidFill>
                <a:srgbClr val="000000"/>
              </a:solidFill>
              <a:prstDash val="solid"/>
              <a:miter/>
            </a:ln>
          </p:spPr>
        </p:sp>
      </p:grpSp>
      <p:sp>
        <p:nvSpPr>
          <p:cNvPr name="Freeform 4" id="4"/>
          <p:cNvSpPr/>
          <p:nvPr/>
        </p:nvSpPr>
        <p:spPr>
          <a:xfrm flipH="false" flipV="false" rot="678324">
            <a:off x="748546" y="8459969"/>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4634950" y="5447061"/>
            <a:ext cx="498808" cy="849363"/>
          </a:xfrm>
          <a:custGeom>
            <a:avLst/>
            <a:gdLst/>
            <a:ahLst/>
            <a:cxnLst/>
            <a:rect r="r" b="b" t="t" l="l"/>
            <a:pathLst>
              <a:path h="849363" w="498808">
                <a:moveTo>
                  <a:pt x="0" y="0"/>
                </a:moveTo>
                <a:lnTo>
                  <a:pt x="498808" y="0"/>
                </a:lnTo>
                <a:lnTo>
                  <a:pt x="498808" y="849364"/>
                </a:lnTo>
                <a:lnTo>
                  <a:pt x="0" y="849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916995" y="755645"/>
            <a:ext cx="8227005" cy="1209272"/>
          </a:xfrm>
          <a:prstGeom prst="rect">
            <a:avLst/>
          </a:prstGeom>
        </p:spPr>
        <p:txBody>
          <a:bodyPr anchor="t" rtlCol="false" tIns="0" lIns="0" bIns="0" rIns="0">
            <a:spAutoFit/>
          </a:bodyPr>
          <a:lstStyle/>
          <a:p>
            <a:pPr algn="l">
              <a:lnSpc>
                <a:spcPts val="9596"/>
              </a:lnSpc>
            </a:pPr>
            <a:r>
              <a:rPr lang="en-US" sz="7997">
                <a:solidFill>
                  <a:srgbClr val="000000"/>
                </a:solidFill>
                <a:latin typeface="Anton"/>
                <a:ea typeface="Anton"/>
                <a:cs typeface="Anton"/>
                <a:sym typeface="Anton"/>
              </a:rPr>
              <a:t>PREGUNTA TEORICA</a:t>
            </a:r>
          </a:p>
        </p:txBody>
      </p:sp>
      <p:sp>
        <p:nvSpPr>
          <p:cNvPr name="TextBox 7" id="7"/>
          <p:cNvSpPr txBox="true"/>
          <p:nvPr/>
        </p:nvSpPr>
        <p:spPr>
          <a:xfrm rot="0">
            <a:off x="11177649" y="3052400"/>
            <a:ext cx="5576680" cy="6618825"/>
          </a:xfrm>
          <a:prstGeom prst="rect">
            <a:avLst/>
          </a:prstGeom>
        </p:spPr>
        <p:txBody>
          <a:bodyPr anchor="t" rtlCol="false" tIns="0" lIns="0" bIns="0" rIns="0">
            <a:spAutoFit/>
          </a:bodyPr>
          <a:lstStyle/>
          <a:p>
            <a:pPr algn="l">
              <a:lnSpc>
                <a:spcPts val="6505"/>
              </a:lnSpc>
            </a:pPr>
            <a:r>
              <a:rPr lang="en-US" sz="5421">
                <a:solidFill>
                  <a:srgbClr val="000000"/>
                </a:solidFill>
                <a:latin typeface="Anton"/>
                <a:ea typeface="Anton"/>
                <a:cs typeface="Anton"/>
                <a:sym typeface="Anton"/>
              </a:rPr>
              <a:t>CON EL CONOCIMIENTO QUE TIENEN RESPECTO AL CURSO O BIEN DE SU VIDA DIARIA, QUE TIPO DE ESTRUCTURA UTILIZA DEZZER PARA LAS PLAYLIST?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5725809"/>
            <a:ext cx="3855654" cy="3532491"/>
            <a:chOff x="0" y="0"/>
            <a:chExt cx="451408" cy="413573"/>
          </a:xfrm>
        </p:grpSpPr>
        <p:sp>
          <p:nvSpPr>
            <p:cNvPr name="Freeform 3" id="3"/>
            <p:cNvSpPr/>
            <p:nvPr/>
          </p:nvSpPr>
          <p:spPr>
            <a:xfrm flipH="false" flipV="false" rot="0">
              <a:off x="0" y="0"/>
              <a:ext cx="451408" cy="413573"/>
            </a:xfrm>
            <a:custGeom>
              <a:avLst/>
              <a:gdLst/>
              <a:ahLst/>
              <a:cxnLst/>
              <a:rect r="r" b="b" t="t" l="l"/>
              <a:pathLst>
                <a:path h="413573" w="451408">
                  <a:moveTo>
                    <a:pt x="0" y="0"/>
                  </a:moveTo>
                  <a:lnTo>
                    <a:pt x="451408" y="0"/>
                  </a:lnTo>
                  <a:lnTo>
                    <a:pt x="451408" y="413573"/>
                  </a:lnTo>
                  <a:lnTo>
                    <a:pt x="0" y="413573"/>
                  </a:lnTo>
                  <a:close/>
                </a:path>
              </a:pathLst>
            </a:custGeom>
            <a:blipFill>
              <a:blip r:embed="rId2"/>
              <a:stretch>
                <a:fillRect l="0" t="-4574" r="0" b="-4574"/>
              </a:stretch>
            </a:blipFill>
            <a:ln w="38100" cap="sq">
              <a:solidFill>
                <a:srgbClr val="000000"/>
              </a:solidFill>
              <a:prstDash val="solid"/>
              <a:miter/>
            </a:ln>
          </p:spPr>
        </p:sp>
      </p:grpSp>
      <p:sp>
        <p:nvSpPr>
          <p:cNvPr name="Freeform 4" id="4"/>
          <p:cNvSpPr/>
          <p:nvPr/>
        </p:nvSpPr>
        <p:spPr>
          <a:xfrm flipH="false" flipV="false" rot="678324">
            <a:off x="748546" y="8459969"/>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4634950" y="5447061"/>
            <a:ext cx="498808" cy="849363"/>
          </a:xfrm>
          <a:custGeom>
            <a:avLst/>
            <a:gdLst/>
            <a:ahLst/>
            <a:cxnLst/>
            <a:rect r="r" b="b" t="t" l="l"/>
            <a:pathLst>
              <a:path h="849363" w="498808">
                <a:moveTo>
                  <a:pt x="0" y="0"/>
                </a:moveTo>
                <a:lnTo>
                  <a:pt x="498808" y="0"/>
                </a:lnTo>
                <a:lnTo>
                  <a:pt x="498808" y="849364"/>
                </a:lnTo>
                <a:lnTo>
                  <a:pt x="0" y="849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916995" y="755645"/>
            <a:ext cx="8227005" cy="1209272"/>
          </a:xfrm>
          <a:prstGeom prst="rect">
            <a:avLst/>
          </a:prstGeom>
        </p:spPr>
        <p:txBody>
          <a:bodyPr anchor="t" rtlCol="false" tIns="0" lIns="0" bIns="0" rIns="0">
            <a:spAutoFit/>
          </a:bodyPr>
          <a:lstStyle/>
          <a:p>
            <a:pPr algn="l">
              <a:lnSpc>
                <a:spcPts val="9596"/>
              </a:lnSpc>
            </a:pPr>
            <a:r>
              <a:rPr lang="en-US" sz="7997">
                <a:solidFill>
                  <a:srgbClr val="000000"/>
                </a:solidFill>
                <a:latin typeface="Anton"/>
                <a:ea typeface="Anton"/>
                <a:cs typeface="Anton"/>
                <a:sym typeface="Anton"/>
              </a:rPr>
              <a:t>PREGUNTA TEORICA</a:t>
            </a:r>
          </a:p>
        </p:txBody>
      </p:sp>
      <p:sp>
        <p:nvSpPr>
          <p:cNvPr name="TextBox 7" id="7"/>
          <p:cNvSpPr txBox="true"/>
          <p:nvPr/>
        </p:nvSpPr>
        <p:spPr>
          <a:xfrm rot="0">
            <a:off x="5267355" y="3528479"/>
            <a:ext cx="3708051" cy="4394661"/>
          </a:xfrm>
          <a:prstGeom prst="rect">
            <a:avLst/>
          </a:prstGeom>
        </p:spPr>
        <p:txBody>
          <a:bodyPr anchor="t" rtlCol="false" tIns="0" lIns="0" bIns="0" rIns="0">
            <a:spAutoFit/>
          </a:bodyPr>
          <a:lstStyle/>
          <a:p>
            <a:pPr algn="l">
              <a:lnSpc>
                <a:spcPts val="4325"/>
              </a:lnSpc>
            </a:pPr>
            <a:r>
              <a:rPr lang="en-US" sz="3604">
                <a:solidFill>
                  <a:srgbClr val="FF3131"/>
                </a:solidFill>
                <a:latin typeface="Anton"/>
                <a:ea typeface="Anton"/>
                <a:cs typeface="Anton"/>
                <a:sym typeface="Anton"/>
              </a:rPr>
              <a:t>CON EL CONOCIMIENTO QUE TIENEN RESPECTO AL CURSO O BIEN DE SU VIDA DIARIA, QUE TIPO DE ESTRUCTURA UTILIZA DEZZER PARA LAS PLAYLIST?</a:t>
            </a:r>
          </a:p>
        </p:txBody>
      </p:sp>
      <p:sp>
        <p:nvSpPr>
          <p:cNvPr name="TextBox 8" id="8"/>
          <p:cNvSpPr txBox="true"/>
          <p:nvPr/>
        </p:nvSpPr>
        <p:spPr>
          <a:xfrm rot="0">
            <a:off x="10341901" y="1028700"/>
            <a:ext cx="7766594" cy="8801100"/>
          </a:xfrm>
          <a:prstGeom prst="rect">
            <a:avLst/>
          </a:prstGeom>
        </p:spPr>
        <p:txBody>
          <a:bodyPr anchor="t" rtlCol="false" tIns="0" lIns="0" bIns="0" rIns="0">
            <a:spAutoFit/>
          </a:bodyPr>
          <a:lstStyle/>
          <a:p>
            <a:pPr algn="l">
              <a:lnSpc>
                <a:spcPts val="5822"/>
              </a:lnSpc>
            </a:pPr>
            <a:r>
              <a:rPr lang="en-US" sz="4852">
                <a:solidFill>
                  <a:srgbClr val="000000"/>
                </a:solidFill>
                <a:latin typeface="Anton"/>
                <a:ea typeface="Anton"/>
                <a:cs typeface="Anton"/>
                <a:sym typeface="Anton"/>
              </a:rPr>
              <a:t>DEZZER Y OTROS REPRODUCTORES DE MUSICA UTILIZAN UNA LISTA CIRCULAR DOBLEMENTE ENLAZADA, LA PRIMER CANCION QUE COLOCAMOS Y SI LE DAMOS EN LA FLECHA QUE VA HACIA LA IZQUIERDA NOS LLEVA A LA ULTIMA DE NUESTRA PLAYLIST, Y VICEVERSA, SI ESTAMOS EN LA ULTIMA CANCION Y LE DAMOS A LA SIGUIENTE, NOS LLEVA A LA PRIMERA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876529" y="9390510"/>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513710" y="9390510"/>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148357" y="944617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538485" y="2218223"/>
            <a:ext cx="5002079" cy="3553753"/>
            <a:chOff x="0" y="0"/>
            <a:chExt cx="668221" cy="474741"/>
          </a:xfrm>
        </p:grpSpPr>
        <p:sp>
          <p:nvSpPr>
            <p:cNvPr name="Freeform 6" id="6"/>
            <p:cNvSpPr/>
            <p:nvPr/>
          </p:nvSpPr>
          <p:spPr>
            <a:xfrm flipH="false" flipV="false" rot="0">
              <a:off x="0" y="0"/>
              <a:ext cx="668221" cy="474741"/>
            </a:xfrm>
            <a:custGeom>
              <a:avLst/>
              <a:gdLst/>
              <a:ahLst/>
              <a:cxnLst/>
              <a:rect r="r" b="b" t="t" l="l"/>
              <a:pathLst>
                <a:path h="474741" w="668221">
                  <a:moveTo>
                    <a:pt x="0" y="0"/>
                  </a:moveTo>
                  <a:lnTo>
                    <a:pt x="668221" y="0"/>
                  </a:lnTo>
                  <a:lnTo>
                    <a:pt x="668221" y="474741"/>
                  </a:lnTo>
                  <a:lnTo>
                    <a:pt x="0" y="474741"/>
                  </a:lnTo>
                  <a:close/>
                </a:path>
              </a:pathLst>
            </a:custGeom>
            <a:blipFill>
              <a:blip r:embed="rId4"/>
              <a:stretch>
                <a:fillRect l="0" t="-143" r="0" b="-143"/>
              </a:stretch>
            </a:blipFill>
            <a:ln w="38100" cap="sq">
              <a:solidFill>
                <a:srgbClr val="000000"/>
              </a:solidFill>
              <a:prstDash val="solid"/>
              <a:miter/>
            </a:ln>
          </p:spPr>
        </p:sp>
      </p:grpSp>
      <p:grpSp>
        <p:nvGrpSpPr>
          <p:cNvPr name="Group 7" id="7"/>
          <p:cNvGrpSpPr/>
          <p:nvPr/>
        </p:nvGrpSpPr>
        <p:grpSpPr>
          <a:xfrm rot="0">
            <a:off x="5622600" y="3995099"/>
            <a:ext cx="4072789" cy="1790515"/>
            <a:chOff x="0" y="0"/>
            <a:chExt cx="786519" cy="345776"/>
          </a:xfrm>
        </p:grpSpPr>
        <p:sp>
          <p:nvSpPr>
            <p:cNvPr name="Freeform 8" id="8"/>
            <p:cNvSpPr/>
            <p:nvPr/>
          </p:nvSpPr>
          <p:spPr>
            <a:xfrm flipH="false" flipV="false" rot="0">
              <a:off x="0" y="0"/>
              <a:ext cx="786519" cy="345776"/>
            </a:xfrm>
            <a:custGeom>
              <a:avLst/>
              <a:gdLst/>
              <a:ahLst/>
              <a:cxnLst/>
              <a:rect r="r" b="b" t="t" l="l"/>
              <a:pathLst>
                <a:path h="345776" w="786519">
                  <a:moveTo>
                    <a:pt x="0" y="0"/>
                  </a:moveTo>
                  <a:lnTo>
                    <a:pt x="786519" y="0"/>
                  </a:lnTo>
                  <a:lnTo>
                    <a:pt x="786519" y="345776"/>
                  </a:lnTo>
                  <a:lnTo>
                    <a:pt x="0" y="345776"/>
                  </a:lnTo>
                  <a:close/>
                </a:path>
              </a:pathLst>
            </a:custGeom>
            <a:blipFill>
              <a:blip r:embed="rId5"/>
              <a:stretch>
                <a:fillRect l="0" t="-184" r="0" b="-184"/>
              </a:stretch>
            </a:blipFill>
            <a:ln w="38100" cap="sq">
              <a:solidFill>
                <a:srgbClr val="000000"/>
              </a:solidFill>
              <a:prstDash val="solid"/>
              <a:miter/>
            </a:ln>
          </p:spPr>
        </p:sp>
      </p:grpSp>
      <p:sp>
        <p:nvSpPr>
          <p:cNvPr name="Freeform 9" id="9"/>
          <p:cNvSpPr/>
          <p:nvPr/>
        </p:nvSpPr>
        <p:spPr>
          <a:xfrm flipH="false" flipV="false" rot="0">
            <a:off x="6202345" y="2551085"/>
            <a:ext cx="498808" cy="849363"/>
          </a:xfrm>
          <a:custGeom>
            <a:avLst/>
            <a:gdLst/>
            <a:ahLst/>
            <a:cxnLst/>
            <a:rect r="r" b="b" t="t" l="l"/>
            <a:pathLst>
              <a:path h="849363" w="498808">
                <a:moveTo>
                  <a:pt x="0" y="0"/>
                </a:moveTo>
                <a:lnTo>
                  <a:pt x="498808" y="0"/>
                </a:lnTo>
                <a:lnTo>
                  <a:pt x="498808" y="849364"/>
                </a:lnTo>
                <a:lnTo>
                  <a:pt x="0" y="8493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7020547" y="580339"/>
            <a:ext cx="2674841" cy="3275767"/>
            <a:chOff x="0" y="0"/>
            <a:chExt cx="851801" cy="1043166"/>
          </a:xfrm>
        </p:grpSpPr>
        <p:sp>
          <p:nvSpPr>
            <p:cNvPr name="Freeform 11" id="11"/>
            <p:cNvSpPr/>
            <p:nvPr/>
          </p:nvSpPr>
          <p:spPr>
            <a:xfrm flipH="false" flipV="false" rot="0">
              <a:off x="0" y="0"/>
              <a:ext cx="851801" cy="1043165"/>
            </a:xfrm>
            <a:custGeom>
              <a:avLst/>
              <a:gdLst/>
              <a:ahLst/>
              <a:cxnLst/>
              <a:rect r="r" b="b" t="t" l="l"/>
              <a:pathLst>
                <a:path h="1043165" w="851801">
                  <a:moveTo>
                    <a:pt x="0" y="0"/>
                  </a:moveTo>
                  <a:lnTo>
                    <a:pt x="851801" y="0"/>
                  </a:lnTo>
                  <a:lnTo>
                    <a:pt x="851801" y="1043165"/>
                  </a:lnTo>
                  <a:lnTo>
                    <a:pt x="0" y="1043165"/>
                  </a:lnTo>
                  <a:close/>
                </a:path>
              </a:pathLst>
            </a:custGeom>
            <a:blipFill>
              <a:blip r:embed="rId8"/>
              <a:stretch>
                <a:fillRect l="0" t="-45162" r="0" b="-31390"/>
              </a:stretch>
            </a:blipFill>
            <a:ln w="38100" cap="sq">
              <a:solidFill>
                <a:srgbClr val="000000"/>
              </a:solidFill>
              <a:prstDash val="solid"/>
              <a:miter/>
            </a:ln>
          </p:spPr>
        </p:sp>
      </p:grpSp>
      <p:grpSp>
        <p:nvGrpSpPr>
          <p:cNvPr name="Group 12" id="12"/>
          <p:cNvGrpSpPr/>
          <p:nvPr/>
        </p:nvGrpSpPr>
        <p:grpSpPr>
          <a:xfrm rot="0">
            <a:off x="538485" y="6029150"/>
            <a:ext cx="8882801" cy="3361360"/>
            <a:chOff x="0" y="0"/>
            <a:chExt cx="1039972" cy="393538"/>
          </a:xfrm>
        </p:grpSpPr>
        <p:sp>
          <p:nvSpPr>
            <p:cNvPr name="Freeform 13" id="13"/>
            <p:cNvSpPr/>
            <p:nvPr/>
          </p:nvSpPr>
          <p:spPr>
            <a:xfrm flipH="false" flipV="false" rot="0">
              <a:off x="0" y="0"/>
              <a:ext cx="1039972" cy="393538"/>
            </a:xfrm>
            <a:custGeom>
              <a:avLst/>
              <a:gdLst/>
              <a:ahLst/>
              <a:cxnLst/>
              <a:rect r="r" b="b" t="t" l="l"/>
              <a:pathLst>
                <a:path h="393538" w="1039972">
                  <a:moveTo>
                    <a:pt x="0" y="0"/>
                  </a:moveTo>
                  <a:lnTo>
                    <a:pt x="1039972" y="0"/>
                  </a:lnTo>
                  <a:lnTo>
                    <a:pt x="1039972" y="393538"/>
                  </a:lnTo>
                  <a:lnTo>
                    <a:pt x="0" y="393538"/>
                  </a:lnTo>
                  <a:close/>
                </a:path>
              </a:pathLst>
            </a:custGeom>
            <a:blipFill>
              <a:blip r:embed="rId9"/>
              <a:stretch>
                <a:fillRect l="-319" t="0" r="-319" b="0"/>
              </a:stretch>
            </a:blipFill>
            <a:ln w="38100" cap="sq">
              <a:solidFill>
                <a:srgbClr val="000000"/>
              </a:solidFill>
              <a:prstDash val="solid"/>
              <a:miter/>
            </a:ln>
          </p:spPr>
        </p:sp>
      </p:grpSp>
      <p:sp>
        <p:nvSpPr>
          <p:cNvPr name="Freeform 14" id="14"/>
          <p:cNvSpPr/>
          <p:nvPr/>
        </p:nvSpPr>
        <p:spPr>
          <a:xfrm flipH="false" flipV="false" rot="678324">
            <a:off x="432449" y="8868255"/>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1028700" y="737235"/>
            <a:ext cx="6335946"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CASOS DE USO</a:t>
            </a:r>
          </a:p>
        </p:txBody>
      </p:sp>
      <p:sp>
        <p:nvSpPr>
          <p:cNvPr name="TextBox 16" id="16"/>
          <p:cNvSpPr txBox="true"/>
          <p:nvPr/>
        </p:nvSpPr>
        <p:spPr>
          <a:xfrm rot="0">
            <a:off x="10253899" y="1513348"/>
            <a:ext cx="6335946" cy="8479155"/>
          </a:xfrm>
          <a:prstGeom prst="rect">
            <a:avLst/>
          </a:prstGeom>
        </p:spPr>
        <p:txBody>
          <a:bodyPr anchor="t" rtlCol="false" tIns="0" lIns="0" bIns="0" rIns="0">
            <a:spAutoFit/>
          </a:bodyPr>
          <a:lstStyle/>
          <a:p>
            <a:pPr algn="l" marL="388620" indent="-194310" lvl="1">
              <a:lnSpc>
                <a:spcPts val="2520"/>
              </a:lnSpc>
              <a:buFont typeface="Arial"/>
              <a:buChar char="•"/>
            </a:pPr>
            <a:r>
              <a:rPr lang="en-US" b="true" sz="1800">
                <a:solidFill>
                  <a:srgbClr val="000000"/>
                </a:solidFill>
                <a:latin typeface="Inter Bold"/>
                <a:ea typeface="Inter Bold"/>
                <a:cs typeface="Inter Bold"/>
                <a:sym typeface="Inter Bold"/>
              </a:rPr>
              <a:t>Repr</a:t>
            </a:r>
            <a:r>
              <a:rPr lang="en-US" b="true" sz="1800">
                <a:solidFill>
                  <a:srgbClr val="000000"/>
                </a:solidFill>
                <a:latin typeface="Inter Bold"/>
                <a:ea typeface="Inter Bold"/>
                <a:cs typeface="Inter Bold"/>
                <a:sym typeface="Inter Bold"/>
              </a:rPr>
              <a:t>oductores de música</a:t>
            </a:r>
            <a:r>
              <a:rPr lang="en-US" sz="1800">
                <a:solidFill>
                  <a:srgbClr val="000000"/>
                </a:solidFill>
                <a:latin typeface="Inter"/>
                <a:ea typeface="Inter"/>
                <a:cs typeface="Inter"/>
                <a:sym typeface="Inter"/>
              </a:rPr>
              <a:t>: Los reproductores multimedia suelen utilizar listas enlazadas circulares para gestionar listas de reproducción, especialmente en modo "repetir". Cuando la lista de reproducción llega al final, vuelve al principio sin problemas.</a:t>
            </a:r>
          </a:p>
          <a:p>
            <a:pPr algn="l">
              <a:lnSpc>
                <a:spcPts val="2520"/>
              </a:lnSpc>
            </a:pPr>
          </a:p>
          <a:p>
            <a:pPr algn="l" marL="388620" indent="-194310" lvl="1">
              <a:lnSpc>
                <a:spcPts val="2520"/>
              </a:lnSpc>
              <a:buFont typeface="Arial"/>
              <a:buChar char="•"/>
            </a:pPr>
            <a:r>
              <a:rPr lang="en-US" b="true" sz="1800">
                <a:solidFill>
                  <a:srgbClr val="000000"/>
                </a:solidFill>
                <a:latin typeface="Inter Bold"/>
                <a:ea typeface="Inter Bold"/>
                <a:cs typeface="Inter Bold"/>
                <a:sym typeface="Inter Bold"/>
              </a:rPr>
              <a:t>Juegos multijugador:</a:t>
            </a:r>
            <a:r>
              <a:rPr lang="en-US" sz="1800">
                <a:solidFill>
                  <a:srgbClr val="000000"/>
                </a:solidFill>
                <a:latin typeface="Inter"/>
                <a:ea typeface="Inter"/>
                <a:cs typeface="Inter"/>
                <a:sym typeface="Inter"/>
              </a:rPr>
              <a:t> En juegos que involucran a varios jugadores, las listas enlazadas circulares pueden administrar los turnos de los jugadores en un bucle. Después de que el último jugador toma un turno, el sistema regresa automáticamente al primer jugador.</a:t>
            </a:r>
          </a:p>
          <a:p>
            <a:pPr algn="l">
              <a:lnSpc>
                <a:spcPts val="2520"/>
              </a:lnSpc>
            </a:pPr>
          </a:p>
          <a:p>
            <a:pPr algn="l" marL="388620" indent="-194310" lvl="1">
              <a:lnSpc>
                <a:spcPts val="2520"/>
              </a:lnSpc>
              <a:buFont typeface="Arial"/>
              <a:buChar char="•"/>
            </a:pPr>
            <a:r>
              <a:rPr lang="en-US" b="true" sz="1800">
                <a:solidFill>
                  <a:srgbClr val="000000"/>
                </a:solidFill>
                <a:latin typeface="Inter Bold"/>
                <a:ea typeface="Inter Bold"/>
                <a:cs typeface="Inter Bold"/>
                <a:sym typeface="Inter Bold"/>
              </a:rPr>
              <a:t>Sistemas operativos: </a:t>
            </a:r>
            <a:r>
              <a:rPr lang="en-US" sz="1800">
                <a:solidFill>
                  <a:srgbClr val="000000"/>
                </a:solidFill>
                <a:latin typeface="Inter"/>
                <a:ea typeface="Inter"/>
                <a:cs typeface="Inter"/>
                <a:sym typeface="Inter"/>
              </a:rPr>
              <a:t>Muchos sistemas operativos utilizan listas enlazadas circulares para diversas tareas de gestión, incluidos algoritmos de programación como la programación round-robin. Este método recorre los procesos, asignando el tiempo de la CPU uno por uno de manera justa y cíclica.</a:t>
            </a:r>
          </a:p>
          <a:p>
            <a:pPr algn="l">
              <a:lnSpc>
                <a:spcPts val="2520"/>
              </a:lnSpc>
            </a:pPr>
          </a:p>
          <a:p>
            <a:pPr algn="l" marL="388620" indent="-194310" lvl="1">
              <a:lnSpc>
                <a:spcPts val="2520"/>
              </a:lnSpc>
              <a:buFont typeface="Arial"/>
              <a:buChar char="•"/>
            </a:pPr>
            <a:r>
              <a:rPr lang="en-US" b="true" sz="1800">
                <a:solidFill>
                  <a:srgbClr val="000000"/>
                </a:solidFill>
                <a:latin typeface="Inter Bold"/>
                <a:ea typeface="Inter Bold"/>
                <a:cs typeface="Inter Bold"/>
                <a:sym typeface="Inter Bold"/>
              </a:rPr>
              <a:t>Asignación de recursos:</a:t>
            </a:r>
            <a:r>
              <a:rPr lang="en-US" sz="1800">
                <a:solidFill>
                  <a:srgbClr val="000000"/>
                </a:solidFill>
                <a:latin typeface="Inter"/>
                <a:ea typeface="Inter"/>
                <a:cs typeface="Inter"/>
                <a:sym typeface="Inter"/>
              </a:rPr>
              <a:t> </a:t>
            </a:r>
            <a:r>
              <a:rPr lang="en-US" b="true" sz="1800">
                <a:solidFill>
                  <a:srgbClr val="000000"/>
                </a:solidFill>
                <a:latin typeface="Inter Medium"/>
                <a:ea typeface="Inter Medium"/>
                <a:cs typeface="Inter Medium"/>
                <a:sym typeface="Inter Medium"/>
              </a:rPr>
              <a:t>También se utilizan para gestionar recursos en un entorno donde los recursos deben usarse cíclicamente, como asignar recursos de CPU o memoria de manera circular a varios procesos.</a:t>
            </a:r>
          </a:p>
          <a:p>
            <a:pPr algn="l">
              <a:lnSpc>
                <a:spcPts val="2520"/>
              </a:lnSpc>
            </a:pPr>
          </a:p>
          <a:p>
            <a:pPr algn="l">
              <a:lnSpc>
                <a:spcPts val="2520"/>
              </a:lnSpc>
            </a:pPr>
          </a:p>
          <a:p>
            <a:pPr algn="l">
              <a:lnSpc>
                <a:spcPts val="252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4418005"/>
            <a:ext cx="8036455" cy="1766245"/>
            <a:chOff x="0" y="0"/>
            <a:chExt cx="940884" cy="206787"/>
          </a:xfrm>
        </p:grpSpPr>
        <p:sp>
          <p:nvSpPr>
            <p:cNvPr name="Freeform 3" id="3"/>
            <p:cNvSpPr/>
            <p:nvPr/>
          </p:nvSpPr>
          <p:spPr>
            <a:xfrm flipH="false" flipV="false" rot="0">
              <a:off x="0" y="0"/>
              <a:ext cx="940884" cy="206787"/>
            </a:xfrm>
            <a:custGeom>
              <a:avLst/>
              <a:gdLst/>
              <a:ahLst/>
              <a:cxnLst/>
              <a:rect r="r" b="b" t="t" l="l"/>
              <a:pathLst>
                <a:path h="206787" w="940884">
                  <a:moveTo>
                    <a:pt x="0" y="0"/>
                  </a:moveTo>
                  <a:lnTo>
                    <a:pt x="940884" y="0"/>
                  </a:lnTo>
                  <a:lnTo>
                    <a:pt x="940884" y="206787"/>
                  </a:lnTo>
                  <a:lnTo>
                    <a:pt x="0" y="206787"/>
                  </a:lnTo>
                  <a:close/>
                </a:path>
              </a:pathLst>
            </a:custGeom>
            <a:blipFill>
              <a:blip r:embed="rId2"/>
              <a:stretch>
                <a:fillRect l="0" t="-6306" r="0" b="-6306"/>
              </a:stretch>
            </a:blipFill>
            <a:ln w="38100" cap="sq">
              <a:solidFill>
                <a:srgbClr val="000000"/>
              </a:solidFill>
              <a:prstDash val="solid"/>
              <a:miter/>
            </a:ln>
          </p:spPr>
        </p:sp>
      </p:grpSp>
      <p:grpSp>
        <p:nvGrpSpPr>
          <p:cNvPr name="Group 4" id="4"/>
          <p:cNvGrpSpPr/>
          <p:nvPr/>
        </p:nvGrpSpPr>
        <p:grpSpPr>
          <a:xfrm rot="0">
            <a:off x="727351" y="6884418"/>
            <a:ext cx="8953659" cy="3019471"/>
            <a:chOff x="0" y="0"/>
            <a:chExt cx="1226372" cy="413573"/>
          </a:xfrm>
        </p:grpSpPr>
        <p:sp>
          <p:nvSpPr>
            <p:cNvPr name="Freeform 5" id="5"/>
            <p:cNvSpPr/>
            <p:nvPr/>
          </p:nvSpPr>
          <p:spPr>
            <a:xfrm flipH="false" flipV="false" rot="0">
              <a:off x="0" y="0"/>
              <a:ext cx="1226372" cy="413573"/>
            </a:xfrm>
            <a:custGeom>
              <a:avLst/>
              <a:gdLst/>
              <a:ahLst/>
              <a:cxnLst/>
              <a:rect r="r" b="b" t="t" l="l"/>
              <a:pathLst>
                <a:path h="413573" w="1226372">
                  <a:moveTo>
                    <a:pt x="0" y="0"/>
                  </a:moveTo>
                  <a:lnTo>
                    <a:pt x="1226372" y="0"/>
                  </a:lnTo>
                  <a:lnTo>
                    <a:pt x="1226372" y="413573"/>
                  </a:lnTo>
                  <a:lnTo>
                    <a:pt x="0" y="413573"/>
                  </a:lnTo>
                  <a:close/>
                </a:path>
              </a:pathLst>
            </a:custGeom>
            <a:blipFill>
              <a:blip r:embed="rId3"/>
              <a:stretch>
                <a:fillRect l="-2082" t="0" r="-2082" b="0"/>
              </a:stretch>
            </a:blipFill>
            <a:ln w="38100" cap="sq">
              <a:solidFill>
                <a:srgbClr val="000000"/>
              </a:solidFill>
              <a:prstDash val="solid"/>
              <a:miter/>
            </a:ln>
          </p:spPr>
        </p:sp>
      </p:grpSp>
      <p:sp>
        <p:nvSpPr>
          <p:cNvPr name="Freeform 6" id="6"/>
          <p:cNvSpPr/>
          <p:nvPr/>
        </p:nvSpPr>
        <p:spPr>
          <a:xfrm flipH="false" flipV="false" rot="678324">
            <a:off x="339933" y="8736045"/>
            <a:ext cx="774837" cy="1044510"/>
          </a:xfrm>
          <a:custGeom>
            <a:avLst/>
            <a:gdLst/>
            <a:ahLst/>
            <a:cxnLst/>
            <a:rect r="r" b="b" t="t" l="l"/>
            <a:pathLst>
              <a:path h="1044510" w="774837">
                <a:moveTo>
                  <a:pt x="0" y="0"/>
                </a:moveTo>
                <a:lnTo>
                  <a:pt x="774837" y="0"/>
                </a:lnTo>
                <a:lnTo>
                  <a:pt x="774837" y="1044510"/>
                </a:lnTo>
                <a:lnTo>
                  <a:pt x="0" y="1044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48068" y="3746428"/>
            <a:ext cx="498808" cy="849363"/>
          </a:xfrm>
          <a:custGeom>
            <a:avLst/>
            <a:gdLst/>
            <a:ahLst/>
            <a:cxnLst/>
            <a:rect r="r" b="b" t="t" l="l"/>
            <a:pathLst>
              <a:path h="849363" w="498808">
                <a:moveTo>
                  <a:pt x="0" y="0"/>
                </a:moveTo>
                <a:lnTo>
                  <a:pt x="498808" y="0"/>
                </a:lnTo>
                <a:lnTo>
                  <a:pt x="498808" y="849364"/>
                </a:lnTo>
                <a:lnTo>
                  <a:pt x="0" y="8493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226236" y="3120961"/>
            <a:ext cx="3033064" cy="2336697"/>
          </a:xfrm>
          <a:custGeom>
            <a:avLst/>
            <a:gdLst/>
            <a:ahLst/>
            <a:cxnLst/>
            <a:rect r="r" b="b" t="t" l="l"/>
            <a:pathLst>
              <a:path h="2336697" w="3033064">
                <a:moveTo>
                  <a:pt x="0" y="0"/>
                </a:moveTo>
                <a:lnTo>
                  <a:pt x="3033064" y="0"/>
                </a:lnTo>
                <a:lnTo>
                  <a:pt x="3033064" y="2336697"/>
                </a:lnTo>
                <a:lnTo>
                  <a:pt x="0" y="2336697"/>
                </a:lnTo>
                <a:lnTo>
                  <a:pt x="0" y="0"/>
                </a:lnTo>
                <a:close/>
              </a:path>
            </a:pathLst>
          </a:custGeom>
          <a:blipFill>
            <a:blip r:embed="rId8"/>
            <a:stretch>
              <a:fillRect l="0" t="0" r="0" b="0"/>
            </a:stretch>
          </a:blipFill>
        </p:spPr>
      </p:sp>
      <p:sp>
        <p:nvSpPr>
          <p:cNvPr name="TextBox 9" id="9"/>
          <p:cNvSpPr txBox="true"/>
          <p:nvPr/>
        </p:nvSpPr>
        <p:spPr>
          <a:xfrm rot="0">
            <a:off x="1028700" y="898863"/>
            <a:ext cx="7811924" cy="3696929"/>
          </a:xfrm>
          <a:prstGeom prst="rect">
            <a:avLst/>
          </a:prstGeom>
        </p:spPr>
        <p:txBody>
          <a:bodyPr anchor="t" rtlCol="false" tIns="0" lIns="0" bIns="0" rIns="0">
            <a:spAutoFit/>
          </a:bodyPr>
          <a:lstStyle/>
          <a:p>
            <a:pPr algn="l">
              <a:lnSpc>
                <a:spcPts val="9703"/>
              </a:lnSpc>
            </a:pPr>
            <a:r>
              <a:rPr lang="en-US" sz="8086">
                <a:solidFill>
                  <a:srgbClr val="000000"/>
                </a:solidFill>
                <a:latin typeface="Anton"/>
                <a:ea typeface="Anton"/>
                <a:cs typeface="Anton"/>
                <a:sym typeface="Anton"/>
              </a:rPr>
              <a:t>OPERACIONES BÁSICAS</a:t>
            </a:r>
          </a:p>
          <a:p>
            <a:pPr algn="l">
              <a:lnSpc>
                <a:spcPts val="9703"/>
              </a:lnSpc>
            </a:pPr>
          </a:p>
        </p:txBody>
      </p:sp>
      <p:sp>
        <p:nvSpPr>
          <p:cNvPr name="TextBox 10" id="10"/>
          <p:cNvSpPr txBox="true"/>
          <p:nvPr/>
        </p:nvSpPr>
        <p:spPr>
          <a:xfrm rot="0">
            <a:off x="9679415" y="1608844"/>
            <a:ext cx="6218475" cy="1243965"/>
          </a:xfrm>
          <a:prstGeom prst="rect">
            <a:avLst/>
          </a:prstGeom>
        </p:spPr>
        <p:txBody>
          <a:bodyPr anchor="t" rtlCol="false" tIns="0" lIns="0" bIns="0" rIns="0">
            <a:spAutoFit/>
          </a:bodyPr>
          <a:lstStyle/>
          <a:p>
            <a:pPr algn="l">
              <a:lnSpc>
                <a:spcPts val="3359"/>
              </a:lnSpc>
            </a:pPr>
            <a:r>
              <a:rPr lang="en-US" sz="2399" b="true">
                <a:solidFill>
                  <a:srgbClr val="000000"/>
                </a:solidFill>
                <a:latin typeface="Inter Bold"/>
                <a:ea typeface="Inter Bold"/>
                <a:cs typeface="Inter Bold"/>
                <a:sym typeface="Inter Bold"/>
              </a:rPr>
              <a:t>1) In</a:t>
            </a:r>
            <a:r>
              <a:rPr lang="en-US" b="true" sz="2399">
                <a:solidFill>
                  <a:srgbClr val="000000"/>
                </a:solidFill>
                <a:latin typeface="Inter Bold"/>
                <a:ea typeface="Inter Bold"/>
                <a:cs typeface="Inter Bold"/>
                <a:sym typeface="Inter Bold"/>
              </a:rPr>
              <a:t>serción en una lista enlazada circular</a:t>
            </a:r>
          </a:p>
          <a:p>
            <a:pPr algn="l">
              <a:lnSpc>
                <a:spcPts val="3359"/>
              </a:lnSpc>
            </a:pPr>
          </a:p>
          <a:p>
            <a:pPr algn="r">
              <a:lnSpc>
                <a:spcPts val="3359"/>
              </a:lnSpc>
            </a:pPr>
            <a:r>
              <a:rPr lang="en-US" b="true" sz="2399">
                <a:solidFill>
                  <a:srgbClr val="FF3131"/>
                </a:solidFill>
                <a:latin typeface="Inter Bold"/>
                <a:ea typeface="Inter Bold"/>
                <a:cs typeface="Inter Bold"/>
                <a:sym typeface="Inter Bold"/>
              </a:rPr>
              <a:t>Inserción al principio</a:t>
            </a:r>
          </a:p>
        </p:txBody>
      </p:sp>
      <p:sp>
        <p:nvSpPr>
          <p:cNvPr name="TextBox 11" id="11"/>
          <p:cNvSpPr txBox="true"/>
          <p:nvPr/>
        </p:nvSpPr>
        <p:spPr>
          <a:xfrm rot="0">
            <a:off x="1135964" y="3777785"/>
            <a:ext cx="813643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A partir de una </a:t>
            </a:r>
            <a:r>
              <a:rPr lang="en-US" b="true" sz="2100">
                <a:solidFill>
                  <a:srgbClr val="000000"/>
                </a:solidFill>
                <a:latin typeface="Inter Medium"/>
                <a:ea typeface="Inter Medium"/>
                <a:cs typeface="Inter Medium"/>
                <a:sym typeface="Inter Medium"/>
              </a:rPr>
              <a:t>lista enlazada circular con los elementos 1, 2 y 3.</a:t>
            </a:r>
          </a:p>
        </p:txBody>
      </p:sp>
      <p:sp>
        <p:nvSpPr>
          <p:cNvPr name="TextBox 12" id="12"/>
          <p:cNvSpPr txBox="true"/>
          <p:nvPr/>
        </p:nvSpPr>
        <p:spPr>
          <a:xfrm rot="0">
            <a:off x="1028700" y="6288280"/>
            <a:ext cx="3117056"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Lista en su estado inicial</a:t>
            </a:r>
          </a:p>
        </p:txBody>
      </p:sp>
      <p:sp>
        <p:nvSpPr>
          <p:cNvPr name="TextBox 13" id="13"/>
          <p:cNvSpPr txBox="true"/>
          <p:nvPr/>
        </p:nvSpPr>
        <p:spPr>
          <a:xfrm rot="0">
            <a:off x="11991449" y="3119510"/>
            <a:ext cx="487650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1) Crear el nuevo nodo, con valor de 6.</a:t>
            </a:r>
          </a:p>
        </p:txBody>
      </p:sp>
      <p:sp>
        <p:nvSpPr>
          <p:cNvPr name="TextBox 14" id="14"/>
          <p:cNvSpPr txBox="true"/>
          <p:nvPr/>
        </p:nvSpPr>
        <p:spPr>
          <a:xfrm rot="0">
            <a:off x="10271335" y="5253503"/>
            <a:ext cx="7226136" cy="1108710"/>
          </a:xfrm>
          <a:prstGeom prst="rect">
            <a:avLst/>
          </a:prstGeom>
        </p:spPr>
        <p:txBody>
          <a:bodyPr anchor="t" rtlCol="false" tIns="0" lIns="0" bIns="0" rIns="0">
            <a:spAutoFit/>
          </a:bodyPr>
          <a:lstStyle/>
          <a:p>
            <a:pPr algn="just">
              <a:lnSpc>
                <a:spcPts val="2940"/>
              </a:lnSpc>
              <a:spcBef>
                <a:spcPct val="0"/>
              </a:spcBef>
            </a:pPr>
            <a:r>
              <a:rPr lang="en-US" b="true" sz="2100">
                <a:solidFill>
                  <a:srgbClr val="000000"/>
                </a:solidFill>
                <a:latin typeface="Inter Medium"/>
                <a:ea typeface="Inter Medium"/>
                <a:cs typeface="Inter Medium"/>
                <a:sym typeface="Inter Medium"/>
              </a:rPr>
              <a:t>2) </a:t>
            </a:r>
            <a:r>
              <a:rPr lang="en-US" b="true" sz="2100">
                <a:solidFill>
                  <a:srgbClr val="000000"/>
                </a:solidFill>
                <a:latin typeface="Inter Medium"/>
                <a:ea typeface="Inter Medium"/>
                <a:cs typeface="Inter Medium"/>
                <a:sym typeface="Inter Medium"/>
              </a:rPr>
              <a:t>almacena la dirección del primer nodo actual en el newNode (es decir, señalando el newNode al primer nodo actual)</a:t>
            </a:r>
          </a:p>
        </p:txBody>
      </p:sp>
      <p:sp>
        <p:nvSpPr>
          <p:cNvPr name="TextBox 15" id="15"/>
          <p:cNvSpPr txBox="true"/>
          <p:nvPr/>
        </p:nvSpPr>
        <p:spPr>
          <a:xfrm rot="0">
            <a:off x="10271335" y="7014259"/>
            <a:ext cx="5838447" cy="737235"/>
          </a:xfrm>
          <a:prstGeom prst="rect">
            <a:avLst/>
          </a:prstGeom>
        </p:spPr>
        <p:txBody>
          <a:bodyPr anchor="t" rtlCol="false" tIns="0" lIns="0" bIns="0" rIns="0">
            <a:spAutoFit/>
          </a:bodyPr>
          <a:lstStyle/>
          <a:p>
            <a:pPr algn="just">
              <a:lnSpc>
                <a:spcPts val="2940"/>
              </a:lnSpc>
              <a:spcBef>
                <a:spcPct val="0"/>
              </a:spcBef>
            </a:pPr>
            <a:r>
              <a:rPr lang="en-US" b="true" sz="2100">
                <a:solidFill>
                  <a:srgbClr val="000000"/>
                </a:solidFill>
                <a:latin typeface="Inter Medium"/>
                <a:ea typeface="Inter Medium"/>
                <a:cs typeface="Inter Medium"/>
                <a:sym typeface="Inter Medium"/>
              </a:rPr>
              <a:t>3) </a:t>
            </a:r>
            <a:r>
              <a:rPr lang="en-US" b="true" sz="2100">
                <a:solidFill>
                  <a:srgbClr val="000000"/>
                </a:solidFill>
                <a:latin typeface="Inter Medium"/>
                <a:ea typeface="Inter Medium"/>
                <a:cs typeface="Inter Medium"/>
                <a:sym typeface="Inter Medium"/>
              </a:rPr>
              <a:t>apunte el último nodo a newNode (es decir, hacer newNode como cabeza)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4418005"/>
            <a:ext cx="8036455" cy="1766245"/>
            <a:chOff x="0" y="0"/>
            <a:chExt cx="940884" cy="206787"/>
          </a:xfrm>
        </p:grpSpPr>
        <p:sp>
          <p:nvSpPr>
            <p:cNvPr name="Freeform 3" id="3"/>
            <p:cNvSpPr/>
            <p:nvPr/>
          </p:nvSpPr>
          <p:spPr>
            <a:xfrm flipH="false" flipV="false" rot="0">
              <a:off x="0" y="0"/>
              <a:ext cx="940884" cy="206787"/>
            </a:xfrm>
            <a:custGeom>
              <a:avLst/>
              <a:gdLst/>
              <a:ahLst/>
              <a:cxnLst/>
              <a:rect r="r" b="b" t="t" l="l"/>
              <a:pathLst>
                <a:path h="206787" w="940884">
                  <a:moveTo>
                    <a:pt x="0" y="0"/>
                  </a:moveTo>
                  <a:lnTo>
                    <a:pt x="940884" y="0"/>
                  </a:lnTo>
                  <a:lnTo>
                    <a:pt x="940884" y="206787"/>
                  </a:lnTo>
                  <a:lnTo>
                    <a:pt x="0" y="206787"/>
                  </a:lnTo>
                  <a:close/>
                </a:path>
              </a:pathLst>
            </a:custGeom>
            <a:blipFill>
              <a:blip r:embed="rId2"/>
              <a:stretch>
                <a:fillRect l="0" t="-6306" r="0" b="-6306"/>
              </a:stretch>
            </a:blipFill>
            <a:ln w="38100" cap="sq">
              <a:solidFill>
                <a:srgbClr val="000000"/>
              </a:solidFill>
              <a:prstDash val="solid"/>
              <a:miter/>
            </a:ln>
          </p:spPr>
        </p:sp>
      </p:grpSp>
      <p:grpSp>
        <p:nvGrpSpPr>
          <p:cNvPr name="Group 4" id="4"/>
          <p:cNvGrpSpPr/>
          <p:nvPr/>
        </p:nvGrpSpPr>
        <p:grpSpPr>
          <a:xfrm rot="0">
            <a:off x="725756" y="6884418"/>
            <a:ext cx="8953659" cy="3019471"/>
            <a:chOff x="0" y="0"/>
            <a:chExt cx="1226372" cy="413573"/>
          </a:xfrm>
        </p:grpSpPr>
        <p:sp>
          <p:nvSpPr>
            <p:cNvPr name="Freeform 5" id="5"/>
            <p:cNvSpPr/>
            <p:nvPr/>
          </p:nvSpPr>
          <p:spPr>
            <a:xfrm flipH="false" flipV="false" rot="0">
              <a:off x="0" y="0"/>
              <a:ext cx="1226372" cy="413573"/>
            </a:xfrm>
            <a:custGeom>
              <a:avLst/>
              <a:gdLst/>
              <a:ahLst/>
              <a:cxnLst/>
              <a:rect r="r" b="b" t="t" l="l"/>
              <a:pathLst>
                <a:path h="413573" w="1226372">
                  <a:moveTo>
                    <a:pt x="0" y="0"/>
                  </a:moveTo>
                  <a:lnTo>
                    <a:pt x="1226372" y="0"/>
                  </a:lnTo>
                  <a:lnTo>
                    <a:pt x="1226372" y="413573"/>
                  </a:lnTo>
                  <a:lnTo>
                    <a:pt x="0" y="413573"/>
                  </a:lnTo>
                  <a:close/>
                </a:path>
              </a:pathLst>
            </a:custGeom>
            <a:blipFill>
              <a:blip r:embed="rId3"/>
              <a:stretch>
                <a:fillRect l="0" t="-7082" r="0" b="-7082"/>
              </a:stretch>
            </a:blipFill>
            <a:ln w="38100" cap="sq">
              <a:solidFill>
                <a:srgbClr val="000000"/>
              </a:solidFill>
              <a:prstDash val="solid"/>
              <a:miter/>
            </a:ln>
          </p:spPr>
        </p:sp>
      </p:grpSp>
      <p:sp>
        <p:nvSpPr>
          <p:cNvPr name="Freeform 6" id="6"/>
          <p:cNvSpPr/>
          <p:nvPr/>
        </p:nvSpPr>
        <p:spPr>
          <a:xfrm flipH="false" flipV="false" rot="678324">
            <a:off x="492658" y="7105268"/>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48068" y="3746428"/>
            <a:ext cx="498808" cy="849363"/>
          </a:xfrm>
          <a:custGeom>
            <a:avLst/>
            <a:gdLst/>
            <a:ahLst/>
            <a:cxnLst/>
            <a:rect r="r" b="b" t="t" l="l"/>
            <a:pathLst>
              <a:path h="849363" w="498808">
                <a:moveTo>
                  <a:pt x="0" y="0"/>
                </a:moveTo>
                <a:lnTo>
                  <a:pt x="498808" y="0"/>
                </a:lnTo>
                <a:lnTo>
                  <a:pt x="498808" y="849364"/>
                </a:lnTo>
                <a:lnTo>
                  <a:pt x="0" y="8493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226236" y="3120961"/>
            <a:ext cx="3033064" cy="2336697"/>
          </a:xfrm>
          <a:custGeom>
            <a:avLst/>
            <a:gdLst/>
            <a:ahLst/>
            <a:cxnLst/>
            <a:rect r="r" b="b" t="t" l="l"/>
            <a:pathLst>
              <a:path h="2336697" w="3033064">
                <a:moveTo>
                  <a:pt x="0" y="0"/>
                </a:moveTo>
                <a:lnTo>
                  <a:pt x="3033064" y="0"/>
                </a:lnTo>
                <a:lnTo>
                  <a:pt x="3033064" y="2336697"/>
                </a:lnTo>
                <a:lnTo>
                  <a:pt x="0" y="2336697"/>
                </a:lnTo>
                <a:lnTo>
                  <a:pt x="0" y="0"/>
                </a:lnTo>
                <a:close/>
              </a:path>
            </a:pathLst>
          </a:custGeom>
          <a:blipFill>
            <a:blip r:embed="rId8"/>
            <a:stretch>
              <a:fillRect l="0" t="0" r="0" b="0"/>
            </a:stretch>
          </a:blipFill>
        </p:spPr>
      </p:sp>
      <p:sp>
        <p:nvSpPr>
          <p:cNvPr name="TextBox 9" id="9"/>
          <p:cNvSpPr txBox="true"/>
          <p:nvPr/>
        </p:nvSpPr>
        <p:spPr>
          <a:xfrm rot="0">
            <a:off x="1028700" y="898863"/>
            <a:ext cx="7811924" cy="3696929"/>
          </a:xfrm>
          <a:prstGeom prst="rect">
            <a:avLst/>
          </a:prstGeom>
        </p:spPr>
        <p:txBody>
          <a:bodyPr anchor="t" rtlCol="false" tIns="0" lIns="0" bIns="0" rIns="0">
            <a:spAutoFit/>
          </a:bodyPr>
          <a:lstStyle/>
          <a:p>
            <a:pPr algn="l">
              <a:lnSpc>
                <a:spcPts val="9703"/>
              </a:lnSpc>
            </a:pPr>
            <a:r>
              <a:rPr lang="en-US" sz="8086">
                <a:solidFill>
                  <a:srgbClr val="000000"/>
                </a:solidFill>
                <a:latin typeface="Anton"/>
                <a:ea typeface="Anton"/>
                <a:cs typeface="Anton"/>
                <a:sym typeface="Anton"/>
              </a:rPr>
              <a:t>OPERACIONES BÁSICAS</a:t>
            </a:r>
          </a:p>
          <a:p>
            <a:pPr algn="l">
              <a:lnSpc>
                <a:spcPts val="9703"/>
              </a:lnSpc>
            </a:pPr>
          </a:p>
        </p:txBody>
      </p:sp>
      <p:sp>
        <p:nvSpPr>
          <p:cNvPr name="TextBox 10" id="10"/>
          <p:cNvSpPr txBox="true"/>
          <p:nvPr/>
        </p:nvSpPr>
        <p:spPr>
          <a:xfrm rot="0">
            <a:off x="9679415" y="1608844"/>
            <a:ext cx="6218475" cy="1243965"/>
          </a:xfrm>
          <a:prstGeom prst="rect">
            <a:avLst/>
          </a:prstGeom>
        </p:spPr>
        <p:txBody>
          <a:bodyPr anchor="t" rtlCol="false" tIns="0" lIns="0" bIns="0" rIns="0">
            <a:spAutoFit/>
          </a:bodyPr>
          <a:lstStyle/>
          <a:p>
            <a:pPr algn="l">
              <a:lnSpc>
                <a:spcPts val="3359"/>
              </a:lnSpc>
            </a:pPr>
            <a:r>
              <a:rPr lang="en-US" sz="2399" b="true">
                <a:solidFill>
                  <a:srgbClr val="000000"/>
                </a:solidFill>
                <a:latin typeface="Inter Bold"/>
                <a:ea typeface="Inter Bold"/>
                <a:cs typeface="Inter Bold"/>
                <a:sym typeface="Inter Bold"/>
              </a:rPr>
              <a:t>1) In</a:t>
            </a:r>
            <a:r>
              <a:rPr lang="en-US" b="true" sz="2399">
                <a:solidFill>
                  <a:srgbClr val="000000"/>
                </a:solidFill>
                <a:latin typeface="Inter Bold"/>
                <a:ea typeface="Inter Bold"/>
                <a:cs typeface="Inter Bold"/>
                <a:sym typeface="Inter Bold"/>
              </a:rPr>
              <a:t>serción en una lista enlazada circular</a:t>
            </a:r>
          </a:p>
          <a:p>
            <a:pPr algn="l">
              <a:lnSpc>
                <a:spcPts val="3359"/>
              </a:lnSpc>
            </a:pPr>
          </a:p>
          <a:p>
            <a:pPr algn="r">
              <a:lnSpc>
                <a:spcPts val="3359"/>
              </a:lnSpc>
            </a:pPr>
            <a:r>
              <a:rPr lang="en-US" b="true" sz="2399">
                <a:solidFill>
                  <a:srgbClr val="FF3131"/>
                </a:solidFill>
                <a:latin typeface="Inter Bold"/>
                <a:ea typeface="Inter Bold"/>
                <a:cs typeface="Inter Bold"/>
                <a:sym typeface="Inter Bold"/>
              </a:rPr>
              <a:t>Inserción entre 2 nodos</a:t>
            </a:r>
          </a:p>
        </p:txBody>
      </p:sp>
      <p:sp>
        <p:nvSpPr>
          <p:cNvPr name="TextBox 11" id="11"/>
          <p:cNvSpPr txBox="true"/>
          <p:nvPr/>
        </p:nvSpPr>
        <p:spPr>
          <a:xfrm rot="0">
            <a:off x="1135964" y="3777785"/>
            <a:ext cx="813643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A partir de una </a:t>
            </a:r>
            <a:r>
              <a:rPr lang="en-US" b="true" sz="2100">
                <a:solidFill>
                  <a:srgbClr val="000000"/>
                </a:solidFill>
                <a:latin typeface="Inter Medium"/>
                <a:ea typeface="Inter Medium"/>
                <a:cs typeface="Inter Medium"/>
                <a:sym typeface="Inter Medium"/>
              </a:rPr>
              <a:t>lista enlazada circular con los elementos 1, 2 y 3.</a:t>
            </a:r>
          </a:p>
        </p:txBody>
      </p:sp>
      <p:sp>
        <p:nvSpPr>
          <p:cNvPr name="TextBox 12" id="12"/>
          <p:cNvSpPr txBox="true"/>
          <p:nvPr/>
        </p:nvSpPr>
        <p:spPr>
          <a:xfrm rot="0">
            <a:off x="1028700" y="6288280"/>
            <a:ext cx="3117056"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Lista en su estado inicial</a:t>
            </a:r>
          </a:p>
        </p:txBody>
      </p:sp>
      <p:sp>
        <p:nvSpPr>
          <p:cNvPr name="TextBox 13" id="13"/>
          <p:cNvSpPr txBox="true"/>
          <p:nvPr/>
        </p:nvSpPr>
        <p:spPr>
          <a:xfrm rot="0">
            <a:off x="11991449" y="3119510"/>
            <a:ext cx="487650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1) Crear el nuevo nodo, con valor de 6.</a:t>
            </a:r>
          </a:p>
        </p:txBody>
      </p:sp>
      <p:sp>
        <p:nvSpPr>
          <p:cNvPr name="TextBox 14" id="14"/>
          <p:cNvSpPr txBox="true"/>
          <p:nvPr/>
        </p:nvSpPr>
        <p:spPr>
          <a:xfrm rot="0">
            <a:off x="10271335" y="5253503"/>
            <a:ext cx="7226136" cy="3337560"/>
          </a:xfrm>
          <a:prstGeom prst="rect">
            <a:avLst/>
          </a:prstGeom>
        </p:spPr>
        <p:txBody>
          <a:bodyPr anchor="t" rtlCol="false" tIns="0" lIns="0" bIns="0" rIns="0">
            <a:spAutoFit/>
          </a:bodyPr>
          <a:lstStyle/>
          <a:p>
            <a:pPr algn="just">
              <a:lnSpc>
                <a:spcPts val="2940"/>
              </a:lnSpc>
              <a:spcBef>
                <a:spcPct val="0"/>
              </a:spcBef>
            </a:pPr>
            <a:r>
              <a:rPr lang="en-US" b="true" sz="2100">
                <a:solidFill>
                  <a:srgbClr val="000000"/>
                </a:solidFill>
                <a:latin typeface="Inter Medium"/>
                <a:ea typeface="Inter Medium"/>
                <a:cs typeface="Inter Medium"/>
                <a:sym typeface="Inter Medium"/>
              </a:rPr>
              <a:t>2) I</a:t>
            </a:r>
            <a:r>
              <a:rPr lang="en-US" b="true" sz="2100">
                <a:solidFill>
                  <a:srgbClr val="000000"/>
                </a:solidFill>
                <a:latin typeface="Inter Medium"/>
                <a:ea typeface="Inter Medium"/>
                <a:cs typeface="Inter Medium"/>
                <a:sym typeface="Inter Medium"/>
              </a:rPr>
              <a:t>nsertemos newNode después del primer nodo.</a:t>
            </a:r>
          </a:p>
          <a:p>
            <a:pPr algn="just">
              <a:lnSpc>
                <a:spcPts val="2940"/>
              </a:lnSpc>
              <a:spcBef>
                <a:spcPct val="0"/>
              </a:spcBef>
            </a:pPr>
          </a:p>
          <a:p>
            <a:pPr algn="just">
              <a:lnSpc>
                <a:spcPts val="2940"/>
              </a:lnSpc>
              <a:spcBef>
                <a:spcPct val="0"/>
              </a:spcBef>
            </a:pPr>
            <a:r>
              <a:rPr lang="en-US" b="true" sz="2100">
                <a:solidFill>
                  <a:srgbClr val="000000"/>
                </a:solidFill>
                <a:latin typeface="Inter Medium"/>
                <a:ea typeface="Inter Medium"/>
                <a:cs typeface="Inter Medium"/>
                <a:sym typeface="Inter Medium"/>
              </a:rPr>
              <a:t>3) viajar al nodo dado (deje que este nodo sea p)</a:t>
            </a:r>
          </a:p>
          <a:p>
            <a:pPr algn="just">
              <a:lnSpc>
                <a:spcPts val="2940"/>
              </a:lnSpc>
              <a:spcBef>
                <a:spcPct val="0"/>
              </a:spcBef>
            </a:pPr>
          </a:p>
          <a:p>
            <a:pPr algn="just">
              <a:lnSpc>
                <a:spcPts val="2940"/>
              </a:lnSpc>
              <a:spcBef>
                <a:spcPct val="0"/>
              </a:spcBef>
            </a:pPr>
            <a:r>
              <a:rPr lang="en-US" b="true" sz="2100">
                <a:solidFill>
                  <a:srgbClr val="000000"/>
                </a:solidFill>
                <a:latin typeface="Inter Medium"/>
                <a:ea typeface="Inter Medium"/>
                <a:cs typeface="Inter Medium"/>
                <a:sym typeface="Inter Medium"/>
              </a:rPr>
              <a:t>4) punto el next de newNode al nodo al lado de p</a:t>
            </a:r>
          </a:p>
          <a:p>
            <a:pPr algn="just">
              <a:lnSpc>
                <a:spcPts val="2940"/>
              </a:lnSpc>
              <a:spcBef>
                <a:spcPct val="0"/>
              </a:spcBef>
            </a:pPr>
          </a:p>
          <a:p>
            <a:pPr algn="just">
              <a:lnSpc>
                <a:spcPts val="2940"/>
              </a:lnSpc>
              <a:spcBef>
                <a:spcPct val="0"/>
              </a:spcBef>
            </a:pPr>
            <a:r>
              <a:rPr lang="en-US" b="true" sz="2100">
                <a:solidFill>
                  <a:srgbClr val="000000"/>
                </a:solidFill>
                <a:latin typeface="Inter Medium"/>
                <a:ea typeface="Inter Medium"/>
                <a:cs typeface="Inter Medium"/>
                <a:sym typeface="Inter Medium"/>
              </a:rPr>
              <a:t>5) almacenar la dirección de newNode at next de p</a:t>
            </a:r>
          </a:p>
          <a:p>
            <a:pPr algn="just">
              <a:lnSpc>
                <a:spcPts val="2940"/>
              </a:lnSpc>
              <a:spcBef>
                <a:spcPct val="0"/>
              </a:spcBef>
            </a:pPr>
          </a:p>
          <a:p>
            <a:pPr algn="just">
              <a:lnSpc>
                <a:spcPts val="294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4418005"/>
            <a:ext cx="8036455" cy="1766245"/>
            <a:chOff x="0" y="0"/>
            <a:chExt cx="940884" cy="206787"/>
          </a:xfrm>
        </p:grpSpPr>
        <p:sp>
          <p:nvSpPr>
            <p:cNvPr name="Freeform 3" id="3"/>
            <p:cNvSpPr/>
            <p:nvPr/>
          </p:nvSpPr>
          <p:spPr>
            <a:xfrm flipH="false" flipV="false" rot="0">
              <a:off x="0" y="0"/>
              <a:ext cx="940884" cy="206787"/>
            </a:xfrm>
            <a:custGeom>
              <a:avLst/>
              <a:gdLst/>
              <a:ahLst/>
              <a:cxnLst/>
              <a:rect r="r" b="b" t="t" l="l"/>
              <a:pathLst>
                <a:path h="206787" w="940884">
                  <a:moveTo>
                    <a:pt x="0" y="0"/>
                  </a:moveTo>
                  <a:lnTo>
                    <a:pt x="940884" y="0"/>
                  </a:lnTo>
                  <a:lnTo>
                    <a:pt x="940884" y="206787"/>
                  </a:lnTo>
                  <a:lnTo>
                    <a:pt x="0" y="206787"/>
                  </a:lnTo>
                  <a:close/>
                </a:path>
              </a:pathLst>
            </a:custGeom>
            <a:blipFill>
              <a:blip r:embed="rId2"/>
              <a:stretch>
                <a:fillRect l="0" t="-6306" r="0" b="-6306"/>
              </a:stretch>
            </a:blipFill>
            <a:ln w="38100" cap="sq">
              <a:solidFill>
                <a:srgbClr val="000000"/>
              </a:solidFill>
              <a:prstDash val="solid"/>
              <a:miter/>
            </a:ln>
          </p:spPr>
        </p:sp>
      </p:grpSp>
      <p:grpSp>
        <p:nvGrpSpPr>
          <p:cNvPr name="Group 4" id="4"/>
          <p:cNvGrpSpPr/>
          <p:nvPr/>
        </p:nvGrpSpPr>
        <p:grpSpPr>
          <a:xfrm rot="0">
            <a:off x="725756" y="6884418"/>
            <a:ext cx="9545580" cy="3019471"/>
            <a:chOff x="0" y="0"/>
            <a:chExt cx="1307447" cy="413573"/>
          </a:xfrm>
        </p:grpSpPr>
        <p:sp>
          <p:nvSpPr>
            <p:cNvPr name="Freeform 5" id="5"/>
            <p:cNvSpPr/>
            <p:nvPr/>
          </p:nvSpPr>
          <p:spPr>
            <a:xfrm flipH="false" flipV="false" rot="0">
              <a:off x="0" y="0"/>
              <a:ext cx="1307447" cy="413573"/>
            </a:xfrm>
            <a:custGeom>
              <a:avLst/>
              <a:gdLst/>
              <a:ahLst/>
              <a:cxnLst/>
              <a:rect r="r" b="b" t="t" l="l"/>
              <a:pathLst>
                <a:path h="413573" w="1307447">
                  <a:moveTo>
                    <a:pt x="0" y="0"/>
                  </a:moveTo>
                  <a:lnTo>
                    <a:pt x="1307447" y="0"/>
                  </a:lnTo>
                  <a:lnTo>
                    <a:pt x="1307447" y="413573"/>
                  </a:lnTo>
                  <a:lnTo>
                    <a:pt x="0" y="413573"/>
                  </a:lnTo>
                  <a:close/>
                </a:path>
              </a:pathLst>
            </a:custGeom>
            <a:blipFill>
              <a:blip r:embed="rId3"/>
              <a:stretch>
                <a:fillRect l="-3841" t="0" r="-3841" b="0"/>
              </a:stretch>
            </a:blipFill>
            <a:ln w="38100" cap="sq">
              <a:solidFill>
                <a:srgbClr val="000000"/>
              </a:solidFill>
              <a:prstDash val="solid"/>
              <a:miter/>
            </a:ln>
          </p:spPr>
        </p:sp>
      </p:grpSp>
      <p:sp>
        <p:nvSpPr>
          <p:cNvPr name="Freeform 6" id="6"/>
          <p:cNvSpPr/>
          <p:nvPr/>
        </p:nvSpPr>
        <p:spPr>
          <a:xfrm flipH="false" flipV="false" rot="678324">
            <a:off x="492658" y="7105268"/>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48068" y="3746428"/>
            <a:ext cx="498808" cy="849363"/>
          </a:xfrm>
          <a:custGeom>
            <a:avLst/>
            <a:gdLst/>
            <a:ahLst/>
            <a:cxnLst/>
            <a:rect r="r" b="b" t="t" l="l"/>
            <a:pathLst>
              <a:path h="849363" w="498808">
                <a:moveTo>
                  <a:pt x="0" y="0"/>
                </a:moveTo>
                <a:lnTo>
                  <a:pt x="498808" y="0"/>
                </a:lnTo>
                <a:lnTo>
                  <a:pt x="498808" y="849364"/>
                </a:lnTo>
                <a:lnTo>
                  <a:pt x="0" y="8493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226236" y="3120961"/>
            <a:ext cx="3033064" cy="2336697"/>
          </a:xfrm>
          <a:custGeom>
            <a:avLst/>
            <a:gdLst/>
            <a:ahLst/>
            <a:cxnLst/>
            <a:rect r="r" b="b" t="t" l="l"/>
            <a:pathLst>
              <a:path h="2336697" w="3033064">
                <a:moveTo>
                  <a:pt x="0" y="0"/>
                </a:moveTo>
                <a:lnTo>
                  <a:pt x="3033064" y="0"/>
                </a:lnTo>
                <a:lnTo>
                  <a:pt x="3033064" y="2336697"/>
                </a:lnTo>
                <a:lnTo>
                  <a:pt x="0" y="2336697"/>
                </a:lnTo>
                <a:lnTo>
                  <a:pt x="0" y="0"/>
                </a:lnTo>
                <a:close/>
              </a:path>
            </a:pathLst>
          </a:custGeom>
          <a:blipFill>
            <a:blip r:embed="rId8"/>
            <a:stretch>
              <a:fillRect l="0" t="0" r="0" b="0"/>
            </a:stretch>
          </a:blipFill>
        </p:spPr>
      </p:sp>
      <p:sp>
        <p:nvSpPr>
          <p:cNvPr name="TextBox 9" id="9"/>
          <p:cNvSpPr txBox="true"/>
          <p:nvPr/>
        </p:nvSpPr>
        <p:spPr>
          <a:xfrm rot="0">
            <a:off x="1028700" y="898863"/>
            <a:ext cx="7811924" cy="3696929"/>
          </a:xfrm>
          <a:prstGeom prst="rect">
            <a:avLst/>
          </a:prstGeom>
        </p:spPr>
        <p:txBody>
          <a:bodyPr anchor="t" rtlCol="false" tIns="0" lIns="0" bIns="0" rIns="0">
            <a:spAutoFit/>
          </a:bodyPr>
          <a:lstStyle/>
          <a:p>
            <a:pPr algn="l">
              <a:lnSpc>
                <a:spcPts val="9703"/>
              </a:lnSpc>
            </a:pPr>
            <a:r>
              <a:rPr lang="en-US" sz="8086">
                <a:solidFill>
                  <a:srgbClr val="000000"/>
                </a:solidFill>
                <a:latin typeface="Anton"/>
                <a:ea typeface="Anton"/>
                <a:cs typeface="Anton"/>
                <a:sym typeface="Anton"/>
              </a:rPr>
              <a:t>OPERACIONES BÁSICAS</a:t>
            </a:r>
          </a:p>
          <a:p>
            <a:pPr algn="l">
              <a:lnSpc>
                <a:spcPts val="9703"/>
              </a:lnSpc>
            </a:pPr>
          </a:p>
        </p:txBody>
      </p:sp>
      <p:sp>
        <p:nvSpPr>
          <p:cNvPr name="TextBox 10" id="10"/>
          <p:cNvSpPr txBox="true"/>
          <p:nvPr/>
        </p:nvSpPr>
        <p:spPr>
          <a:xfrm rot="0">
            <a:off x="9679415" y="1608844"/>
            <a:ext cx="6218475" cy="1243965"/>
          </a:xfrm>
          <a:prstGeom prst="rect">
            <a:avLst/>
          </a:prstGeom>
        </p:spPr>
        <p:txBody>
          <a:bodyPr anchor="t" rtlCol="false" tIns="0" lIns="0" bIns="0" rIns="0">
            <a:spAutoFit/>
          </a:bodyPr>
          <a:lstStyle/>
          <a:p>
            <a:pPr algn="l">
              <a:lnSpc>
                <a:spcPts val="3359"/>
              </a:lnSpc>
            </a:pPr>
            <a:r>
              <a:rPr lang="en-US" sz="2399" b="true">
                <a:solidFill>
                  <a:srgbClr val="000000"/>
                </a:solidFill>
                <a:latin typeface="Inter Bold"/>
                <a:ea typeface="Inter Bold"/>
                <a:cs typeface="Inter Bold"/>
                <a:sym typeface="Inter Bold"/>
              </a:rPr>
              <a:t>1) In</a:t>
            </a:r>
            <a:r>
              <a:rPr lang="en-US" b="true" sz="2399">
                <a:solidFill>
                  <a:srgbClr val="000000"/>
                </a:solidFill>
                <a:latin typeface="Inter Bold"/>
                <a:ea typeface="Inter Bold"/>
                <a:cs typeface="Inter Bold"/>
                <a:sym typeface="Inter Bold"/>
              </a:rPr>
              <a:t>serción en una lista enlazada circular</a:t>
            </a:r>
          </a:p>
          <a:p>
            <a:pPr algn="l">
              <a:lnSpc>
                <a:spcPts val="3359"/>
              </a:lnSpc>
            </a:pPr>
          </a:p>
          <a:p>
            <a:pPr algn="r">
              <a:lnSpc>
                <a:spcPts val="3359"/>
              </a:lnSpc>
            </a:pPr>
            <a:r>
              <a:rPr lang="en-US" b="true" sz="2399">
                <a:solidFill>
                  <a:srgbClr val="FF3131"/>
                </a:solidFill>
                <a:latin typeface="Inter Bold"/>
                <a:ea typeface="Inter Bold"/>
                <a:cs typeface="Inter Bold"/>
                <a:sym typeface="Inter Bold"/>
              </a:rPr>
              <a:t>Inserción al final</a:t>
            </a:r>
          </a:p>
        </p:txBody>
      </p:sp>
      <p:sp>
        <p:nvSpPr>
          <p:cNvPr name="TextBox 11" id="11"/>
          <p:cNvSpPr txBox="true"/>
          <p:nvPr/>
        </p:nvSpPr>
        <p:spPr>
          <a:xfrm rot="0">
            <a:off x="1135964" y="3777785"/>
            <a:ext cx="813643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A partir de una </a:t>
            </a:r>
            <a:r>
              <a:rPr lang="en-US" b="true" sz="2100">
                <a:solidFill>
                  <a:srgbClr val="000000"/>
                </a:solidFill>
                <a:latin typeface="Inter Medium"/>
                <a:ea typeface="Inter Medium"/>
                <a:cs typeface="Inter Medium"/>
                <a:sym typeface="Inter Medium"/>
              </a:rPr>
              <a:t>lista enlazada circular con los elementos 1, 2 y 3.</a:t>
            </a:r>
          </a:p>
        </p:txBody>
      </p:sp>
      <p:sp>
        <p:nvSpPr>
          <p:cNvPr name="TextBox 12" id="12"/>
          <p:cNvSpPr txBox="true"/>
          <p:nvPr/>
        </p:nvSpPr>
        <p:spPr>
          <a:xfrm rot="0">
            <a:off x="1028700" y="6288280"/>
            <a:ext cx="3117056"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Lista en su estado inicial</a:t>
            </a:r>
          </a:p>
        </p:txBody>
      </p:sp>
      <p:sp>
        <p:nvSpPr>
          <p:cNvPr name="TextBox 13" id="13"/>
          <p:cNvSpPr txBox="true"/>
          <p:nvPr/>
        </p:nvSpPr>
        <p:spPr>
          <a:xfrm rot="0">
            <a:off x="11991449" y="3119510"/>
            <a:ext cx="487650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1) Crear el nuevo nodo, con valor de 6.</a:t>
            </a:r>
          </a:p>
        </p:txBody>
      </p:sp>
      <p:sp>
        <p:nvSpPr>
          <p:cNvPr name="TextBox 14" id="14"/>
          <p:cNvSpPr txBox="true"/>
          <p:nvPr/>
        </p:nvSpPr>
        <p:spPr>
          <a:xfrm rot="0">
            <a:off x="11106634" y="5346860"/>
            <a:ext cx="6646132" cy="3337560"/>
          </a:xfrm>
          <a:prstGeom prst="rect">
            <a:avLst/>
          </a:prstGeom>
        </p:spPr>
        <p:txBody>
          <a:bodyPr anchor="t" rtlCol="false" tIns="0" lIns="0" bIns="0" rIns="0">
            <a:spAutoFit/>
          </a:bodyPr>
          <a:lstStyle/>
          <a:p>
            <a:pPr algn="just">
              <a:lnSpc>
                <a:spcPts val="2940"/>
              </a:lnSpc>
              <a:spcBef>
                <a:spcPct val="0"/>
              </a:spcBef>
            </a:pPr>
            <a:r>
              <a:rPr lang="en-US" b="true" sz="2100">
                <a:solidFill>
                  <a:srgbClr val="000000"/>
                </a:solidFill>
                <a:latin typeface="Inter Medium"/>
                <a:ea typeface="Inter Medium"/>
                <a:cs typeface="Inter Medium"/>
                <a:sym typeface="Inter Medium"/>
              </a:rPr>
              <a:t>2) almace</a:t>
            </a:r>
            <a:r>
              <a:rPr lang="en-US" b="true" sz="2100">
                <a:solidFill>
                  <a:srgbClr val="000000"/>
                </a:solidFill>
                <a:latin typeface="Inter Medium"/>
                <a:ea typeface="Inter Medium"/>
                <a:cs typeface="Inter Medium"/>
                <a:sym typeface="Inter Medium"/>
              </a:rPr>
              <a:t>ne la dirección del nodo principal en next de newNode (creación newNode el último nodo)</a:t>
            </a:r>
          </a:p>
          <a:p>
            <a:pPr algn="just">
              <a:lnSpc>
                <a:spcPts val="2940"/>
              </a:lnSpc>
              <a:spcBef>
                <a:spcPct val="0"/>
              </a:spcBef>
            </a:pPr>
          </a:p>
          <a:p>
            <a:pPr algn="just">
              <a:lnSpc>
                <a:spcPts val="2940"/>
              </a:lnSpc>
              <a:spcBef>
                <a:spcPct val="0"/>
              </a:spcBef>
            </a:pPr>
            <a:r>
              <a:rPr lang="en-US" b="true" sz="2100">
                <a:solidFill>
                  <a:srgbClr val="000000"/>
                </a:solidFill>
                <a:latin typeface="Inter Medium"/>
                <a:ea typeface="Inter Medium"/>
                <a:cs typeface="Inter Medium"/>
                <a:sym typeface="Inter Medium"/>
              </a:rPr>
              <a:t>3) apunte el último nodo actual a newNode</a:t>
            </a:r>
          </a:p>
          <a:p>
            <a:pPr algn="just">
              <a:lnSpc>
                <a:spcPts val="2940"/>
              </a:lnSpc>
              <a:spcBef>
                <a:spcPct val="0"/>
              </a:spcBef>
            </a:pPr>
          </a:p>
          <a:p>
            <a:pPr algn="just">
              <a:lnSpc>
                <a:spcPts val="2940"/>
              </a:lnSpc>
              <a:spcBef>
                <a:spcPct val="0"/>
              </a:spcBef>
            </a:pPr>
            <a:r>
              <a:rPr lang="en-US" b="true" sz="2100">
                <a:solidFill>
                  <a:srgbClr val="000000"/>
                </a:solidFill>
                <a:latin typeface="Inter Medium"/>
                <a:ea typeface="Inter Medium"/>
                <a:cs typeface="Inter Medium"/>
                <a:sym typeface="Inter Medium"/>
              </a:rPr>
              <a:t>4) hacer newNode como el último nodo</a:t>
            </a:r>
          </a:p>
          <a:p>
            <a:pPr algn="just">
              <a:lnSpc>
                <a:spcPts val="2940"/>
              </a:lnSpc>
              <a:spcBef>
                <a:spcPct val="0"/>
              </a:spcBef>
            </a:pPr>
          </a:p>
          <a:p>
            <a:pPr algn="just">
              <a:lnSpc>
                <a:spcPts val="2940"/>
              </a:lnSpc>
              <a:spcBef>
                <a:spcPct val="0"/>
              </a:spcBef>
            </a:pPr>
          </a:p>
          <a:p>
            <a:pPr algn="just">
              <a:lnSpc>
                <a:spcPts val="294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4418005"/>
            <a:ext cx="8036455" cy="1766245"/>
            <a:chOff x="0" y="0"/>
            <a:chExt cx="940884" cy="206787"/>
          </a:xfrm>
        </p:grpSpPr>
        <p:sp>
          <p:nvSpPr>
            <p:cNvPr name="Freeform 3" id="3"/>
            <p:cNvSpPr/>
            <p:nvPr/>
          </p:nvSpPr>
          <p:spPr>
            <a:xfrm flipH="false" flipV="false" rot="0">
              <a:off x="0" y="0"/>
              <a:ext cx="940884" cy="206787"/>
            </a:xfrm>
            <a:custGeom>
              <a:avLst/>
              <a:gdLst/>
              <a:ahLst/>
              <a:cxnLst/>
              <a:rect r="r" b="b" t="t" l="l"/>
              <a:pathLst>
                <a:path h="206787" w="940884">
                  <a:moveTo>
                    <a:pt x="0" y="0"/>
                  </a:moveTo>
                  <a:lnTo>
                    <a:pt x="940884" y="0"/>
                  </a:lnTo>
                  <a:lnTo>
                    <a:pt x="940884" y="206787"/>
                  </a:lnTo>
                  <a:lnTo>
                    <a:pt x="0" y="206787"/>
                  </a:lnTo>
                  <a:close/>
                </a:path>
              </a:pathLst>
            </a:custGeom>
            <a:blipFill>
              <a:blip r:embed="rId2"/>
              <a:stretch>
                <a:fillRect l="0" t="-6306" r="0" b="-6306"/>
              </a:stretch>
            </a:blipFill>
            <a:ln w="38100" cap="sq">
              <a:solidFill>
                <a:srgbClr val="000000"/>
              </a:solidFill>
              <a:prstDash val="solid"/>
              <a:miter/>
            </a:ln>
          </p:spPr>
        </p:sp>
      </p:grpSp>
      <p:grpSp>
        <p:nvGrpSpPr>
          <p:cNvPr name="Group 4" id="4"/>
          <p:cNvGrpSpPr/>
          <p:nvPr/>
        </p:nvGrpSpPr>
        <p:grpSpPr>
          <a:xfrm rot="0">
            <a:off x="725756" y="6884418"/>
            <a:ext cx="9545580" cy="3019471"/>
            <a:chOff x="0" y="0"/>
            <a:chExt cx="1307447" cy="413573"/>
          </a:xfrm>
        </p:grpSpPr>
        <p:sp>
          <p:nvSpPr>
            <p:cNvPr name="Freeform 5" id="5"/>
            <p:cNvSpPr/>
            <p:nvPr/>
          </p:nvSpPr>
          <p:spPr>
            <a:xfrm flipH="false" flipV="false" rot="0">
              <a:off x="0" y="0"/>
              <a:ext cx="1307447" cy="413573"/>
            </a:xfrm>
            <a:custGeom>
              <a:avLst/>
              <a:gdLst/>
              <a:ahLst/>
              <a:cxnLst/>
              <a:rect r="r" b="b" t="t" l="l"/>
              <a:pathLst>
                <a:path h="413573" w="1307447">
                  <a:moveTo>
                    <a:pt x="0" y="0"/>
                  </a:moveTo>
                  <a:lnTo>
                    <a:pt x="1307447" y="0"/>
                  </a:lnTo>
                  <a:lnTo>
                    <a:pt x="1307447" y="413573"/>
                  </a:lnTo>
                  <a:lnTo>
                    <a:pt x="0" y="413573"/>
                  </a:lnTo>
                  <a:close/>
                </a:path>
              </a:pathLst>
            </a:custGeom>
            <a:blipFill>
              <a:blip r:embed="rId3"/>
              <a:stretch>
                <a:fillRect l="0" t="-4533" r="0" b="-4533"/>
              </a:stretch>
            </a:blipFill>
            <a:ln w="38100" cap="sq">
              <a:solidFill>
                <a:srgbClr val="000000"/>
              </a:solidFill>
              <a:prstDash val="solid"/>
              <a:miter/>
            </a:ln>
          </p:spPr>
        </p:sp>
      </p:grpSp>
      <p:sp>
        <p:nvSpPr>
          <p:cNvPr name="Freeform 6" id="6"/>
          <p:cNvSpPr/>
          <p:nvPr/>
        </p:nvSpPr>
        <p:spPr>
          <a:xfrm flipH="false" flipV="false" rot="678324">
            <a:off x="492658" y="7105268"/>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48068" y="3746428"/>
            <a:ext cx="498808" cy="849363"/>
          </a:xfrm>
          <a:custGeom>
            <a:avLst/>
            <a:gdLst/>
            <a:ahLst/>
            <a:cxnLst/>
            <a:rect r="r" b="b" t="t" l="l"/>
            <a:pathLst>
              <a:path h="849363" w="498808">
                <a:moveTo>
                  <a:pt x="0" y="0"/>
                </a:moveTo>
                <a:lnTo>
                  <a:pt x="498808" y="0"/>
                </a:lnTo>
                <a:lnTo>
                  <a:pt x="498808" y="849364"/>
                </a:lnTo>
                <a:lnTo>
                  <a:pt x="0" y="8493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28700" y="898863"/>
            <a:ext cx="7811924" cy="3696929"/>
          </a:xfrm>
          <a:prstGeom prst="rect">
            <a:avLst/>
          </a:prstGeom>
        </p:spPr>
        <p:txBody>
          <a:bodyPr anchor="t" rtlCol="false" tIns="0" lIns="0" bIns="0" rIns="0">
            <a:spAutoFit/>
          </a:bodyPr>
          <a:lstStyle/>
          <a:p>
            <a:pPr algn="l">
              <a:lnSpc>
                <a:spcPts val="9703"/>
              </a:lnSpc>
            </a:pPr>
            <a:r>
              <a:rPr lang="en-US" sz="8086">
                <a:solidFill>
                  <a:srgbClr val="000000"/>
                </a:solidFill>
                <a:latin typeface="Anton"/>
                <a:ea typeface="Anton"/>
                <a:cs typeface="Anton"/>
                <a:sym typeface="Anton"/>
              </a:rPr>
              <a:t>OPERACIONES BÁSICAS</a:t>
            </a:r>
          </a:p>
          <a:p>
            <a:pPr algn="l">
              <a:lnSpc>
                <a:spcPts val="9703"/>
              </a:lnSpc>
            </a:pPr>
          </a:p>
        </p:txBody>
      </p:sp>
      <p:sp>
        <p:nvSpPr>
          <p:cNvPr name="TextBox 9" id="9"/>
          <p:cNvSpPr txBox="true"/>
          <p:nvPr/>
        </p:nvSpPr>
        <p:spPr>
          <a:xfrm rot="0">
            <a:off x="9679415" y="1608844"/>
            <a:ext cx="6893564" cy="2082165"/>
          </a:xfrm>
          <a:prstGeom prst="rect">
            <a:avLst/>
          </a:prstGeom>
        </p:spPr>
        <p:txBody>
          <a:bodyPr anchor="t" rtlCol="false" tIns="0" lIns="0" bIns="0" rIns="0">
            <a:spAutoFit/>
          </a:bodyPr>
          <a:lstStyle/>
          <a:p>
            <a:pPr algn="l">
              <a:lnSpc>
                <a:spcPts val="3359"/>
              </a:lnSpc>
            </a:pPr>
            <a:r>
              <a:rPr lang="en-US" sz="2399" b="true">
                <a:solidFill>
                  <a:srgbClr val="000000"/>
                </a:solidFill>
                <a:latin typeface="Inter Bold"/>
                <a:ea typeface="Inter Bold"/>
                <a:cs typeface="Inter Bold"/>
                <a:sym typeface="Inter Bold"/>
              </a:rPr>
              <a:t>2) Eliminación</a:t>
            </a:r>
            <a:r>
              <a:rPr lang="en-US" b="true" sz="2399">
                <a:solidFill>
                  <a:srgbClr val="000000"/>
                </a:solidFill>
                <a:latin typeface="Inter Bold"/>
                <a:ea typeface="Inter Bold"/>
                <a:cs typeface="Inter Bold"/>
                <a:sym typeface="Inter Bold"/>
              </a:rPr>
              <a:t> en una lista enlazada circular</a:t>
            </a:r>
          </a:p>
          <a:p>
            <a:pPr algn="l">
              <a:lnSpc>
                <a:spcPts val="3359"/>
              </a:lnSpc>
            </a:pPr>
          </a:p>
          <a:p>
            <a:pPr algn="r">
              <a:lnSpc>
                <a:spcPts val="3359"/>
              </a:lnSpc>
            </a:pPr>
            <a:r>
              <a:rPr lang="en-US" b="true" sz="2399">
                <a:solidFill>
                  <a:srgbClr val="FF3131"/>
                </a:solidFill>
                <a:latin typeface="Inter Bold"/>
                <a:ea typeface="Inter Bold"/>
                <a:cs typeface="Inter Bold"/>
                <a:sym typeface="Inter Bold"/>
              </a:rPr>
              <a:t>1. Si el </a:t>
            </a:r>
            <a:r>
              <a:rPr lang="en-US" b="true" sz="2399">
                <a:solidFill>
                  <a:srgbClr val="FF3131"/>
                </a:solidFill>
                <a:latin typeface="Inter Bold"/>
                <a:ea typeface="Inter Bold"/>
                <a:cs typeface="Inter Bold"/>
                <a:sym typeface="Inter Bold"/>
              </a:rPr>
              <a:t>nodo a eliminar es el único nodo</a:t>
            </a:r>
          </a:p>
          <a:p>
            <a:pPr algn="r">
              <a:lnSpc>
                <a:spcPts val="3359"/>
              </a:lnSpc>
            </a:pPr>
          </a:p>
          <a:p>
            <a:pPr algn="r">
              <a:lnSpc>
                <a:spcPts val="3359"/>
              </a:lnSpc>
            </a:pPr>
          </a:p>
        </p:txBody>
      </p:sp>
      <p:sp>
        <p:nvSpPr>
          <p:cNvPr name="TextBox 10" id="10"/>
          <p:cNvSpPr txBox="true"/>
          <p:nvPr/>
        </p:nvSpPr>
        <p:spPr>
          <a:xfrm rot="0">
            <a:off x="1135964" y="3777785"/>
            <a:ext cx="813643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A partir de una </a:t>
            </a:r>
            <a:r>
              <a:rPr lang="en-US" b="true" sz="2100">
                <a:solidFill>
                  <a:srgbClr val="000000"/>
                </a:solidFill>
                <a:latin typeface="Inter Medium"/>
                <a:ea typeface="Inter Medium"/>
                <a:cs typeface="Inter Medium"/>
                <a:sym typeface="Inter Medium"/>
              </a:rPr>
              <a:t>lista enlazada circular con los elementos 1, 2 y 3.</a:t>
            </a:r>
          </a:p>
        </p:txBody>
      </p:sp>
      <p:sp>
        <p:nvSpPr>
          <p:cNvPr name="TextBox 11" id="11"/>
          <p:cNvSpPr txBox="true"/>
          <p:nvPr/>
        </p:nvSpPr>
        <p:spPr>
          <a:xfrm rot="0">
            <a:off x="1028700" y="6288280"/>
            <a:ext cx="3117056"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Lista en su estado inicial</a:t>
            </a:r>
          </a:p>
        </p:txBody>
      </p:sp>
      <p:sp>
        <p:nvSpPr>
          <p:cNvPr name="TextBox 12" id="12"/>
          <p:cNvSpPr txBox="true"/>
          <p:nvPr/>
        </p:nvSpPr>
        <p:spPr>
          <a:xfrm rot="0">
            <a:off x="11719466" y="3119510"/>
            <a:ext cx="5420469" cy="737235"/>
          </a:xfrm>
          <a:prstGeom prst="rect">
            <a:avLst/>
          </a:prstGeom>
        </p:spPr>
        <p:txBody>
          <a:bodyPr anchor="t" rtlCol="false" tIns="0" lIns="0" bIns="0" rIns="0">
            <a:spAutoFit/>
          </a:bodyPr>
          <a:lstStyle/>
          <a:p>
            <a:pPr algn="l" marL="453390" indent="-226695" lvl="1">
              <a:lnSpc>
                <a:spcPts val="2940"/>
              </a:lnSpc>
              <a:buAutoNum type="arabicPeriod" startAt="1"/>
            </a:pPr>
            <a:r>
              <a:rPr lang="en-US" b="true" sz="2100">
                <a:solidFill>
                  <a:srgbClr val="000000"/>
                </a:solidFill>
                <a:latin typeface="Inter Medium"/>
                <a:ea typeface="Inter Medium"/>
                <a:cs typeface="Inter Medium"/>
                <a:sym typeface="Inter Medium"/>
              </a:rPr>
              <a:t>liberar la memoria ocupada por el nodo</a:t>
            </a:r>
          </a:p>
          <a:p>
            <a:pPr algn="l" marL="453390" indent="-226695" lvl="1">
              <a:lnSpc>
                <a:spcPts val="2940"/>
              </a:lnSpc>
              <a:buAutoNum type="arabicPeriod" startAt="1"/>
            </a:pPr>
            <a:r>
              <a:rPr lang="en-US" b="true" sz="2100">
                <a:solidFill>
                  <a:srgbClr val="000000"/>
                </a:solidFill>
                <a:latin typeface="Inter Medium"/>
                <a:ea typeface="Inter Medium"/>
                <a:cs typeface="Inter Medium"/>
                <a:sym typeface="Inter Medium"/>
              </a:rPr>
              <a:t>almacenar NULL en last</a:t>
            </a:r>
          </a:p>
        </p:txBody>
      </p:sp>
      <p:sp>
        <p:nvSpPr>
          <p:cNvPr name="TextBox 13" id="13"/>
          <p:cNvSpPr txBox="true"/>
          <p:nvPr/>
        </p:nvSpPr>
        <p:spPr>
          <a:xfrm rot="0">
            <a:off x="11287261" y="5985820"/>
            <a:ext cx="5652684" cy="2594610"/>
          </a:xfrm>
          <a:prstGeom prst="rect">
            <a:avLst/>
          </a:prstGeom>
        </p:spPr>
        <p:txBody>
          <a:bodyPr anchor="t" rtlCol="false" tIns="0" lIns="0" bIns="0" rIns="0">
            <a:spAutoFit/>
          </a:bodyPr>
          <a:lstStyle/>
          <a:p>
            <a:pPr algn="just" marL="453390" indent="-226695" lvl="1">
              <a:lnSpc>
                <a:spcPts val="2940"/>
              </a:lnSpc>
              <a:buAutoNum type="arabicPeriod" startAt="1"/>
            </a:pPr>
            <a:r>
              <a:rPr lang="en-US" b="true" sz="2100">
                <a:solidFill>
                  <a:srgbClr val="000000"/>
                </a:solidFill>
                <a:latin typeface="Inter Medium"/>
                <a:ea typeface="Inter Medium"/>
                <a:cs typeface="Inter Medium"/>
                <a:sym typeface="Inter Medium"/>
              </a:rPr>
              <a:t>Encue</a:t>
            </a:r>
            <a:r>
              <a:rPr lang="en-US" b="true" sz="2100">
                <a:solidFill>
                  <a:srgbClr val="000000"/>
                </a:solidFill>
                <a:latin typeface="Inter Medium"/>
                <a:ea typeface="Inter Medium"/>
                <a:cs typeface="Inter Medium"/>
                <a:sym typeface="Inter Medium"/>
              </a:rPr>
              <a:t>ntra el nodo antes del último nodo (déjalo ser temp)</a:t>
            </a:r>
          </a:p>
          <a:p>
            <a:pPr algn="just" marL="453390" indent="-226695" lvl="1">
              <a:lnSpc>
                <a:spcPts val="2940"/>
              </a:lnSpc>
              <a:buAutoNum type="arabicPeriod" startAt="1"/>
            </a:pPr>
            <a:r>
              <a:rPr lang="en-US" b="true" sz="2100">
                <a:solidFill>
                  <a:srgbClr val="000000"/>
                </a:solidFill>
                <a:latin typeface="Inter Medium"/>
                <a:ea typeface="Inter Medium"/>
                <a:cs typeface="Inter Medium"/>
                <a:sym typeface="Inter Medium"/>
              </a:rPr>
              <a:t>almacene la dirección del nodo junto al último nodo en temp</a:t>
            </a:r>
          </a:p>
          <a:p>
            <a:pPr algn="just" marL="453390" indent="-226695" lvl="1">
              <a:lnSpc>
                <a:spcPts val="2940"/>
              </a:lnSpc>
              <a:buAutoNum type="arabicPeriod" startAt="1"/>
            </a:pPr>
            <a:r>
              <a:rPr lang="en-US" b="true" sz="2100">
                <a:solidFill>
                  <a:srgbClr val="000000"/>
                </a:solidFill>
                <a:latin typeface="Inter Medium"/>
                <a:ea typeface="Inter Medium"/>
                <a:cs typeface="Inter Medium"/>
                <a:sym typeface="Inter Medium"/>
              </a:rPr>
              <a:t>libera la memoria del último</a:t>
            </a:r>
          </a:p>
          <a:p>
            <a:pPr algn="just" marL="453390" indent="-226695" lvl="1">
              <a:lnSpc>
                <a:spcPts val="2940"/>
              </a:lnSpc>
              <a:buAutoNum type="arabicPeriod" startAt="1"/>
            </a:pPr>
            <a:r>
              <a:rPr lang="en-US" b="true" sz="2100">
                <a:solidFill>
                  <a:srgbClr val="000000"/>
                </a:solidFill>
                <a:latin typeface="Inter Medium"/>
                <a:ea typeface="Inter Medium"/>
                <a:cs typeface="Inter Medium"/>
                <a:sym typeface="Inter Medium"/>
              </a:rPr>
              <a:t>hacer temp como el último nodo</a:t>
            </a:r>
          </a:p>
          <a:p>
            <a:pPr algn="just">
              <a:lnSpc>
                <a:spcPts val="2940"/>
              </a:lnSpc>
              <a:spcBef>
                <a:spcPct val="0"/>
              </a:spcBef>
            </a:pPr>
          </a:p>
        </p:txBody>
      </p:sp>
      <p:sp>
        <p:nvSpPr>
          <p:cNvPr name="TextBox 14" id="14"/>
          <p:cNvSpPr txBox="true"/>
          <p:nvPr/>
        </p:nvSpPr>
        <p:spPr>
          <a:xfrm rot="0">
            <a:off x="9272398" y="4370380"/>
            <a:ext cx="6893564" cy="1663065"/>
          </a:xfrm>
          <a:prstGeom prst="rect">
            <a:avLst/>
          </a:prstGeom>
        </p:spPr>
        <p:txBody>
          <a:bodyPr anchor="t" rtlCol="false" tIns="0" lIns="0" bIns="0" rIns="0">
            <a:spAutoFit/>
          </a:bodyPr>
          <a:lstStyle/>
          <a:p>
            <a:pPr algn="l">
              <a:lnSpc>
                <a:spcPts val="3359"/>
              </a:lnSpc>
            </a:pPr>
          </a:p>
          <a:p>
            <a:pPr algn="r">
              <a:lnSpc>
                <a:spcPts val="3359"/>
              </a:lnSpc>
            </a:pPr>
            <a:r>
              <a:rPr lang="en-US" b="true" sz="2399">
                <a:solidFill>
                  <a:srgbClr val="FF3131"/>
                </a:solidFill>
                <a:latin typeface="Inter Bold"/>
                <a:ea typeface="Inter Bold"/>
                <a:cs typeface="Inter Bold"/>
                <a:sym typeface="Inter Bold"/>
              </a:rPr>
              <a:t>2. Si se va a eliminar el último nodo</a:t>
            </a:r>
          </a:p>
          <a:p>
            <a:pPr algn="r">
              <a:lnSpc>
                <a:spcPts val="3359"/>
              </a:lnSpc>
            </a:pPr>
          </a:p>
          <a:p>
            <a:pPr algn="r">
              <a:lnSpc>
                <a:spcPts val="335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4418005"/>
            <a:ext cx="8036455" cy="1766245"/>
            <a:chOff x="0" y="0"/>
            <a:chExt cx="940884" cy="206787"/>
          </a:xfrm>
        </p:grpSpPr>
        <p:sp>
          <p:nvSpPr>
            <p:cNvPr name="Freeform 3" id="3"/>
            <p:cNvSpPr/>
            <p:nvPr/>
          </p:nvSpPr>
          <p:spPr>
            <a:xfrm flipH="false" flipV="false" rot="0">
              <a:off x="0" y="0"/>
              <a:ext cx="940884" cy="206787"/>
            </a:xfrm>
            <a:custGeom>
              <a:avLst/>
              <a:gdLst/>
              <a:ahLst/>
              <a:cxnLst/>
              <a:rect r="r" b="b" t="t" l="l"/>
              <a:pathLst>
                <a:path h="206787" w="940884">
                  <a:moveTo>
                    <a:pt x="0" y="0"/>
                  </a:moveTo>
                  <a:lnTo>
                    <a:pt x="940884" y="0"/>
                  </a:lnTo>
                  <a:lnTo>
                    <a:pt x="940884" y="206787"/>
                  </a:lnTo>
                  <a:lnTo>
                    <a:pt x="0" y="206787"/>
                  </a:lnTo>
                  <a:close/>
                </a:path>
              </a:pathLst>
            </a:custGeom>
            <a:blipFill>
              <a:blip r:embed="rId2"/>
              <a:stretch>
                <a:fillRect l="0" t="-6306" r="0" b="-6306"/>
              </a:stretch>
            </a:blipFill>
            <a:ln w="38100" cap="sq">
              <a:solidFill>
                <a:srgbClr val="000000"/>
              </a:solidFill>
              <a:prstDash val="solid"/>
              <a:miter/>
            </a:ln>
          </p:spPr>
        </p:sp>
      </p:grpSp>
      <p:grpSp>
        <p:nvGrpSpPr>
          <p:cNvPr name="Group 4" id="4"/>
          <p:cNvGrpSpPr/>
          <p:nvPr/>
        </p:nvGrpSpPr>
        <p:grpSpPr>
          <a:xfrm rot="0">
            <a:off x="725756" y="6884418"/>
            <a:ext cx="9545580" cy="3019471"/>
            <a:chOff x="0" y="0"/>
            <a:chExt cx="1307447" cy="413573"/>
          </a:xfrm>
        </p:grpSpPr>
        <p:sp>
          <p:nvSpPr>
            <p:cNvPr name="Freeform 5" id="5"/>
            <p:cNvSpPr/>
            <p:nvPr/>
          </p:nvSpPr>
          <p:spPr>
            <a:xfrm flipH="false" flipV="false" rot="0">
              <a:off x="0" y="0"/>
              <a:ext cx="1307447" cy="413573"/>
            </a:xfrm>
            <a:custGeom>
              <a:avLst/>
              <a:gdLst/>
              <a:ahLst/>
              <a:cxnLst/>
              <a:rect r="r" b="b" t="t" l="l"/>
              <a:pathLst>
                <a:path h="413573" w="1307447">
                  <a:moveTo>
                    <a:pt x="0" y="0"/>
                  </a:moveTo>
                  <a:lnTo>
                    <a:pt x="1307447" y="0"/>
                  </a:lnTo>
                  <a:lnTo>
                    <a:pt x="1307447" y="413573"/>
                  </a:lnTo>
                  <a:lnTo>
                    <a:pt x="0" y="413573"/>
                  </a:lnTo>
                  <a:close/>
                </a:path>
              </a:pathLst>
            </a:custGeom>
            <a:blipFill>
              <a:blip r:embed="rId3"/>
              <a:stretch>
                <a:fillRect l="-3841" t="0" r="-3841" b="0"/>
              </a:stretch>
            </a:blipFill>
            <a:ln w="38100" cap="sq">
              <a:solidFill>
                <a:srgbClr val="000000"/>
              </a:solidFill>
              <a:prstDash val="solid"/>
              <a:miter/>
            </a:ln>
          </p:spPr>
        </p:sp>
      </p:grpSp>
      <p:sp>
        <p:nvSpPr>
          <p:cNvPr name="Freeform 6" id="6"/>
          <p:cNvSpPr/>
          <p:nvPr/>
        </p:nvSpPr>
        <p:spPr>
          <a:xfrm flipH="false" flipV="false" rot="678324">
            <a:off x="492658" y="7105268"/>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248068" y="3746428"/>
            <a:ext cx="498808" cy="849363"/>
          </a:xfrm>
          <a:custGeom>
            <a:avLst/>
            <a:gdLst/>
            <a:ahLst/>
            <a:cxnLst/>
            <a:rect r="r" b="b" t="t" l="l"/>
            <a:pathLst>
              <a:path h="849363" w="498808">
                <a:moveTo>
                  <a:pt x="0" y="0"/>
                </a:moveTo>
                <a:lnTo>
                  <a:pt x="498808" y="0"/>
                </a:lnTo>
                <a:lnTo>
                  <a:pt x="498808" y="849364"/>
                </a:lnTo>
                <a:lnTo>
                  <a:pt x="0" y="8493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28700" y="898863"/>
            <a:ext cx="7811924" cy="3696929"/>
          </a:xfrm>
          <a:prstGeom prst="rect">
            <a:avLst/>
          </a:prstGeom>
        </p:spPr>
        <p:txBody>
          <a:bodyPr anchor="t" rtlCol="false" tIns="0" lIns="0" bIns="0" rIns="0">
            <a:spAutoFit/>
          </a:bodyPr>
          <a:lstStyle/>
          <a:p>
            <a:pPr algn="l">
              <a:lnSpc>
                <a:spcPts val="9703"/>
              </a:lnSpc>
            </a:pPr>
            <a:r>
              <a:rPr lang="en-US" sz="8086">
                <a:solidFill>
                  <a:srgbClr val="000000"/>
                </a:solidFill>
                <a:latin typeface="Anton"/>
                <a:ea typeface="Anton"/>
                <a:cs typeface="Anton"/>
                <a:sym typeface="Anton"/>
              </a:rPr>
              <a:t>OPERACIONES BÁSICAS</a:t>
            </a:r>
          </a:p>
          <a:p>
            <a:pPr algn="l">
              <a:lnSpc>
                <a:spcPts val="9703"/>
              </a:lnSpc>
            </a:pPr>
          </a:p>
        </p:txBody>
      </p:sp>
      <p:sp>
        <p:nvSpPr>
          <p:cNvPr name="TextBox 9" id="9"/>
          <p:cNvSpPr txBox="true"/>
          <p:nvPr/>
        </p:nvSpPr>
        <p:spPr>
          <a:xfrm rot="0">
            <a:off x="9679415" y="1608844"/>
            <a:ext cx="6893564" cy="2082165"/>
          </a:xfrm>
          <a:prstGeom prst="rect">
            <a:avLst/>
          </a:prstGeom>
        </p:spPr>
        <p:txBody>
          <a:bodyPr anchor="t" rtlCol="false" tIns="0" lIns="0" bIns="0" rIns="0">
            <a:spAutoFit/>
          </a:bodyPr>
          <a:lstStyle/>
          <a:p>
            <a:pPr algn="l">
              <a:lnSpc>
                <a:spcPts val="3359"/>
              </a:lnSpc>
            </a:pPr>
            <a:r>
              <a:rPr lang="en-US" sz="2399" b="true">
                <a:solidFill>
                  <a:srgbClr val="000000"/>
                </a:solidFill>
                <a:latin typeface="Inter Bold"/>
                <a:ea typeface="Inter Bold"/>
                <a:cs typeface="Inter Bold"/>
                <a:sym typeface="Inter Bold"/>
              </a:rPr>
              <a:t>2) Eliminación</a:t>
            </a:r>
            <a:r>
              <a:rPr lang="en-US" b="true" sz="2399">
                <a:solidFill>
                  <a:srgbClr val="000000"/>
                </a:solidFill>
                <a:latin typeface="Inter Bold"/>
                <a:ea typeface="Inter Bold"/>
                <a:cs typeface="Inter Bold"/>
                <a:sym typeface="Inter Bold"/>
              </a:rPr>
              <a:t> en una lista enlazada circular</a:t>
            </a:r>
          </a:p>
          <a:p>
            <a:pPr algn="l">
              <a:lnSpc>
                <a:spcPts val="3359"/>
              </a:lnSpc>
            </a:pPr>
          </a:p>
          <a:p>
            <a:pPr algn="r">
              <a:lnSpc>
                <a:spcPts val="3359"/>
              </a:lnSpc>
            </a:pPr>
            <a:r>
              <a:rPr lang="en-US" b="true" sz="2399">
                <a:solidFill>
                  <a:srgbClr val="FF3131"/>
                </a:solidFill>
                <a:latin typeface="Inter Bold"/>
                <a:ea typeface="Inter Bold"/>
                <a:cs typeface="Inter Bold"/>
                <a:sym typeface="Inter Bold"/>
              </a:rPr>
              <a:t>1. Si se van a eliminar otros nodos</a:t>
            </a:r>
          </a:p>
          <a:p>
            <a:pPr algn="r">
              <a:lnSpc>
                <a:spcPts val="3359"/>
              </a:lnSpc>
            </a:pPr>
          </a:p>
          <a:p>
            <a:pPr algn="r">
              <a:lnSpc>
                <a:spcPts val="3359"/>
              </a:lnSpc>
            </a:pPr>
          </a:p>
        </p:txBody>
      </p:sp>
      <p:sp>
        <p:nvSpPr>
          <p:cNvPr name="TextBox 10" id="10"/>
          <p:cNvSpPr txBox="true"/>
          <p:nvPr/>
        </p:nvSpPr>
        <p:spPr>
          <a:xfrm rot="0">
            <a:off x="1135964" y="3777785"/>
            <a:ext cx="813643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A partir de una </a:t>
            </a:r>
            <a:r>
              <a:rPr lang="en-US" b="true" sz="2100">
                <a:solidFill>
                  <a:srgbClr val="000000"/>
                </a:solidFill>
                <a:latin typeface="Inter Medium"/>
                <a:ea typeface="Inter Medium"/>
                <a:cs typeface="Inter Medium"/>
                <a:sym typeface="Inter Medium"/>
              </a:rPr>
              <a:t>lista enlazada circular con los elementos 1, 2 y 3.</a:t>
            </a:r>
          </a:p>
        </p:txBody>
      </p:sp>
      <p:sp>
        <p:nvSpPr>
          <p:cNvPr name="TextBox 11" id="11"/>
          <p:cNvSpPr txBox="true"/>
          <p:nvPr/>
        </p:nvSpPr>
        <p:spPr>
          <a:xfrm rot="0">
            <a:off x="1028700" y="6288280"/>
            <a:ext cx="3117056"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Inter Medium"/>
                <a:ea typeface="Inter Medium"/>
                <a:cs typeface="Inter Medium"/>
                <a:sym typeface="Inter Medium"/>
              </a:rPr>
              <a:t>Lista en su estado inicial</a:t>
            </a:r>
          </a:p>
        </p:txBody>
      </p:sp>
      <p:sp>
        <p:nvSpPr>
          <p:cNvPr name="TextBox 12" id="12"/>
          <p:cNvSpPr txBox="true"/>
          <p:nvPr/>
        </p:nvSpPr>
        <p:spPr>
          <a:xfrm rot="0">
            <a:off x="11159849" y="3495982"/>
            <a:ext cx="5413130" cy="3158058"/>
          </a:xfrm>
          <a:prstGeom prst="rect">
            <a:avLst/>
          </a:prstGeom>
        </p:spPr>
        <p:txBody>
          <a:bodyPr anchor="t" rtlCol="false" tIns="0" lIns="0" bIns="0" rIns="0">
            <a:spAutoFit/>
          </a:bodyPr>
          <a:lstStyle/>
          <a:p>
            <a:pPr algn="l" marL="551994" indent="-275997" lvl="1">
              <a:lnSpc>
                <a:spcPts val="3579"/>
              </a:lnSpc>
              <a:buAutoNum type="arabicPeriod" startAt="1"/>
            </a:pPr>
            <a:r>
              <a:rPr lang="en-US" b="true" sz="2556">
                <a:solidFill>
                  <a:srgbClr val="000000"/>
                </a:solidFill>
                <a:latin typeface="Inter Medium"/>
                <a:ea typeface="Inter Medium"/>
                <a:cs typeface="Inter Medium"/>
                <a:sym typeface="Inter Medium"/>
              </a:rPr>
              <a:t>viajar al nodo a eliminar (aquí estamos eliminando el nodo 2)</a:t>
            </a:r>
          </a:p>
          <a:p>
            <a:pPr algn="l" marL="551994" indent="-275997" lvl="1">
              <a:lnSpc>
                <a:spcPts val="3579"/>
              </a:lnSpc>
              <a:buAutoNum type="arabicPeriod" startAt="1"/>
            </a:pPr>
            <a:r>
              <a:rPr lang="en-US" b="true" sz="2556">
                <a:solidFill>
                  <a:srgbClr val="000000"/>
                </a:solidFill>
                <a:latin typeface="Inter Medium"/>
                <a:ea typeface="Inter Medium"/>
                <a:cs typeface="Inter Medium"/>
                <a:sym typeface="Inter Medium"/>
              </a:rPr>
              <a:t>deje que el nodo anterior al nodo 2 sea temp</a:t>
            </a:r>
          </a:p>
          <a:p>
            <a:pPr algn="l" marL="551994" indent="-275997" lvl="1">
              <a:lnSpc>
                <a:spcPts val="3579"/>
              </a:lnSpc>
              <a:buAutoNum type="arabicPeriod" startAt="1"/>
            </a:pPr>
            <a:r>
              <a:rPr lang="en-US" b="true" sz="2556">
                <a:solidFill>
                  <a:srgbClr val="000000"/>
                </a:solidFill>
                <a:latin typeface="Inter Medium"/>
                <a:ea typeface="Inter Medium"/>
                <a:cs typeface="Inter Medium"/>
                <a:sym typeface="Inter Medium"/>
              </a:rPr>
              <a:t>almacena la dirección del nodo al lado de 2 en temp</a:t>
            </a:r>
          </a:p>
          <a:p>
            <a:pPr algn="l" marL="551994" indent="-275997" lvl="1">
              <a:lnSpc>
                <a:spcPts val="3579"/>
              </a:lnSpc>
              <a:buAutoNum type="arabicPeriod" startAt="1"/>
            </a:pPr>
            <a:r>
              <a:rPr lang="en-US" b="true" sz="2556">
                <a:solidFill>
                  <a:srgbClr val="000000"/>
                </a:solidFill>
                <a:latin typeface="Inter Medium"/>
                <a:ea typeface="Inter Medium"/>
                <a:cs typeface="Inter Medium"/>
                <a:sym typeface="Inter Medium"/>
              </a:rPr>
              <a:t>libera la memoria de 2</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78324">
            <a:off x="8274299" y="7913633"/>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09896" y="2045499"/>
            <a:ext cx="498808" cy="849363"/>
          </a:xfrm>
          <a:custGeom>
            <a:avLst/>
            <a:gdLst/>
            <a:ahLst/>
            <a:cxnLst/>
            <a:rect r="r" b="b" t="t" l="l"/>
            <a:pathLst>
              <a:path h="849363" w="498808">
                <a:moveTo>
                  <a:pt x="0" y="0"/>
                </a:moveTo>
                <a:lnTo>
                  <a:pt x="498808" y="0"/>
                </a:lnTo>
                <a:lnTo>
                  <a:pt x="498808" y="849364"/>
                </a:lnTo>
                <a:lnTo>
                  <a:pt x="0" y="8493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986741" y="4170469"/>
            <a:ext cx="11301259" cy="3136099"/>
          </a:xfrm>
          <a:custGeom>
            <a:avLst/>
            <a:gdLst/>
            <a:ahLst/>
            <a:cxnLst/>
            <a:rect r="r" b="b" t="t" l="l"/>
            <a:pathLst>
              <a:path h="3136099" w="11301259">
                <a:moveTo>
                  <a:pt x="0" y="0"/>
                </a:moveTo>
                <a:lnTo>
                  <a:pt x="11301259" y="0"/>
                </a:lnTo>
                <a:lnTo>
                  <a:pt x="11301259" y="3136099"/>
                </a:lnTo>
                <a:lnTo>
                  <a:pt x="0" y="3136099"/>
                </a:lnTo>
                <a:lnTo>
                  <a:pt x="0" y="0"/>
                </a:lnTo>
                <a:close/>
              </a:path>
            </a:pathLst>
          </a:custGeom>
          <a:blipFill>
            <a:blip r:embed="rId6"/>
            <a:stretch>
              <a:fillRect l="0" t="0" r="0" b="0"/>
            </a:stretch>
          </a:blipFill>
        </p:spPr>
      </p:sp>
      <p:sp>
        <p:nvSpPr>
          <p:cNvPr name="TextBox 5" id="5"/>
          <p:cNvSpPr txBox="true"/>
          <p:nvPr/>
        </p:nvSpPr>
        <p:spPr>
          <a:xfrm rot="0">
            <a:off x="897637" y="456463"/>
            <a:ext cx="7728818" cy="24384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INTRODUCCION A LISTA DE LISTAS</a:t>
            </a:r>
          </a:p>
        </p:txBody>
      </p:sp>
      <p:sp>
        <p:nvSpPr>
          <p:cNvPr name="TextBox 6" id="6"/>
          <p:cNvSpPr txBox="true"/>
          <p:nvPr/>
        </p:nvSpPr>
        <p:spPr>
          <a:xfrm rot="0">
            <a:off x="897637" y="3800274"/>
            <a:ext cx="6218475" cy="4216400"/>
          </a:xfrm>
          <a:prstGeom prst="rect">
            <a:avLst/>
          </a:prstGeom>
        </p:spPr>
        <p:txBody>
          <a:bodyPr anchor="t" rtlCol="false" tIns="0" lIns="0" bIns="0" rIns="0">
            <a:spAutoFit/>
          </a:bodyPr>
          <a:lstStyle/>
          <a:p>
            <a:pPr algn="l">
              <a:lnSpc>
                <a:spcPts val="2799"/>
              </a:lnSpc>
            </a:pPr>
            <a:r>
              <a:rPr lang="en-US" sz="1999">
                <a:solidFill>
                  <a:srgbClr val="000000"/>
                </a:solidFill>
                <a:latin typeface="Inter"/>
                <a:ea typeface="Inter"/>
                <a:cs typeface="Inter"/>
                <a:sym typeface="Inter"/>
              </a:rPr>
              <a:t>Las listas s</a:t>
            </a:r>
            <a:r>
              <a:rPr lang="en-US" sz="1999">
                <a:solidFill>
                  <a:srgbClr val="000000"/>
                </a:solidFill>
                <a:latin typeface="Inter"/>
                <a:ea typeface="Inter"/>
                <a:cs typeface="Inter"/>
                <a:sym typeface="Inter"/>
              </a:rPr>
              <a:t>on secuencias de elementos.</a:t>
            </a:r>
          </a:p>
          <a:p>
            <a:pPr algn="l">
              <a:lnSpc>
                <a:spcPts val="2799"/>
              </a:lnSpc>
            </a:pPr>
          </a:p>
          <a:p>
            <a:pPr algn="l">
              <a:lnSpc>
                <a:spcPts val="2799"/>
              </a:lnSpc>
            </a:pPr>
            <a:r>
              <a:rPr lang="en-US" sz="1999">
                <a:solidFill>
                  <a:srgbClr val="000000"/>
                </a:solidFill>
                <a:latin typeface="Inter"/>
                <a:ea typeface="Inter"/>
                <a:cs typeface="Inter"/>
                <a:sym typeface="Inter"/>
              </a:rPr>
              <a:t>Una lista puede contener cualquier número de elementos, </a:t>
            </a:r>
            <a:r>
              <a:rPr lang="en-US" sz="1999">
                <a:solidFill>
                  <a:srgbClr val="FF3131"/>
                </a:solidFill>
                <a:latin typeface="Inter"/>
                <a:ea typeface="Inter"/>
                <a:cs typeface="Inter"/>
                <a:sym typeface="Inter"/>
              </a:rPr>
              <a:t>y los elementos de la lista pueden ser cualquier tipo de objeto</a:t>
            </a:r>
            <a:r>
              <a:rPr lang="en-US" sz="1999">
                <a:solidFill>
                  <a:srgbClr val="000000"/>
                </a:solidFill>
                <a:latin typeface="Inter"/>
                <a:ea typeface="Inter"/>
                <a:cs typeface="Inter"/>
                <a:sym typeface="Inter"/>
              </a:rPr>
              <a:t>. </a:t>
            </a:r>
          </a:p>
          <a:p>
            <a:pPr algn="l">
              <a:lnSpc>
                <a:spcPts val="2799"/>
              </a:lnSpc>
            </a:pPr>
          </a:p>
          <a:p>
            <a:pPr algn="l">
              <a:lnSpc>
                <a:spcPts val="2799"/>
              </a:lnSpc>
            </a:pPr>
            <a:r>
              <a:rPr lang="en-US" sz="1999">
                <a:solidFill>
                  <a:srgbClr val="000000"/>
                </a:solidFill>
                <a:latin typeface="Inter"/>
                <a:ea typeface="Inter"/>
                <a:cs typeface="Inter"/>
                <a:sym typeface="Inter"/>
              </a:rPr>
              <a:t>Las listas también se pueden considerar como matrices. </a:t>
            </a:r>
          </a:p>
          <a:p>
            <a:pPr algn="l">
              <a:lnSpc>
                <a:spcPts val="2799"/>
              </a:lnSpc>
            </a:pPr>
          </a:p>
          <a:p>
            <a:pPr algn="l">
              <a:lnSpc>
                <a:spcPts val="2799"/>
              </a:lnSpc>
            </a:pPr>
            <a:r>
              <a:rPr lang="en-US" sz="1999">
                <a:solidFill>
                  <a:srgbClr val="000000"/>
                </a:solidFill>
                <a:latin typeface="Inter"/>
                <a:ea typeface="Inter"/>
                <a:cs typeface="Inter"/>
                <a:sym typeface="Inter"/>
              </a:rPr>
              <a:t>El número de elementos de una lista puede aumentar o disminuir a medida que se añaden, eliminan o sustituyen elementos.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7165" y="1629921"/>
            <a:ext cx="14244157" cy="8193730"/>
            <a:chOff x="0" y="0"/>
            <a:chExt cx="2012934" cy="1157909"/>
          </a:xfrm>
        </p:grpSpPr>
        <p:sp>
          <p:nvSpPr>
            <p:cNvPr name="Freeform 3" id="3"/>
            <p:cNvSpPr/>
            <p:nvPr/>
          </p:nvSpPr>
          <p:spPr>
            <a:xfrm flipH="false" flipV="false" rot="0">
              <a:off x="0" y="0"/>
              <a:ext cx="2012934" cy="1157909"/>
            </a:xfrm>
            <a:custGeom>
              <a:avLst/>
              <a:gdLst/>
              <a:ahLst/>
              <a:cxnLst/>
              <a:rect r="r" b="b" t="t" l="l"/>
              <a:pathLst>
                <a:path h="1157909" w="2012934">
                  <a:moveTo>
                    <a:pt x="0" y="0"/>
                  </a:moveTo>
                  <a:lnTo>
                    <a:pt x="2012934" y="0"/>
                  </a:lnTo>
                  <a:lnTo>
                    <a:pt x="2012934" y="1157909"/>
                  </a:lnTo>
                  <a:lnTo>
                    <a:pt x="0" y="1157909"/>
                  </a:lnTo>
                  <a:close/>
                </a:path>
              </a:pathLst>
            </a:custGeom>
            <a:solidFill>
              <a:srgbClr val="F7F7F0"/>
            </a:solidFill>
            <a:ln w="38100" cap="sq">
              <a:solidFill>
                <a:srgbClr val="000000"/>
              </a:solidFill>
              <a:prstDash val="solid"/>
              <a:miter/>
            </a:ln>
          </p:spPr>
        </p:sp>
        <p:sp>
          <p:nvSpPr>
            <p:cNvPr name="TextBox 4" id="4"/>
            <p:cNvSpPr txBox="true"/>
            <p:nvPr/>
          </p:nvSpPr>
          <p:spPr>
            <a:xfrm>
              <a:off x="0" y="-47625"/>
              <a:ext cx="2012934" cy="1205534"/>
            </a:xfrm>
            <a:prstGeom prst="rect">
              <a:avLst/>
            </a:prstGeom>
          </p:spPr>
          <p:txBody>
            <a:bodyPr anchor="ctr" rtlCol="false" tIns="94677" lIns="94677" bIns="94677" rIns="94677"/>
            <a:lstStyle/>
            <a:p>
              <a:pPr algn="ctr">
                <a:lnSpc>
                  <a:spcPts val="2940"/>
                </a:lnSpc>
              </a:pPr>
            </a:p>
          </p:txBody>
        </p:sp>
      </p:grpSp>
      <p:sp>
        <p:nvSpPr>
          <p:cNvPr name="Freeform 5" id="5"/>
          <p:cNvSpPr/>
          <p:nvPr/>
        </p:nvSpPr>
        <p:spPr>
          <a:xfrm flipH="false" flipV="false" rot="0">
            <a:off x="17557673" y="9219756"/>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128720" y="9219756"/>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844292" y="9219756"/>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678324">
            <a:off x="641282" y="3079394"/>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9181735" y="7803493"/>
            <a:ext cx="498808" cy="849363"/>
          </a:xfrm>
          <a:custGeom>
            <a:avLst/>
            <a:gdLst/>
            <a:ahLst/>
            <a:cxnLst/>
            <a:rect r="r" b="b" t="t" l="l"/>
            <a:pathLst>
              <a:path h="849363" w="498808">
                <a:moveTo>
                  <a:pt x="0" y="0"/>
                </a:moveTo>
                <a:lnTo>
                  <a:pt x="498808" y="0"/>
                </a:lnTo>
                <a:lnTo>
                  <a:pt x="498808" y="849363"/>
                </a:lnTo>
                <a:lnTo>
                  <a:pt x="0" y="8493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Table 10" id="10"/>
          <p:cNvGraphicFramePr>
            <a:graphicFrameLocks noGrp="true"/>
          </p:cNvGraphicFramePr>
          <p:nvPr/>
        </p:nvGraphicFramePr>
        <p:xfrm>
          <a:off x="2360669" y="2046934"/>
          <a:ext cx="13067724" cy="7439025"/>
        </p:xfrm>
        <a:graphic>
          <a:graphicData uri="http://schemas.openxmlformats.org/drawingml/2006/table">
            <a:tbl>
              <a:tblPr/>
              <a:tblGrid>
                <a:gridCol w="3541528"/>
                <a:gridCol w="6043538"/>
                <a:gridCol w="3482658"/>
              </a:tblGrid>
              <a:tr h="1024422">
                <a:tc>
                  <a:txBody>
                    <a:bodyPr anchor="t" rtlCol="false"/>
                    <a:lstStyle/>
                    <a:p>
                      <a:pPr algn="ctr">
                        <a:lnSpc>
                          <a:spcPts val="2940"/>
                        </a:lnSpc>
                        <a:defRPr/>
                      </a:pPr>
                      <a:r>
                        <a:rPr lang="en-US" sz="2100" b="true">
                          <a:solidFill>
                            <a:srgbClr val="000000"/>
                          </a:solidFill>
                          <a:latin typeface="Inter Bold"/>
                          <a:ea typeface="Inter Bold"/>
                          <a:cs typeface="Inter Bold"/>
                          <a:sym typeface="Inter Bold"/>
                        </a:rPr>
                        <a:t>Aspecto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Inter Bold"/>
                          <a:ea typeface="Inter Bold"/>
                          <a:cs typeface="Inter Bold"/>
                          <a:sym typeface="Inter Bold"/>
                        </a:rPr>
                        <a:t>Lista de listas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b="true">
                          <a:solidFill>
                            <a:srgbClr val="000000"/>
                          </a:solidFill>
                          <a:latin typeface="Inter Bold"/>
                          <a:ea typeface="Inter Bold"/>
                          <a:cs typeface="Inter Bold"/>
                          <a:sym typeface="Inter Bold"/>
                        </a:rPr>
                        <a:t>Matriz</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54199">
                <a:tc>
                  <a:txBody>
                    <a:bodyPr anchor="t" rtlCol="false"/>
                    <a:lstStyle/>
                    <a:p>
                      <a:pPr algn="ctr">
                        <a:lnSpc>
                          <a:spcPts val="2940"/>
                        </a:lnSpc>
                        <a:defRPr/>
                      </a:pPr>
                      <a:r>
                        <a:rPr lang="en-US" sz="2100">
                          <a:solidFill>
                            <a:srgbClr val="000000"/>
                          </a:solidFill>
                          <a:latin typeface="Inter"/>
                          <a:ea typeface="Inter"/>
                          <a:cs typeface="Inter"/>
                          <a:sym typeface="Inter"/>
                        </a:rPr>
                        <a:t>Estructura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Inter"/>
                          <a:ea typeface="Inter"/>
                          <a:cs typeface="Inter"/>
                          <a:sym typeface="Inter"/>
                        </a:rPr>
                        <a:t>Flexible, puede ser irregular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Inter"/>
                          <a:ea typeface="Inter"/>
                          <a:cs typeface="Inter"/>
                          <a:sym typeface="Inter"/>
                        </a:rPr>
                        <a:t>Rígida, dimensiones fijas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54199">
                <a:tc>
                  <a:txBody>
                    <a:bodyPr anchor="t" rtlCol="false"/>
                    <a:lstStyle/>
                    <a:p>
                      <a:pPr algn="ctr">
                        <a:lnSpc>
                          <a:spcPts val="2940"/>
                        </a:lnSpc>
                        <a:defRPr/>
                      </a:pPr>
                      <a:r>
                        <a:rPr lang="en-US" sz="2100">
                          <a:solidFill>
                            <a:srgbClr val="000000"/>
                          </a:solidFill>
                          <a:latin typeface="Inter"/>
                          <a:ea typeface="Inter"/>
                          <a:cs typeface="Inter"/>
                          <a:sym typeface="Inter"/>
                        </a:rPr>
                        <a:t>Tipo de datos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Inter"/>
                          <a:ea typeface="Inter"/>
                          <a:cs typeface="Inter"/>
                          <a:sym typeface="Inter"/>
                        </a:rPr>
                        <a:t>Puede mezclar tipos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Inter"/>
                          <a:ea typeface="Inter"/>
                          <a:cs typeface="Inter"/>
                          <a:sym typeface="Inter"/>
                        </a:rPr>
                        <a:t>Homogénea (mismo tipo)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4422">
                <a:tc>
                  <a:txBody>
                    <a:bodyPr anchor="t" rtlCol="false"/>
                    <a:lstStyle/>
                    <a:p>
                      <a:pPr algn="ctr">
                        <a:lnSpc>
                          <a:spcPts val="2940"/>
                        </a:lnSpc>
                        <a:defRPr/>
                      </a:pPr>
                      <a:r>
                        <a:rPr lang="en-US" sz="2100">
                          <a:solidFill>
                            <a:srgbClr val="000000"/>
                          </a:solidFill>
                          <a:latin typeface="Inter"/>
                          <a:ea typeface="Inter"/>
                          <a:cs typeface="Inter"/>
                          <a:sym typeface="Inter"/>
                        </a:rPr>
                        <a:t>Operación matemáticas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Inter"/>
                          <a:ea typeface="Inter"/>
                          <a:cs typeface="Inter"/>
                          <a:sym typeface="Inter"/>
                        </a:rPr>
                        <a:t>No optimizadas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Inter"/>
                          <a:ea typeface="Inter"/>
                          <a:cs typeface="Inter"/>
                          <a:sym typeface="Inter"/>
                        </a:rPr>
                        <a:t>Altamente optimizadas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54199">
                <a:tc>
                  <a:txBody>
                    <a:bodyPr anchor="t" rtlCol="false"/>
                    <a:lstStyle/>
                    <a:p>
                      <a:pPr algn="ctr">
                        <a:lnSpc>
                          <a:spcPts val="2940"/>
                        </a:lnSpc>
                        <a:defRPr/>
                      </a:pPr>
                      <a:r>
                        <a:rPr lang="en-US" sz="2100">
                          <a:solidFill>
                            <a:srgbClr val="000000"/>
                          </a:solidFill>
                          <a:latin typeface="Inter"/>
                          <a:ea typeface="Inter"/>
                          <a:cs typeface="Inter"/>
                          <a:sym typeface="Inter"/>
                        </a:rPr>
                        <a:t>Uso común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Inter"/>
                          <a:ea typeface="Inter"/>
                          <a:cs typeface="Inter"/>
                          <a:sym typeface="Inter"/>
                        </a:rPr>
                        <a:t>Representar datos generales, tablas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Inter"/>
                          <a:ea typeface="Inter"/>
                          <a:cs typeface="Inter"/>
                          <a:sym typeface="Inter"/>
                        </a:rPr>
                        <a:t>Cálculo numérico, álgebra lineal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27586">
                <a:tc>
                  <a:txBody>
                    <a:bodyPr anchor="t" rtlCol="false"/>
                    <a:lstStyle/>
                    <a:p>
                      <a:pPr algn="ctr">
                        <a:lnSpc>
                          <a:spcPts val="2940"/>
                        </a:lnSpc>
                        <a:defRPr/>
                      </a:pPr>
                      <a:r>
                        <a:rPr lang="en-US" sz="2100">
                          <a:solidFill>
                            <a:srgbClr val="000000"/>
                          </a:solidFill>
                          <a:latin typeface="Inter"/>
                          <a:ea typeface="Inter"/>
                          <a:cs typeface="Inter"/>
                          <a:sym typeface="Inter"/>
                        </a:rPr>
                        <a:t>Ejemplo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Inter"/>
                          <a:ea typeface="Inter"/>
                          <a:cs typeface="Inter"/>
                          <a:sym typeface="Inter"/>
                        </a:rPr>
                        <a:t>Lista de estudiantes con notas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40"/>
                        </a:lnSpc>
                        <a:defRPr/>
                      </a:pPr>
                      <a:endParaRPr lang="en-US" sz="1100"/>
                    </a:p>
                    <a:p>
                      <a:pPr algn="ctr">
                        <a:lnSpc>
                          <a:spcPts val="2940"/>
                        </a:lnSpc>
                      </a:pPr>
                      <a:r>
                        <a:rPr lang="en-US" sz="2100">
                          <a:solidFill>
                            <a:srgbClr val="000000"/>
                          </a:solidFill>
                          <a:latin typeface="Inter"/>
                          <a:ea typeface="Inter"/>
                          <a:cs typeface="Inter"/>
                          <a:sym typeface="Inter"/>
                        </a:rPr>
                        <a:t>Matriz de coeficientes en ecuaciones</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856861" y="2315859"/>
            <a:ext cx="8402439" cy="6942441"/>
            <a:chOff x="0" y="0"/>
            <a:chExt cx="983732" cy="812800"/>
          </a:xfrm>
        </p:grpSpPr>
        <p:sp>
          <p:nvSpPr>
            <p:cNvPr name="Freeform 3" id="3"/>
            <p:cNvSpPr/>
            <p:nvPr/>
          </p:nvSpPr>
          <p:spPr>
            <a:xfrm flipH="false" flipV="false" rot="0">
              <a:off x="0" y="0"/>
              <a:ext cx="983732" cy="812800"/>
            </a:xfrm>
            <a:custGeom>
              <a:avLst/>
              <a:gdLst/>
              <a:ahLst/>
              <a:cxnLst/>
              <a:rect r="r" b="b" t="t" l="l"/>
              <a:pathLst>
                <a:path h="812800" w="983732">
                  <a:moveTo>
                    <a:pt x="0" y="0"/>
                  </a:moveTo>
                  <a:lnTo>
                    <a:pt x="983732" y="0"/>
                  </a:lnTo>
                  <a:lnTo>
                    <a:pt x="983732" y="812800"/>
                  </a:lnTo>
                  <a:lnTo>
                    <a:pt x="0" y="812800"/>
                  </a:lnTo>
                  <a:close/>
                </a:path>
              </a:pathLst>
            </a:custGeom>
            <a:blipFill>
              <a:blip r:embed="rId2"/>
              <a:stretch>
                <a:fillRect l="-11968" t="0" r="-11968" b="0"/>
              </a:stretch>
            </a:blipFill>
            <a:ln w="38100" cap="sq">
              <a:solidFill>
                <a:srgbClr val="000000"/>
              </a:solidFill>
              <a:prstDash val="solid"/>
              <a:miter/>
            </a:ln>
          </p:spPr>
        </p:sp>
      </p:grpSp>
      <p:grpSp>
        <p:nvGrpSpPr>
          <p:cNvPr name="Group 4" id="4"/>
          <p:cNvGrpSpPr/>
          <p:nvPr/>
        </p:nvGrpSpPr>
        <p:grpSpPr>
          <a:xfrm rot="0">
            <a:off x="9786099" y="2921303"/>
            <a:ext cx="6543964" cy="5994408"/>
            <a:chOff x="0" y="0"/>
            <a:chExt cx="8725285" cy="7992544"/>
          </a:xfrm>
        </p:grpSpPr>
        <p:grpSp>
          <p:nvGrpSpPr>
            <p:cNvPr name="Group 5" id="5"/>
            <p:cNvGrpSpPr/>
            <p:nvPr/>
          </p:nvGrpSpPr>
          <p:grpSpPr>
            <a:xfrm rot="0">
              <a:off x="0" y="0"/>
              <a:ext cx="8725285" cy="7992544"/>
              <a:chOff x="0" y="0"/>
              <a:chExt cx="1723513" cy="1578774"/>
            </a:xfrm>
          </p:grpSpPr>
          <p:sp>
            <p:nvSpPr>
              <p:cNvPr name="Freeform 6" id="6"/>
              <p:cNvSpPr/>
              <p:nvPr/>
            </p:nvSpPr>
            <p:spPr>
              <a:xfrm flipH="false" flipV="false" rot="0">
                <a:off x="0" y="0"/>
                <a:ext cx="1723513" cy="1578774"/>
              </a:xfrm>
              <a:custGeom>
                <a:avLst/>
                <a:gdLst/>
                <a:ahLst/>
                <a:cxnLst/>
                <a:rect r="r" b="b" t="t" l="l"/>
                <a:pathLst>
                  <a:path h="1578774" w="1723513">
                    <a:moveTo>
                      <a:pt x="0" y="0"/>
                    </a:moveTo>
                    <a:lnTo>
                      <a:pt x="1723513" y="0"/>
                    </a:lnTo>
                    <a:lnTo>
                      <a:pt x="1723513" y="1578774"/>
                    </a:lnTo>
                    <a:lnTo>
                      <a:pt x="0" y="1578774"/>
                    </a:lnTo>
                    <a:close/>
                  </a:path>
                </a:pathLst>
              </a:custGeom>
              <a:solidFill>
                <a:srgbClr val="F7F7F0"/>
              </a:solidFill>
              <a:ln w="38100" cap="sq">
                <a:solidFill>
                  <a:srgbClr val="000000"/>
                </a:solidFill>
                <a:prstDash val="solid"/>
                <a:miter/>
              </a:ln>
            </p:spPr>
          </p:sp>
          <p:sp>
            <p:nvSpPr>
              <p:cNvPr name="TextBox 7" id="7"/>
              <p:cNvSpPr txBox="true"/>
              <p:nvPr/>
            </p:nvSpPr>
            <p:spPr>
              <a:xfrm>
                <a:off x="0" y="-47625"/>
                <a:ext cx="1723513" cy="1626399"/>
              </a:xfrm>
              <a:prstGeom prst="rect">
                <a:avLst/>
              </a:prstGeom>
            </p:spPr>
            <p:txBody>
              <a:bodyPr anchor="ctr" rtlCol="false" tIns="50800" lIns="50800" bIns="50800" rIns="50800"/>
              <a:lstStyle/>
              <a:p>
                <a:pPr algn="ctr">
                  <a:lnSpc>
                    <a:spcPts val="2940"/>
                  </a:lnSpc>
                </a:pPr>
              </a:p>
            </p:txBody>
          </p:sp>
        </p:grpSp>
        <p:sp>
          <p:nvSpPr>
            <p:cNvPr name="TextBox 8" id="8"/>
            <p:cNvSpPr txBox="true"/>
            <p:nvPr/>
          </p:nvSpPr>
          <p:spPr>
            <a:xfrm rot="0">
              <a:off x="570114" y="1426630"/>
              <a:ext cx="7585058" cy="5844540"/>
            </a:xfrm>
            <a:prstGeom prst="rect">
              <a:avLst/>
            </a:prstGeom>
          </p:spPr>
          <p:txBody>
            <a:bodyPr anchor="t" rtlCol="false" tIns="0" lIns="0" bIns="0" rIns="0">
              <a:spAutoFit/>
            </a:bodyPr>
            <a:lstStyle/>
            <a:p>
              <a:pPr algn="just">
                <a:lnSpc>
                  <a:spcPts val="2520"/>
                </a:lnSpc>
              </a:pPr>
              <a:r>
                <a:rPr lang="en-US" sz="1800">
                  <a:solidFill>
                    <a:srgbClr val="000000"/>
                  </a:solidFill>
                  <a:latin typeface="Inter"/>
                  <a:ea typeface="Inter"/>
                  <a:cs typeface="Inter"/>
                  <a:sym typeface="Inter"/>
                </a:rPr>
                <a:t>Las matrices bidimensionales son una poderosa estructura de datos que</a:t>
              </a:r>
              <a:r>
                <a:rPr lang="en-US" sz="1800">
                  <a:solidFill>
                    <a:srgbClr val="000000"/>
                  </a:solidFill>
                  <a:latin typeface="Inter"/>
                  <a:ea typeface="Inter"/>
                  <a:cs typeface="Inter"/>
                  <a:sym typeface="Inter"/>
                </a:rPr>
                <a:t> permite la representación y manipulación de datos en formato matricial. </a:t>
              </a:r>
            </a:p>
            <a:p>
              <a:pPr algn="just">
                <a:lnSpc>
                  <a:spcPts val="2520"/>
                </a:lnSpc>
              </a:pPr>
            </a:p>
            <a:p>
              <a:pPr algn="just">
                <a:lnSpc>
                  <a:spcPts val="2520"/>
                </a:lnSpc>
              </a:pPr>
              <a:r>
                <a:rPr lang="en-US" sz="1800">
                  <a:solidFill>
                    <a:srgbClr val="000000"/>
                  </a:solidFill>
                  <a:latin typeface="Inter"/>
                  <a:ea typeface="Inter"/>
                  <a:cs typeface="Inter"/>
                  <a:sym typeface="Inter"/>
                </a:rPr>
                <a:t>Amplían el concepto de matrices unidimensionales añadiendo una dimensión extra, lo que las hace ideales para aplicaciones que involucran cuadrículas o matrices, como imágenes o tableros de juego. </a:t>
              </a:r>
            </a:p>
            <a:p>
              <a:pPr algn="just">
                <a:lnSpc>
                  <a:spcPts val="2520"/>
                </a:lnSpc>
              </a:pPr>
            </a:p>
            <a:p>
              <a:pPr algn="just">
                <a:lnSpc>
                  <a:spcPts val="2520"/>
                </a:lnSpc>
              </a:pPr>
              <a:r>
                <a:rPr lang="en-US" sz="1800">
                  <a:solidFill>
                    <a:srgbClr val="000000"/>
                  </a:solidFill>
                  <a:latin typeface="Inter"/>
                  <a:ea typeface="Inter"/>
                  <a:cs typeface="Inter"/>
                  <a:sym typeface="Inter"/>
                </a:rPr>
                <a:t>Mediante el uso de bucles anidados, se puede acceder y modificar de manera eficiente los elementos de una matriz bidimensional, lo que permite operaciones complejas y representaciones visuales.</a:t>
              </a:r>
            </a:p>
          </p:txBody>
        </p:sp>
        <p:sp>
          <p:nvSpPr>
            <p:cNvPr name="TextBox 9" id="9"/>
            <p:cNvSpPr txBox="true"/>
            <p:nvPr/>
          </p:nvSpPr>
          <p:spPr>
            <a:xfrm rot="0">
              <a:off x="570114" y="673748"/>
              <a:ext cx="7585058" cy="471805"/>
            </a:xfrm>
            <a:prstGeom prst="rect">
              <a:avLst/>
            </a:prstGeom>
          </p:spPr>
          <p:txBody>
            <a:bodyPr anchor="t" rtlCol="false" tIns="0" lIns="0" bIns="0" rIns="0">
              <a:spAutoFit/>
            </a:bodyPr>
            <a:lstStyle/>
            <a:p>
              <a:pPr algn="ctr">
                <a:lnSpc>
                  <a:spcPts val="2940"/>
                </a:lnSpc>
              </a:pPr>
              <a:r>
                <a:rPr lang="en-US" b="true" sz="2100">
                  <a:solidFill>
                    <a:srgbClr val="000000"/>
                  </a:solidFill>
                  <a:latin typeface="Inter Medium"/>
                  <a:ea typeface="Inter Medium"/>
                  <a:cs typeface="Inter Medium"/>
                  <a:sym typeface="Inter Medium"/>
                </a:rPr>
                <a:t>RESUMEN</a:t>
              </a:r>
            </a:p>
          </p:txBody>
        </p:sp>
      </p:grpSp>
      <p:sp>
        <p:nvSpPr>
          <p:cNvPr name="Freeform 10" id="10"/>
          <p:cNvSpPr/>
          <p:nvPr/>
        </p:nvSpPr>
        <p:spPr>
          <a:xfrm flipH="false" flipV="false" rot="0">
            <a:off x="1028700"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744272"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459844" y="8725894"/>
            <a:ext cx="532406" cy="532406"/>
          </a:xfrm>
          <a:custGeom>
            <a:avLst/>
            <a:gdLst/>
            <a:ahLst/>
            <a:cxnLst/>
            <a:rect r="r" b="b" t="t" l="l"/>
            <a:pathLst>
              <a:path h="532406" w="532406">
                <a:moveTo>
                  <a:pt x="0" y="0"/>
                </a:moveTo>
                <a:lnTo>
                  <a:pt x="532406" y="0"/>
                </a:lnTo>
                <a:lnTo>
                  <a:pt x="532406" y="532406"/>
                </a:lnTo>
                <a:lnTo>
                  <a:pt x="0" y="5324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678324">
            <a:off x="8469443" y="7615569"/>
            <a:ext cx="774837" cy="1044510"/>
          </a:xfrm>
          <a:custGeom>
            <a:avLst/>
            <a:gdLst/>
            <a:ahLst/>
            <a:cxnLst/>
            <a:rect r="r" b="b" t="t" l="l"/>
            <a:pathLst>
              <a:path h="1044510" w="774837">
                <a:moveTo>
                  <a:pt x="0" y="0"/>
                </a:moveTo>
                <a:lnTo>
                  <a:pt x="774836" y="0"/>
                </a:lnTo>
                <a:lnTo>
                  <a:pt x="774836" y="1044510"/>
                </a:lnTo>
                <a:lnTo>
                  <a:pt x="0" y="10445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6998664" y="2921303"/>
            <a:ext cx="498808" cy="849363"/>
          </a:xfrm>
          <a:custGeom>
            <a:avLst/>
            <a:gdLst/>
            <a:ahLst/>
            <a:cxnLst/>
            <a:rect r="r" b="b" t="t" l="l"/>
            <a:pathLst>
              <a:path h="849363" w="498808">
                <a:moveTo>
                  <a:pt x="0" y="0"/>
                </a:moveTo>
                <a:lnTo>
                  <a:pt x="498808" y="0"/>
                </a:lnTo>
                <a:lnTo>
                  <a:pt x="498808" y="849363"/>
                </a:lnTo>
                <a:lnTo>
                  <a:pt x="0" y="84936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1028700" y="737235"/>
            <a:ext cx="10016921" cy="1219200"/>
          </a:xfrm>
          <a:prstGeom prst="rect">
            <a:avLst/>
          </a:prstGeom>
        </p:spPr>
        <p:txBody>
          <a:bodyPr anchor="t" rtlCol="false" tIns="0" lIns="0" bIns="0" rIns="0">
            <a:spAutoFit/>
          </a:bodyPr>
          <a:lstStyle/>
          <a:p>
            <a:pPr algn="l">
              <a:lnSpc>
                <a:spcPts val="9600"/>
              </a:lnSpc>
            </a:pPr>
            <a:r>
              <a:rPr lang="en-US" sz="8000">
                <a:solidFill>
                  <a:srgbClr val="000000"/>
                </a:solidFill>
                <a:latin typeface="Anton"/>
                <a:ea typeface="Anton"/>
                <a:cs typeface="Anton"/>
                <a:sym typeface="Anton"/>
              </a:rPr>
              <a:t>INTRODUCCIÓN A MATRIZ:</a:t>
            </a:r>
          </a:p>
        </p:txBody>
      </p:sp>
      <p:sp>
        <p:nvSpPr>
          <p:cNvPr name="TextBox 16" id="16"/>
          <p:cNvSpPr txBox="true"/>
          <p:nvPr/>
        </p:nvSpPr>
        <p:spPr>
          <a:xfrm rot="0">
            <a:off x="1190123" y="2883203"/>
            <a:ext cx="5849280" cy="3135630"/>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Una array bidime</a:t>
            </a:r>
            <a:r>
              <a:rPr lang="en-US" sz="1800">
                <a:solidFill>
                  <a:srgbClr val="000000"/>
                </a:solidFill>
                <a:latin typeface="Inter"/>
                <a:ea typeface="Inter"/>
                <a:cs typeface="Inter"/>
                <a:sym typeface="Inter"/>
              </a:rPr>
              <a:t>nsional se puede definir como una colección de elementos dispuestos en filas y columnas. </a:t>
            </a:r>
          </a:p>
          <a:p>
            <a:pPr algn="l">
              <a:lnSpc>
                <a:spcPts val="2520"/>
              </a:lnSpc>
            </a:pPr>
          </a:p>
          <a:p>
            <a:pPr algn="l">
              <a:lnSpc>
                <a:spcPts val="2520"/>
              </a:lnSpc>
            </a:pPr>
            <a:r>
              <a:rPr lang="en-US" sz="1800">
                <a:solidFill>
                  <a:srgbClr val="000000"/>
                </a:solidFill>
                <a:latin typeface="Inter"/>
                <a:ea typeface="Inter"/>
                <a:cs typeface="Inter"/>
                <a:sym typeface="Inter"/>
              </a:rPr>
              <a:t>Se puede visualizar como una tabla con filas y columnas que se cruzan para formar celdas. </a:t>
            </a:r>
          </a:p>
          <a:p>
            <a:pPr algn="l">
              <a:lnSpc>
                <a:spcPts val="2520"/>
              </a:lnSpc>
            </a:pPr>
          </a:p>
          <a:p>
            <a:pPr algn="l">
              <a:lnSpc>
                <a:spcPts val="2520"/>
              </a:lnSpc>
            </a:pPr>
            <a:r>
              <a:rPr lang="en-US" sz="1800">
                <a:solidFill>
                  <a:srgbClr val="000000"/>
                </a:solidFill>
                <a:latin typeface="Inter"/>
                <a:ea typeface="Inter"/>
                <a:cs typeface="Inter"/>
                <a:sym typeface="Inter"/>
              </a:rPr>
              <a:t>Cada celda contiene un valor específico y el </a:t>
            </a:r>
            <a:r>
              <a:rPr lang="en-US" sz="1800">
                <a:solidFill>
                  <a:srgbClr val="000000"/>
                </a:solidFill>
                <a:latin typeface="Inter"/>
                <a:ea typeface="Inter"/>
                <a:cs typeface="Inter"/>
                <a:sym typeface="Inter"/>
                <a:hlinkClick r:id="rId9" tooltip="https://www.scholarhat.com/tutorial/c/array-in-c"/>
              </a:rPr>
              <a:t>array</a:t>
            </a:r>
            <a:r>
              <a:rPr lang="en-US" sz="1800">
                <a:solidFill>
                  <a:srgbClr val="000000"/>
                </a:solidFill>
                <a:latin typeface="Inter"/>
                <a:ea typeface="Inter"/>
                <a:cs typeface="Inter"/>
                <a:sym typeface="Inter"/>
              </a:rPr>
              <a:t> Puede contener elementos iguales o diferentes </a:t>
            </a:r>
            <a:r>
              <a:rPr lang="en-US" sz="1800">
                <a:solidFill>
                  <a:srgbClr val="000000"/>
                </a:solidFill>
                <a:latin typeface="Inter"/>
                <a:ea typeface="Inter"/>
                <a:cs typeface="Inter"/>
                <a:sym typeface="Inter"/>
                <a:hlinkClick r:id="rId10" tooltip="https://www.scholarhat.com/tutorial/c/data-types-in-c-with-example"/>
              </a:rPr>
              <a:t>tipos de datos</a:t>
            </a:r>
            <a:r>
              <a:rPr lang="en-US" sz="1800">
                <a:solidFill>
                  <a:srgbClr val="000000"/>
                </a:solidFill>
                <a:latin typeface="Inter"/>
                <a:ea typeface="Inter"/>
                <a:cs typeface="Inter"/>
                <a:sym typeface="Inter"/>
              </a:rPr>
              <a: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2923" y="610095"/>
            <a:ext cx="5451344" cy="6924340"/>
          </a:xfrm>
          <a:custGeom>
            <a:avLst/>
            <a:gdLst/>
            <a:ahLst/>
            <a:cxnLst/>
            <a:rect r="r" b="b" t="t" l="l"/>
            <a:pathLst>
              <a:path h="6924340" w="5451344">
                <a:moveTo>
                  <a:pt x="0" y="0"/>
                </a:moveTo>
                <a:lnTo>
                  <a:pt x="5451344" y="0"/>
                </a:lnTo>
                <a:lnTo>
                  <a:pt x="5451344" y="6924340"/>
                </a:lnTo>
                <a:lnTo>
                  <a:pt x="0" y="6924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78324">
            <a:off x="1153800" y="7869185"/>
            <a:ext cx="969389" cy="1306774"/>
          </a:xfrm>
          <a:custGeom>
            <a:avLst/>
            <a:gdLst/>
            <a:ahLst/>
            <a:cxnLst/>
            <a:rect r="r" b="b" t="t" l="l"/>
            <a:pathLst>
              <a:path h="1306774" w="969389">
                <a:moveTo>
                  <a:pt x="0" y="0"/>
                </a:moveTo>
                <a:lnTo>
                  <a:pt x="969389" y="0"/>
                </a:lnTo>
                <a:lnTo>
                  <a:pt x="969389" y="1306774"/>
                </a:lnTo>
                <a:lnTo>
                  <a:pt x="0" y="13067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14666" y="2166144"/>
            <a:ext cx="1127677" cy="1127677"/>
          </a:xfrm>
          <a:custGeom>
            <a:avLst/>
            <a:gdLst/>
            <a:ahLst/>
            <a:cxnLst/>
            <a:rect r="r" b="b" t="t" l="l"/>
            <a:pathLst>
              <a:path h="1127677" w="1127677">
                <a:moveTo>
                  <a:pt x="0" y="0"/>
                </a:moveTo>
                <a:lnTo>
                  <a:pt x="1127677" y="0"/>
                </a:lnTo>
                <a:lnTo>
                  <a:pt x="1127677" y="1127677"/>
                </a:lnTo>
                <a:lnTo>
                  <a:pt x="0" y="11276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140168" y="4362450"/>
            <a:ext cx="7107899" cy="1571625"/>
          </a:xfrm>
          <a:prstGeom prst="rect">
            <a:avLst/>
          </a:prstGeom>
        </p:spPr>
        <p:txBody>
          <a:bodyPr anchor="t" rtlCol="false" tIns="0" lIns="0" bIns="0" rIns="0">
            <a:spAutoFit/>
          </a:bodyPr>
          <a:lstStyle/>
          <a:p>
            <a:pPr algn="l">
              <a:lnSpc>
                <a:spcPts val="12480"/>
              </a:lnSpc>
            </a:pPr>
            <a:r>
              <a:rPr lang="en-US" sz="10400">
                <a:solidFill>
                  <a:srgbClr val="000000"/>
                </a:solidFill>
                <a:latin typeface="Anton"/>
                <a:ea typeface="Anton"/>
                <a:cs typeface="Anton"/>
                <a:sym typeface="Anton"/>
              </a:rPr>
              <a:t>EJEMPLO</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2923" y="610095"/>
            <a:ext cx="5451344" cy="6924340"/>
          </a:xfrm>
          <a:custGeom>
            <a:avLst/>
            <a:gdLst/>
            <a:ahLst/>
            <a:cxnLst/>
            <a:rect r="r" b="b" t="t" l="l"/>
            <a:pathLst>
              <a:path h="6924340" w="5451344">
                <a:moveTo>
                  <a:pt x="0" y="0"/>
                </a:moveTo>
                <a:lnTo>
                  <a:pt x="5451344" y="0"/>
                </a:lnTo>
                <a:lnTo>
                  <a:pt x="5451344" y="6924340"/>
                </a:lnTo>
                <a:lnTo>
                  <a:pt x="0" y="6924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78324">
            <a:off x="1153800" y="7869185"/>
            <a:ext cx="969389" cy="1306774"/>
          </a:xfrm>
          <a:custGeom>
            <a:avLst/>
            <a:gdLst/>
            <a:ahLst/>
            <a:cxnLst/>
            <a:rect r="r" b="b" t="t" l="l"/>
            <a:pathLst>
              <a:path h="1306774" w="969389">
                <a:moveTo>
                  <a:pt x="0" y="0"/>
                </a:moveTo>
                <a:lnTo>
                  <a:pt x="969389" y="0"/>
                </a:lnTo>
                <a:lnTo>
                  <a:pt x="969389" y="1306774"/>
                </a:lnTo>
                <a:lnTo>
                  <a:pt x="0" y="13067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14666" y="2166144"/>
            <a:ext cx="1127677" cy="1127677"/>
          </a:xfrm>
          <a:custGeom>
            <a:avLst/>
            <a:gdLst/>
            <a:ahLst/>
            <a:cxnLst/>
            <a:rect r="r" b="b" t="t" l="l"/>
            <a:pathLst>
              <a:path h="1127677" w="1127677">
                <a:moveTo>
                  <a:pt x="0" y="0"/>
                </a:moveTo>
                <a:lnTo>
                  <a:pt x="1127677" y="0"/>
                </a:lnTo>
                <a:lnTo>
                  <a:pt x="1127677" y="1127677"/>
                </a:lnTo>
                <a:lnTo>
                  <a:pt x="0" y="11276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140168" y="4362450"/>
            <a:ext cx="7107899" cy="1571625"/>
          </a:xfrm>
          <a:prstGeom prst="rect">
            <a:avLst/>
          </a:prstGeom>
        </p:spPr>
        <p:txBody>
          <a:bodyPr anchor="t" rtlCol="false" tIns="0" lIns="0" bIns="0" rIns="0">
            <a:spAutoFit/>
          </a:bodyPr>
          <a:lstStyle/>
          <a:p>
            <a:pPr algn="l">
              <a:lnSpc>
                <a:spcPts val="12480"/>
              </a:lnSpc>
            </a:pPr>
            <a:r>
              <a:rPr lang="en-US" sz="10400">
                <a:solidFill>
                  <a:srgbClr val="000000"/>
                </a:solidFill>
                <a:latin typeface="Anton"/>
                <a:ea typeface="Anton"/>
                <a:cs typeface="Anton"/>
                <a:sym typeface="Anton"/>
              </a:rPr>
              <a:t>DUDAS?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DAHAqLluoVk</dc:identifier>
  <dcterms:modified xsi:type="dcterms:W3CDTF">2011-08-01T06:04:30Z</dcterms:modified>
  <cp:revision>1</cp:revision>
  <dc:title>SEMANA 3</dc:title>
</cp:coreProperties>
</file>