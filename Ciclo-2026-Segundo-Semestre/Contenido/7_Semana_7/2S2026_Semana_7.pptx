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Arial MT Pro Bold" charset="1" panose="020B0802020202020204"/>
      <p:regular r:id="rId37"/>
    </p:embeddedFont>
    <p:embeddedFont>
      <p:font typeface="Arial MT Pro" charset="1" panose="020B0502020202020204"/>
      <p:regular r:id="rId38"/>
    </p:embeddedFont>
    <p:embeddedFont>
      <p:font typeface="Open Sans 1 Bold" charset="1" panose="00000000000000000000"/>
      <p:regular r:id="rId40"/>
    </p:embeddedFont>
    <p:embeddedFont>
      <p:font typeface="Arial" charset="1" panose="020B0604020202020204"/>
      <p:regular r:id="rId42"/>
    </p:embeddedFont>
    <p:embeddedFont>
      <p:font typeface="Pacifico" charset="1" panose="00000500000000000000"/>
      <p:regular r:id="rId43"/>
    </p:embeddedFont>
    <p:embeddedFont>
      <p:font typeface="Lobster" charset="1" panose="00000500000000000000"/>
      <p:regular r:id="rId44"/>
    </p:embeddedFont>
    <p:embeddedFont>
      <p:font typeface="Impact" charset="1" panose="020B0806030902050204"/>
      <p:regular r:id="rId46"/>
    </p:embeddedFont>
    <p:embeddedFont>
      <p:font typeface="Canva Sans" charset="1" panose="020B0503030501040103"/>
      <p:regular r:id="rId47"/>
    </p:embeddedFont>
    <p:embeddedFont>
      <p:font typeface="Open Sans 2 Bold" charset="1" panose="020B0806030504020204"/>
      <p:regular r:id="rId48"/>
    </p:embeddedFont>
    <p:embeddedFont>
      <p:font typeface="Canva Sans Bold" charset="1" panose="020B0803030501040103"/>
      <p:regular r:id="rId49"/>
    </p:embeddedFont>
    <p:embeddedFont>
      <p:font typeface="Poppins Bold" charset="1" panose="00000800000000000000"/>
      <p:regular r:id="rId50"/>
    </p:embeddedFont>
    <p:embeddedFont>
      <p:font typeface="Open Sans 2" charset="1" panose="020B0606030504020204"/>
      <p:regular r:id="rId53"/>
    </p:embeddedFont>
    <p:embeddedFont>
      <p:font typeface="Open Sans 1" charset="1" panose="00000000000000000000"/>
      <p:regular r:id="rId57"/>
    </p:embeddedFont>
    <p:embeddedFont>
      <p:font typeface="Arial Bold" charset="1" panose="020B0704020202020204"/>
      <p:regular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notesMasters/notesMaster1.xml" Type="http://schemas.openxmlformats.org/officeDocument/2006/relationships/notesMaster"/><Relationship Id="rId35" Target="theme/theme2.xml" Type="http://schemas.openxmlformats.org/officeDocument/2006/relationships/theme"/><Relationship Id="rId36" Target="notesSlides/notesSlide1.xml" Type="http://schemas.openxmlformats.org/officeDocument/2006/relationships/notesSlide"/><Relationship Id="rId37" Target="fonts/font37.fntdata" Type="http://schemas.openxmlformats.org/officeDocument/2006/relationships/font"/><Relationship Id="rId38" Target="fonts/font38.fntdata" Type="http://schemas.openxmlformats.org/officeDocument/2006/relationships/font"/><Relationship Id="rId39" Target="notesSlides/notesSlide2.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41" Target="notesSlides/notesSlide3.xml" Type="http://schemas.openxmlformats.org/officeDocument/2006/relationships/notesSlide"/><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notesSlides/notesSlide4.xml" Type="http://schemas.openxmlformats.org/officeDocument/2006/relationships/notesSlide"/><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notesSlides/notesSlide5.xml" Type="http://schemas.openxmlformats.org/officeDocument/2006/relationships/notesSlide"/><Relationship Id="rId52" Target="notesSlides/notesSlide6.xml" Type="http://schemas.openxmlformats.org/officeDocument/2006/relationships/notesSlide"/><Relationship Id="rId53" Target="fonts/font53.fntdata" Type="http://schemas.openxmlformats.org/officeDocument/2006/relationships/font"/><Relationship Id="rId54" Target="notesSlides/notesSlide7.xml" Type="http://schemas.openxmlformats.org/officeDocument/2006/relationships/notesSlide"/><Relationship Id="rId55" Target="notesSlides/notesSlide8.xml" Type="http://schemas.openxmlformats.org/officeDocument/2006/relationships/notesSlide"/><Relationship Id="rId56" Target="notesSlides/notesSlide9.xml" Type="http://schemas.openxmlformats.org/officeDocument/2006/relationships/notesSlide"/><Relationship Id="rId57" Target="fonts/font57.fntdata" Type="http://schemas.openxmlformats.org/officeDocument/2006/relationships/font"/><Relationship Id="rId58" Target="notesSlides/notesSlide10.xml" Type="http://schemas.openxmlformats.org/officeDocument/2006/relationships/notesSlide"/><Relationship Id="rId59" Target="fonts/font59.fntdata" Type="http://schemas.openxmlformats.org/officeDocument/2006/relationships/font"/><Relationship Id="rId6" Target="slides/slide1.xml" Type="http://schemas.openxmlformats.org/officeDocument/2006/relationships/slide"/><Relationship Id="rId60" Target="notesSlides/notesSlide11.xml" Type="http://schemas.openxmlformats.org/officeDocument/2006/relationships/notesSlide"/><Relationship Id="rId61" Target="notesSlides/notesSlide12.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2" Target="../media/image16.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28.png" Type="http://schemas.openxmlformats.org/officeDocument/2006/relationships/image"/><Relationship Id="rId4" Target="../media/image3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2.png" Type="http://schemas.openxmlformats.org/officeDocument/2006/relationships/image"/><Relationship Id="rId4" Target="../media/image2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36.png" Type="http://schemas.openxmlformats.org/officeDocument/2006/relationships/image"/><Relationship Id="rId4" Target="https://www.cs.usfca.edu/~galles/visualization/BST.html" TargetMode="External" Type="http://schemas.openxmlformats.org/officeDocument/2006/relationships/hyperlink"/><Relationship Id="rId5" Target="https://conclase.net/c/edd/cap8" TargetMode="External" Type="http://schemas.openxmlformats.org/officeDocument/2006/relationships/hyperlink"/></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8.png" Type="http://schemas.openxmlformats.org/officeDocument/2006/relationships/image"/><Relationship Id="rId4" Target="../media/image3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40.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4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4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58206" cy="10287000"/>
            <a:chOff x="0" y="0"/>
            <a:chExt cx="24344275" cy="13716000"/>
          </a:xfrm>
        </p:grpSpPr>
        <p:sp>
          <p:nvSpPr>
            <p:cNvPr name="Freeform 3" id="3"/>
            <p:cNvSpPr/>
            <p:nvPr/>
          </p:nvSpPr>
          <p:spPr>
            <a:xfrm flipH="false" flipV="false" rot="0">
              <a:off x="0" y="0"/>
              <a:ext cx="24344249" cy="13716000"/>
            </a:xfrm>
            <a:custGeom>
              <a:avLst/>
              <a:gdLst/>
              <a:ahLst/>
              <a:cxnLst/>
              <a:rect r="r" b="b" t="t" l="l"/>
              <a:pathLst>
                <a:path h="13716000" w="24344249">
                  <a:moveTo>
                    <a:pt x="0" y="0"/>
                  </a:moveTo>
                  <a:lnTo>
                    <a:pt x="24344249" y="0"/>
                  </a:lnTo>
                  <a:lnTo>
                    <a:pt x="24344249" y="13716000"/>
                  </a:lnTo>
                  <a:lnTo>
                    <a:pt x="0" y="13716000"/>
                  </a:lnTo>
                  <a:lnTo>
                    <a:pt x="0" y="0"/>
                  </a:lnTo>
                  <a:close/>
                </a:path>
              </a:pathLst>
            </a:custGeom>
            <a:blipFill>
              <a:blip r:embed="rId3"/>
              <a:stretch>
                <a:fillRect l="0" t="0" r="0" b="0"/>
              </a:stretch>
            </a:blipFill>
          </p:spPr>
        </p:sp>
      </p:grpSp>
      <p:graphicFrame>
        <p:nvGraphicFramePr>
          <p:cNvPr name="Table 4" id="4"/>
          <p:cNvGraphicFramePr>
            <a:graphicFrameLocks noGrp="true"/>
          </p:cNvGraphicFramePr>
          <p:nvPr/>
        </p:nvGraphicFramePr>
        <p:xfrm>
          <a:off x="11506200" y="2233624"/>
          <a:ext cx="6273800" cy="2246251"/>
        </p:xfrm>
        <a:graphic>
          <a:graphicData uri="http://schemas.openxmlformats.org/drawingml/2006/table">
            <a:tbl>
              <a:tblPr/>
              <a:tblGrid>
                <a:gridCol w="2987506"/>
                <a:gridCol w="3286294"/>
              </a:tblGrid>
              <a:tr h="1356509">
                <a:tc>
                  <a:txBody>
                    <a:bodyPr anchor="t" rtlCol="false"/>
                    <a:lstStyle/>
                    <a:p>
                      <a:pPr algn="ctr">
                        <a:lnSpc>
                          <a:spcPts val="3862"/>
                        </a:lnSpc>
                        <a:defRPr/>
                      </a:pPr>
                      <a:r>
                        <a:rPr lang="en-US" b="true" sz="2299">
                          <a:solidFill>
                            <a:srgbClr val="000000"/>
                          </a:solidFill>
                          <a:latin typeface="Arial MT Pro Bold"/>
                          <a:ea typeface="Arial MT Pro Bold"/>
                          <a:cs typeface="Arial MT Pro Bold"/>
                          <a:sym typeface="Arial MT Pro Bold"/>
                        </a:rPr>
                        <a:t>Dia, Fecha: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862"/>
                        </a:lnSpc>
                        <a:defRPr/>
                      </a:pPr>
                      <a:r>
                        <a:rPr lang="en-US" sz="2299">
                          <a:solidFill>
                            <a:srgbClr val="000000"/>
                          </a:solidFill>
                          <a:latin typeface="Arial MT Pro"/>
                          <a:ea typeface="Arial MT Pro"/>
                          <a:cs typeface="Arial MT Pro"/>
                          <a:sym typeface="Arial MT Pro"/>
                        </a:rPr>
                        <a:t>Miercoles</a:t>
                      </a:r>
                      <a:r>
                        <a:rPr lang="en-US" sz="2299">
                          <a:solidFill>
                            <a:srgbClr val="000000"/>
                          </a:solidFill>
                          <a:latin typeface="Arial MT Pro"/>
                          <a:ea typeface="Arial MT Pro"/>
                          <a:cs typeface="Arial MT Pro"/>
                          <a:sym typeface="Arial MT Pro"/>
                        </a:rPr>
                        <a:t>, 22/09/2025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89743">
                <a:tc>
                  <a:txBody>
                    <a:bodyPr anchor="t" rtlCol="false"/>
                    <a:lstStyle/>
                    <a:p>
                      <a:pPr algn="ctr">
                        <a:lnSpc>
                          <a:spcPts val="3862"/>
                        </a:lnSpc>
                        <a:defRPr/>
                      </a:pPr>
                      <a:r>
                        <a:rPr lang="en-US" b="true" sz="2299">
                          <a:solidFill>
                            <a:srgbClr val="000000"/>
                          </a:solidFill>
                          <a:latin typeface="Arial MT Pro Bold"/>
                          <a:ea typeface="Arial MT Pro Bold"/>
                          <a:cs typeface="Arial MT Pro Bold"/>
                          <a:sym typeface="Arial MT Pro Bold"/>
                        </a:rPr>
                        <a:t>Hora de Inicio: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862"/>
                        </a:lnSpc>
                        <a:defRPr/>
                      </a:pPr>
                      <a:r>
                        <a:rPr lang="en-US" sz="2299">
                          <a:solidFill>
                            <a:srgbClr val="000000"/>
                          </a:solidFill>
                          <a:latin typeface="Arial MT Pro"/>
                          <a:ea typeface="Arial MT Pro"/>
                          <a:cs typeface="Arial MT Pro"/>
                          <a:sym typeface="Arial MT Pro"/>
                        </a:rPr>
                        <a:t>17:20 - 19:00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grpSp>
        <p:nvGrpSpPr>
          <p:cNvPr name="Group 5" id="5"/>
          <p:cNvGrpSpPr/>
          <p:nvPr/>
        </p:nvGrpSpPr>
        <p:grpSpPr>
          <a:xfrm rot="0">
            <a:off x="3953101" y="5029200"/>
            <a:ext cx="11746500" cy="1058915"/>
            <a:chOff x="0" y="0"/>
            <a:chExt cx="15662000" cy="1411887"/>
          </a:xfrm>
        </p:grpSpPr>
        <p:sp>
          <p:nvSpPr>
            <p:cNvPr name="Freeform 6" id="6"/>
            <p:cNvSpPr/>
            <p:nvPr/>
          </p:nvSpPr>
          <p:spPr>
            <a:xfrm flipH="false" flipV="false" rot="0">
              <a:off x="0" y="0"/>
              <a:ext cx="15662001" cy="1411887"/>
            </a:xfrm>
            <a:custGeom>
              <a:avLst/>
              <a:gdLst/>
              <a:ahLst/>
              <a:cxnLst/>
              <a:rect r="r" b="b" t="t" l="l"/>
              <a:pathLst>
                <a:path h="1411887" w="15662001">
                  <a:moveTo>
                    <a:pt x="0" y="0"/>
                  </a:moveTo>
                  <a:lnTo>
                    <a:pt x="15662001" y="0"/>
                  </a:lnTo>
                  <a:lnTo>
                    <a:pt x="15662001" y="1411887"/>
                  </a:lnTo>
                  <a:lnTo>
                    <a:pt x="0" y="1411887"/>
                  </a:lnTo>
                  <a:close/>
                </a:path>
              </a:pathLst>
            </a:custGeom>
            <a:solidFill>
              <a:srgbClr val="000000">
                <a:alpha val="0"/>
              </a:srgbClr>
            </a:solidFill>
          </p:spPr>
        </p:sp>
        <p:sp>
          <p:nvSpPr>
            <p:cNvPr name="TextBox 7" id="7"/>
            <p:cNvSpPr txBox="true"/>
            <p:nvPr/>
          </p:nvSpPr>
          <p:spPr>
            <a:xfrm>
              <a:off x="0" y="-381000"/>
              <a:ext cx="15662000" cy="1792887"/>
            </a:xfrm>
            <a:prstGeom prst="rect">
              <a:avLst/>
            </a:prstGeom>
          </p:spPr>
          <p:txBody>
            <a:bodyPr anchor="t" rtlCol="false" tIns="0" lIns="0" bIns="0" rIns="0"/>
            <a:lstStyle/>
            <a:p>
              <a:pPr algn="ctr">
                <a:lnSpc>
                  <a:spcPts val="9639"/>
                </a:lnSpc>
              </a:pPr>
              <a:r>
                <a:rPr lang="en-US" b="true" sz="5738">
                  <a:solidFill>
                    <a:srgbClr val="000000"/>
                  </a:solidFill>
                  <a:latin typeface="Arial MT Pro Bold"/>
                  <a:ea typeface="Arial MT Pro Bold"/>
                  <a:cs typeface="Arial MT Pro Bold"/>
                  <a:sym typeface="Arial MT Pro Bold"/>
                </a:rPr>
                <a:t>ESTRUCTURAS DE DATOS [B]</a:t>
              </a:r>
            </a:p>
          </p:txBody>
        </p:sp>
      </p:grpSp>
      <p:grpSp>
        <p:nvGrpSpPr>
          <p:cNvPr name="Group 8" id="8"/>
          <p:cNvGrpSpPr/>
          <p:nvPr/>
        </p:nvGrpSpPr>
        <p:grpSpPr>
          <a:xfrm rot="0">
            <a:off x="4929319" y="6616524"/>
            <a:ext cx="8399700" cy="760778"/>
            <a:chOff x="0" y="0"/>
            <a:chExt cx="11199600" cy="1014371"/>
          </a:xfrm>
        </p:grpSpPr>
        <p:sp>
          <p:nvSpPr>
            <p:cNvPr name="Freeform 9" id="9"/>
            <p:cNvSpPr/>
            <p:nvPr/>
          </p:nvSpPr>
          <p:spPr>
            <a:xfrm flipH="false" flipV="false" rot="0">
              <a:off x="0" y="0"/>
              <a:ext cx="11199600" cy="1014371"/>
            </a:xfrm>
            <a:custGeom>
              <a:avLst/>
              <a:gdLst/>
              <a:ahLst/>
              <a:cxnLst/>
              <a:rect r="r" b="b" t="t" l="l"/>
              <a:pathLst>
                <a:path h="1014371" w="11199600">
                  <a:moveTo>
                    <a:pt x="0" y="0"/>
                  </a:moveTo>
                  <a:lnTo>
                    <a:pt x="11199600" y="0"/>
                  </a:lnTo>
                  <a:lnTo>
                    <a:pt x="11199600" y="1014371"/>
                  </a:lnTo>
                  <a:lnTo>
                    <a:pt x="0" y="1014371"/>
                  </a:lnTo>
                  <a:close/>
                </a:path>
              </a:pathLst>
            </a:custGeom>
            <a:solidFill>
              <a:srgbClr val="000000">
                <a:alpha val="0"/>
              </a:srgbClr>
            </a:solidFill>
          </p:spPr>
        </p:sp>
        <p:sp>
          <p:nvSpPr>
            <p:cNvPr name="TextBox 10" id="10"/>
            <p:cNvSpPr txBox="true"/>
            <p:nvPr/>
          </p:nvSpPr>
          <p:spPr>
            <a:xfrm>
              <a:off x="0" y="-266700"/>
              <a:ext cx="11199600" cy="1281071"/>
            </a:xfrm>
            <a:prstGeom prst="rect">
              <a:avLst/>
            </a:prstGeom>
          </p:spPr>
          <p:txBody>
            <a:bodyPr anchor="t" rtlCol="false" tIns="0" lIns="0" bIns="0" rIns="0"/>
            <a:lstStyle/>
            <a:p>
              <a:pPr algn="ctr">
                <a:lnSpc>
                  <a:spcPts val="6952"/>
                </a:lnSpc>
              </a:pPr>
              <a:r>
                <a:rPr lang="en-US" b="true" sz="4139">
                  <a:solidFill>
                    <a:srgbClr val="000000"/>
                  </a:solidFill>
                  <a:latin typeface="Arial MT Pro Bold"/>
                  <a:ea typeface="Arial MT Pro Bold"/>
                  <a:cs typeface="Arial MT Pro Bold"/>
                  <a:sym typeface="Arial MT Pro Bold"/>
                </a:rPr>
                <a:t>Nombre auxiliar</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90249" y="7326425"/>
            <a:ext cx="8526600" cy="981021"/>
          </a:xfrm>
          <a:prstGeom prst="rect">
            <a:avLst/>
          </a:prstGeom>
        </p:spPr>
        <p:txBody>
          <a:bodyPr anchor="t" rtlCol="false" tIns="0" lIns="0" bIns="0" rIns="0">
            <a:spAutoFit/>
          </a:bodyPr>
          <a:lstStyle/>
          <a:p>
            <a:pPr algn="ctr">
              <a:lnSpc>
                <a:spcPts val="8399"/>
              </a:lnSpc>
            </a:pPr>
            <a:r>
              <a:rPr lang="en-US" b="true" sz="4999">
                <a:solidFill>
                  <a:srgbClr val="131416"/>
                </a:solidFill>
                <a:latin typeface="Open Sans 1 Bold"/>
                <a:ea typeface="Open Sans 1 Bold"/>
                <a:cs typeface="Open Sans 1 Bold"/>
                <a:sym typeface="Open Sans 1 Bold"/>
              </a:rPr>
              <a:t>Estructura de datos</a:t>
            </a:r>
          </a:p>
        </p:txBody>
      </p:sp>
      <p:sp>
        <p:nvSpPr>
          <p:cNvPr name="TextBox 3" id="3"/>
          <p:cNvSpPr txBox="true"/>
          <p:nvPr/>
        </p:nvSpPr>
        <p:spPr>
          <a:xfrm rot="0">
            <a:off x="1918458" y="3191287"/>
            <a:ext cx="14451084" cy="1820364"/>
          </a:xfrm>
          <a:prstGeom prst="rect">
            <a:avLst/>
          </a:prstGeom>
        </p:spPr>
        <p:txBody>
          <a:bodyPr anchor="t" rtlCol="false" tIns="0" lIns="0" bIns="0" rIns="0">
            <a:spAutoFit/>
          </a:bodyPr>
          <a:lstStyle/>
          <a:p>
            <a:pPr algn="ctr">
              <a:lnSpc>
                <a:spcPts val="15456"/>
              </a:lnSpc>
            </a:pPr>
            <a:r>
              <a:rPr lang="en-US" b="true" sz="9200">
                <a:solidFill>
                  <a:srgbClr val="131416"/>
                </a:solidFill>
                <a:latin typeface="Open Sans 1 Bold"/>
                <a:ea typeface="Open Sans 1 Bold"/>
                <a:cs typeface="Open Sans 1 Bold"/>
                <a:sym typeface="Open Sans 1 Bold"/>
              </a:rPr>
              <a:t>Arboles</a:t>
            </a:r>
          </a:p>
        </p:txBody>
      </p:sp>
      <p:sp>
        <p:nvSpPr>
          <p:cNvPr name="TextBox 4" id="4"/>
          <p:cNvSpPr txBox="true"/>
          <p:nvPr/>
        </p:nvSpPr>
        <p:spPr>
          <a:xfrm rot="0">
            <a:off x="1063303" y="8630951"/>
            <a:ext cx="6981379" cy="536575"/>
          </a:xfrm>
          <a:prstGeom prst="rect">
            <a:avLst/>
          </a:prstGeom>
        </p:spPr>
        <p:txBody>
          <a:bodyPr anchor="t" rtlCol="false" tIns="0" lIns="0" bIns="0" rIns="0">
            <a:spAutoFit/>
          </a:bodyPr>
          <a:lstStyle/>
          <a:p>
            <a:pPr algn="ctr">
              <a:lnSpc>
                <a:spcPts val="4198"/>
              </a:lnSpc>
            </a:pPr>
            <a:r>
              <a:rPr lang="en-US" b="true" sz="2499">
                <a:solidFill>
                  <a:srgbClr val="131416"/>
                </a:solidFill>
                <a:latin typeface="Open Sans 1 Bold"/>
                <a:ea typeface="Open Sans 1 Bold"/>
                <a:cs typeface="Open Sans 1 Bold"/>
                <a:sym typeface="Open Sans 1 Bold"/>
              </a:rPr>
              <a:t>Escuela de Ingenieria de Ciencias Y Sistemas</a:t>
            </a:r>
          </a:p>
        </p:txBody>
      </p:sp>
      <p:sp>
        <p:nvSpPr>
          <p:cNvPr name="TextBox 5" id="5"/>
          <p:cNvSpPr txBox="true"/>
          <p:nvPr/>
        </p:nvSpPr>
        <p:spPr>
          <a:xfrm rot="0">
            <a:off x="1028700" y="9096375"/>
            <a:ext cx="6667500" cy="536575"/>
          </a:xfrm>
          <a:prstGeom prst="rect">
            <a:avLst/>
          </a:prstGeom>
        </p:spPr>
        <p:txBody>
          <a:bodyPr anchor="t" rtlCol="false" tIns="0" lIns="0" bIns="0" rIns="0">
            <a:spAutoFit/>
          </a:bodyPr>
          <a:lstStyle/>
          <a:p>
            <a:pPr algn="l">
              <a:lnSpc>
                <a:spcPts val="4198"/>
              </a:lnSpc>
            </a:pPr>
            <a:r>
              <a:rPr lang="en-US" b="true" sz="2499">
                <a:solidFill>
                  <a:srgbClr val="131416"/>
                </a:solidFill>
                <a:latin typeface="Open Sans 1 Bold"/>
                <a:ea typeface="Open Sans 1 Bold"/>
                <a:cs typeface="Open Sans 1 Bold"/>
                <a:sym typeface="Open Sans 1 Bold"/>
              </a:rPr>
              <a:t>Facultad de Ingenieria</a:t>
            </a:r>
          </a:p>
        </p:txBody>
      </p:sp>
      <p:sp>
        <p:nvSpPr>
          <p:cNvPr name="TextBox 6" id="6"/>
          <p:cNvSpPr txBox="true"/>
          <p:nvPr/>
        </p:nvSpPr>
        <p:spPr>
          <a:xfrm rot="0">
            <a:off x="228600" y="9473954"/>
            <a:ext cx="8115300" cy="533646"/>
          </a:xfrm>
          <a:prstGeom prst="rect">
            <a:avLst/>
          </a:prstGeom>
        </p:spPr>
        <p:txBody>
          <a:bodyPr anchor="t" rtlCol="false" tIns="0" lIns="0" bIns="0" rIns="0">
            <a:spAutoFit/>
          </a:bodyPr>
          <a:lstStyle/>
          <a:p>
            <a:pPr algn="ctr">
              <a:lnSpc>
                <a:spcPts val="4198"/>
              </a:lnSpc>
            </a:pPr>
            <a:r>
              <a:rPr lang="en-US" b="true" sz="2499">
                <a:solidFill>
                  <a:srgbClr val="131416"/>
                </a:solidFill>
                <a:latin typeface="Open Sans 1 Bold"/>
                <a:ea typeface="Open Sans 1 Bold"/>
                <a:cs typeface="Open Sans 1 Bold"/>
                <a:sym typeface="Open Sans 1 Bold"/>
              </a:rPr>
              <a:t>Universidad de San Carlos de Guatemala</a:t>
            </a:r>
          </a:p>
        </p:txBody>
      </p:sp>
      <p:grpSp>
        <p:nvGrpSpPr>
          <p:cNvPr name="Group 7" id="7"/>
          <p:cNvGrpSpPr>
            <a:grpSpLocks noChangeAspect="true"/>
          </p:cNvGrpSpPr>
          <p:nvPr/>
        </p:nvGrpSpPr>
        <p:grpSpPr>
          <a:xfrm rot="0">
            <a:off x="8044675" y="0"/>
            <a:ext cx="10243325" cy="1067013"/>
            <a:chOff x="0" y="0"/>
            <a:chExt cx="13657767" cy="1422684"/>
          </a:xfrm>
        </p:grpSpPr>
        <p:sp>
          <p:nvSpPr>
            <p:cNvPr name="Freeform 8" id="8"/>
            <p:cNvSpPr/>
            <p:nvPr/>
          </p:nvSpPr>
          <p:spPr>
            <a:xfrm flipH="false" flipV="false" rot="0">
              <a:off x="0" y="0"/>
              <a:ext cx="13657707" cy="1422654"/>
            </a:xfrm>
            <a:custGeom>
              <a:avLst/>
              <a:gdLst/>
              <a:ahLst/>
              <a:cxnLst/>
              <a:rect r="r" b="b" t="t" l="l"/>
              <a:pathLst>
                <a:path h="1422654" w="13657707">
                  <a:moveTo>
                    <a:pt x="0" y="0"/>
                  </a:moveTo>
                  <a:lnTo>
                    <a:pt x="13657707" y="0"/>
                  </a:lnTo>
                  <a:lnTo>
                    <a:pt x="13657707" y="1422654"/>
                  </a:lnTo>
                  <a:lnTo>
                    <a:pt x="0" y="1422654"/>
                  </a:lnTo>
                  <a:lnTo>
                    <a:pt x="0" y="0"/>
                  </a:lnTo>
                  <a:close/>
                </a:path>
              </a:pathLst>
            </a:custGeom>
            <a:blipFill>
              <a:blip r:embed="rId3"/>
              <a:stretch>
                <a:fillRect l="0" t="-274" r="0" b="-276"/>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6619" y="4699462"/>
            <a:ext cx="4613551" cy="666407"/>
            <a:chOff x="0" y="0"/>
            <a:chExt cx="6151401" cy="888543"/>
          </a:xfrm>
        </p:grpSpPr>
        <p:sp>
          <p:nvSpPr>
            <p:cNvPr name="Freeform 3" id="3"/>
            <p:cNvSpPr/>
            <p:nvPr/>
          </p:nvSpPr>
          <p:spPr>
            <a:xfrm flipH="false" flipV="false" rot="0">
              <a:off x="0" y="0"/>
              <a:ext cx="6151372" cy="888492"/>
            </a:xfrm>
            <a:custGeom>
              <a:avLst/>
              <a:gdLst/>
              <a:ahLst/>
              <a:cxnLst/>
              <a:rect r="r" b="b" t="t" l="l"/>
              <a:pathLst>
                <a:path h="888492" w="6151372">
                  <a:moveTo>
                    <a:pt x="5514975" y="0"/>
                  </a:moveTo>
                  <a:lnTo>
                    <a:pt x="0" y="0"/>
                  </a:lnTo>
                  <a:lnTo>
                    <a:pt x="0" y="888492"/>
                  </a:lnTo>
                  <a:lnTo>
                    <a:pt x="5514975" y="888492"/>
                  </a:lnTo>
                  <a:lnTo>
                    <a:pt x="6151372" y="444246"/>
                  </a:lnTo>
                  <a:lnTo>
                    <a:pt x="5514975" y="0"/>
                  </a:lnTo>
                  <a:close/>
                </a:path>
              </a:pathLst>
            </a:custGeom>
            <a:solidFill>
              <a:srgbClr val="FFFFFF"/>
            </a:solidFill>
          </p:spPr>
        </p:sp>
      </p:grpSp>
      <p:grpSp>
        <p:nvGrpSpPr>
          <p:cNvPr name="Group 4" id="4"/>
          <p:cNvGrpSpPr/>
          <p:nvPr/>
        </p:nvGrpSpPr>
        <p:grpSpPr>
          <a:xfrm rot="0">
            <a:off x="1105333" y="4625495"/>
            <a:ext cx="6047939" cy="845385"/>
            <a:chOff x="0" y="0"/>
            <a:chExt cx="8063919" cy="1127180"/>
          </a:xfrm>
        </p:grpSpPr>
        <p:sp>
          <p:nvSpPr>
            <p:cNvPr name="Freeform 5" id="5"/>
            <p:cNvSpPr/>
            <p:nvPr/>
          </p:nvSpPr>
          <p:spPr>
            <a:xfrm flipH="false" flipV="false" rot="0">
              <a:off x="0" y="0"/>
              <a:ext cx="8063919" cy="1127180"/>
            </a:xfrm>
            <a:custGeom>
              <a:avLst/>
              <a:gdLst/>
              <a:ahLst/>
              <a:cxnLst/>
              <a:rect r="r" b="b" t="t" l="l"/>
              <a:pathLst>
                <a:path h="1127180" w="8063919">
                  <a:moveTo>
                    <a:pt x="0" y="0"/>
                  </a:moveTo>
                  <a:lnTo>
                    <a:pt x="8063919" y="0"/>
                  </a:lnTo>
                  <a:lnTo>
                    <a:pt x="8063919" y="1127180"/>
                  </a:lnTo>
                  <a:lnTo>
                    <a:pt x="0" y="1127180"/>
                  </a:lnTo>
                  <a:close/>
                </a:path>
              </a:pathLst>
            </a:custGeom>
            <a:solidFill>
              <a:srgbClr val="000000">
                <a:alpha val="0"/>
              </a:srgbClr>
            </a:solidFill>
          </p:spPr>
        </p:sp>
        <p:sp>
          <p:nvSpPr>
            <p:cNvPr name="TextBox 6" id="6"/>
            <p:cNvSpPr txBox="true"/>
            <p:nvPr/>
          </p:nvSpPr>
          <p:spPr>
            <a:xfrm>
              <a:off x="0" y="-171450"/>
              <a:ext cx="8063919" cy="1298630"/>
            </a:xfrm>
            <a:prstGeom prst="rect">
              <a:avLst/>
            </a:prstGeom>
          </p:spPr>
          <p:txBody>
            <a:bodyPr anchor="ctr" rtlCol="false" tIns="0" lIns="0" bIns="0" rIns="0"/>
            <a:lstStyle/>
            <a:p>
              <a:pPr algn="ctr">
                <a:lnSpc>
                  <a:spcPts val="4971"/>
                </a:lnSpc>
              </a:pPr>
              <a:r>
                <a:rPr lang="en-US" sz="2799">
                  <a:solidFill>
                    <a:srgbClr val="000000"/>
                  </a:solidFill>
                  <a:latin typeface="Arial"/>
                  <a:ea typeface="Arial"/>
                  <a:cs typeface="Arial"/>
                  <a:sym typeface="Arial"/>
                </a:rPr>
                <a:t>Definición arbol BST</a:t>
              </a:r>
            </a:p>
          </p:txBody>
        </p:sp>
      </p:grpSp>
      <p:grpSp>
        <p:nvGrpSpPr>
          <p:cNvPr name="Group 7" id="7"/>
          <p:cNvGrpSpPr/>
          <p:nvPr/>
        </p:nvGrpSpPr>
        <p:grpSpPr>
          <a:xfrm rot="0">
            <a:off x="878654" y="4740441"/>
            <a:ext cx="453358" cy="550094"/>
            <a:chOff x="0" y="0"/>
            <a:chExt cx="604477" cy="733459"/>
          </a:xfrm>
        </p:grpSpPr>
        <p:sp>
          <p:nvSpPr>
            <p:cNvPr name="Freeform 8" id="8"/>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3"/>
              <a:stretch>
                <a:fillRect l="0" t="0" r="7" b="-4"/>
              </a:stretch>
            </a:blipFill>
          </p:spPr>
        </p:sp>
      </p:grpSp>
      <p:grpSp>
        <p:nvGrpSpPr>
          <p:cNvPr name="Group 9" id="9"/>
          <p:cNvGrpSpPr/>
          <p:nvPr/>
        </p:nvGrpSpPr>
        <p:grpSpPr>
          <a:xfrm rot="0">
            <a:off x="1866989" y="3303305"/>
            <a:ext cx="4115190" cy="1267162"/>
            <a:chOff x="0" y="0"/>
            <a:chExt cx="5486920" cy="1689549"/>
          </a:xfrm>
        </p:grpSpPr>
        <p:sp>
          <p:nvSpPr>
            <p:cNvPr name="Freeform 10" id="10"/>
            <p:cNvSpPr/>
            <p:nvPr/>
          </p:nvSpPr>
          <p:spPr>
            <a:xfrm flipH="false" flipV="false" rot="0">
              <a:off x="0" y="0"/>
              <a:ext cx="5486908" cy="1689608"/>
            </a:xfrm>
            <a:custGeom>
              <a:avLst/>
              <a:gdLst/>
              <a:ahLst/>
              <a:cxnLst/>
              <a:rect r="r" b="b" t="t" l="l"/>
              <a:pathLst>
                <a:path h="1689608" w="5486908">
                  <a:moveTo>
                    <a:pt x="4458208" y="0"/>
                  </a:moveTo>
                  <a:lnTo>
                    <a:pt x="0" y="0"/>
                  </a:lnTo>
                  <a:lnTo>
                    <a:pt x="0" y="1689608"/>
                  </a:lnTo>
                  <a:lnTo>
                    <a:pt x="4458208" y="1689608"/>
                  </a:lnTo>
                  <a:lnTo>
                    <a:pt x="5486908" y="844804"/>
                  </a:lnTo>
                  <a:lnTo>
                    <a:pt x="4458208" y="0"/>
                  </a:lnTo>
                  <a:close/>
                </a:path>
              </a:pathLst>
            </a:custGeom>
            <a:solidFill>
              <a:srgbClr val="FFFFFF"/>
            </a:solidFill>
          </p:spPr>
        </p:sp>
      </p:grpSp>
      <p:grpSp>
        <p:nvGrpSpPr>
          <p:cNvPr name="Group 11" id="11"/>
          <p:cNvGrpSpPr/>
          <p:nvPr/>
        </p:nvGrpSpPr>
        <p:grpSpPr>
          <a:xfrm rot="0">
            <a:off x="1866989" y="3013983"/>
            <a:ext cx="3681207" cy="1556484"/>
            <a:chOff x="0" y="0"/>
            <a:chExt cx="4908276" cy="2075312"/>
          </a:xfrm>
        </p:grpSpPr>
        <p:sp>
          <p:nvSpPr>
            <p:cNvPr name="Freeform 12" id="12"/>
            <p:cNvSpPr/>
            <p:nvPr/>
          </p:nvSpPr>
          <p:spPr>
            <a:xfrm flipH="false" flipV="false" rot="0">
              <a:off x="0" y="0"/>
              <a:ext cx="4908276" cy="2075312"/>
            </a:xfrm>
            <a:custGeom>
              <a:avLst/>
              <a:gdLst/>
              <a:ahLst/>
              <a:cxnLst/>
              <a:rect r="r" b="b" t="t" l="l"/>
              <a:pathLst>
                <a:path h="2075312" w="4908276">
                  <a:moveTo>
                    <a:pt x="0" y="0"/>
                  </a:moveTo>
                  <a:lnTo>
                    <a:pt x="4908276" y="0"/>
                  </a:lnTo>
                  <a:lnTo>
                    <a:pt x="4908276" y="2075312"/>
                  </a:lnTo>
                  <a:lnTo>
                    <a:pt x="0" y="2075312"/>
                  </a:lnTo>
                  <a:close/>
                </a:path>
              </a:pathLst>
            </a:custGeom>
            <a:solidFill>
              <a:srgbClr val="000000">
                <a:alpha val="0"/>
              </a:srgbClr>
            </a:solidFill>
          </p:spPr>
        </p:sp>
        <p:sp>
          <p:nvSpPr>
            <p:cNvPr name="TextBox 13" id="13"/>
            <p:cNvSpPr txBox="true"/>
            <p:nvPr/>
          </p:nvSpPr>
          <p:spPr>
            <a:xfrm>
              <a:off x="0" y="-171450"/>
              <a:ext cx="4908276" cy="2246762"/>
            </a:xfrm>
            <a:prstGeom prst="rect">
              <a:avLst/>
            </a:prstGeom>
          </p:spPr>
          <p:txBody>
            <a:bodyPr anchor="ctr" rtlCol="false" tIns="0" lIns="0" bIns="0" rIns="0"/>
            <a:lstStyle/>
            <a:p>
              <a:pPr algn="ctr">
                <a:lnSpc>
                  <a:spcPts val="4971"/>
                </a:lnSpc>
              </a:pPr>
              <a:r>
                <a:rPr lang="en-US" sz="2799">
                  <a:solidFill>
                    <a:srgbClr val="000000"/>
                  </a:solidFill>
                  <a:latin typeface="Arial"/>
                  <a:ea typeface="Arial"/>
                  <a:cs typeface="Arial"/>
                  <a:sym typeface="Arial"/>
                </a:rPr>
                <a:t>RECORDATORIOS</a:t>
              </a:r>
            </a:p>
          </p:txBody>
        </p:sp>
      </p:grpSp>
      <p:grpSp>
        <p:nvGrpSpPr>
          <p:cNvPr name="Group 14" id="14"/>
          <p:cNvGrpSpPr/>
          <p:nvPr/>
        </p:nvGrpSpPr>
        <p:grpSpPr>
          <a:xfrm rot="0">
            <a:off x="651754" y="3429735"/>
            <a:ext cx="753892" cy="872928"/>
            <a:chOff x="0" y="0"/>
            <a:chExt cx="1005189" cy="1163904"/>
          </a:xfrm>
        </p:grpSpPr>
        <p:sp>
          <p:nvSpPr>
            <p:cNvPr name="Freeform 15" id="15"/>
            <p:cNvSpPr/>
            <p:nvPr/>
          </p:nvSpPr>
          <p:spPr>
            <a:xfrm flipH="false" flipV="false" rot="0">
              <a:off x="0" y="0"/>
              <a:ext cx="1005205" cy="1163955"/>
            </a:xfrm>
            <a:custGeom>
              <a:avLst/>
              <a:gdLst/>
              <a:ahLst/>
              <a:cxnLst/>
              <a:rect r="r" b="b" t="t" l="l"/>
              <a:pathLst>
                <a:path h="1163955" w="1005205">
                  <a:moveTo>
                    <a:pt x="0" y="0"/>
                  </a:moveTo>
                  <a:lnTo>
                    <a:pt x="1005205" y="0"/>
                  </a:lnTo>
                  <a:lnTo>
                    <a:pt x="1005205" y="1163955"/>
                  </a:lnTo>
                  <a:lnTo>
                    <a:pt x="0" y="1163955"/>
                  </a:lnTo>
                  <a:lnTo>
                    <a:pt x="0" y="0"/>
                  </a:lnTo>
                  <a:close/>
                </a:path>
              </a:pathLst>
            </a:custGeom>
            <a:blipFill>
              <a:blip r:embed="rId4"/>
              <a:stretch>
                <a:fillRect l="0" t="-36" r="1" b="-31"/>
              </a:stretch>
            </a:blipFill>
          </p:spPr>
        </p:sp>
      </p:grpSp>
      <p:sp>
        <p:nvSpPr>
          <p:cNvPr name="TextBox 16" id="16"/>
          <p:cNvSpPr txBox="true"/>
          <p:nvPr/>
        </p:nvSpPr>
        <p:spPr>
          <a:xfrm rot="0">
            <a:off x="651749" y="233725"/>
            <a:ext cx="7710301" cy="2566125"/>
          </a:xfrm>
          <a:prstGeom prst="rect">
            <a:avLst/>
          </a:prstGeom>
        </p:spPr>
        <p:txBody>
          <a:bodyPr anchor="t" rtlCol="false" tIns="0" lIns="0" bIns="0" rIns="0">
            <a:spAutoFit/>
          </a:bodyPr>
          <a:lstStyle/>
          <a:p>
            <a:pPr algn="l">
              <a:lnSpc>
                <a:spcPts val="20699"/>
              </a:lnSpc>
            </a:pPr>
            <a:r>
              <a:rPr lang="en-US" sz="15000">
                <a:solidFill>
                  <a:srgbClr val="131416"/>
                </a:solidFill>
                <a:latin typeface="Pacifico"/>
                <a:ea typeface="Pacifico"/>
                <a:cs typeface="Pacifico"/>
                <a:sym typeface="Pacifico"/>
              </a:rPr>
              <a:t>Agenda</a:t>
            </a:r>
          </a:p>
        </p:txBody>
      </p:sp>
      <p:sp>
        <p:nvSpPr>
          <p:cNvPr name="TextBox 17" id="17"/>
          <p:cNvSpPr txBox="true"/>
          <p:nvPr/>
        </p:nvSpPr>
        <p:spPr>
          <a:xfrm rot="0">
            <a:off x="10105990" y="143117"/>
            <a:ext cx="8416800" cy="2556450"/>
          </a:xfrm>
          <a:prstGeom prst="rect">
            <a:avLst/>
          </a:prstGeom>
        </p:spPr>
        <p:txBody>
          <a:bodyPr anchor="t" rtlCol="false" tIns="0" lIns="0" bIns="0" rIns="0">
            <a:spAutoFit/>
          </a:bodyPr>
          <a:lstStyle/>
          <a:p>
            <a:pPr algn="l">
              <a:lnSpc>
                <a:spcPts val="20699"/>
              </a:lnSpc>
            </a:pPr>
            <a:r>
              <a:rPr lang="en-US" sz="15000">
                <a:solidFill>
                  <a:srgbClr val="131416"/>
                </a:solidFill>
                <a:latin typeface="Lobster"/>
                <a:ea typeface="Lobster"/>
                <a:cs typeface="Lobster"/>
                <a:sym typeface="Lobster"/>
              </a:rPr>
              <a:t>Recursos</a:t>
            </a:r>
          </a:p>
        </p:txBody>
      </p:sp>
      <p:grpSp>
        <p:nvGrpSpPr>
          <p:cNvPr name="Group 18" id="18"/>
          <p:cNvGrpSpPr/>
          <p:nvPr/>
        </p:nvGrpSpPr>
        <p:grpSpPr>
          <a:xfrm rot="0">
            <a:off x="11739805" y="3232617"/>
            <a:ext cx="5353646" cy="1267162"/>
            <a:chOff x="0" y="0"/>
            <a:chExt cx="7138195" cy="1689549"/>
          </a:xfrm>
        </p:grpSpPr>
        <p:sp>
          <p:nvSpPr>
            <p:cNvPr name="Freeform 19" id="19"/>
            <p:cNvSpPr/>
            <p:nvPr/>
          </p:nvSpPr>
          <p:spPr>
            <a:xfrm flipH="false" flipV="false" rot="0">
              <a:off x="0" y="0"/>
              <a:ext cx="7138162" cy="1689608"/>
            </a:xfrm>
            <a:custGeom>
              <a:avLst/>
              <a:gdLst/>
              <a:ahLst/>
              <a:cxnLst/>
              <a:rect r="r" b="b" t="t" l="l"/>
              <a:pathLst>
                <a:path h="1689608" w="7138162">
                  <a:moveTo>
                    <a:pt x="6109462" y="0"/>
                  </a:moveTo>
                  <a:lnTo>
                    <a:pt x="0" y="0"/>
                  </a:lnTo>
                  <a:lnTo>
                    <a:pt x="0" y="1689608"/>
                  </a:lnTo>
                  <a:lnTo>
                    <a:pt x="6109462" y="1689608"/>
                  </a:lnTo>
                  <a:lnTo>
                    <a:pt x="7138162" y="844804"/>
                  </a:lnTo>
                  <a:lnTo>
                    <a:pt x="6109462" y="0"/>
                  </a:lnTo>
                  <a:close/>
                </a:path>
              </a:pathLst>
            </a:custGeom>
            <a:solidFill>
              <a:srgbClr val="FFFFFF"/>
            </a:solidFill>
          </p:spPr>
        </p:sp>
      </p:grpSp>
      <p:grpSp>
        <p:nvGrpSpPr>
          <p:cNvPr name="Group 20" id="20"/>
          <p:cNvGrpSpPr/>
          <p:nvPr/>
        </p:nvGrpSpPr>
        <p:grpSpPr>
          <a:xfrm rot="0">
            <a:off x="11739805" y="2798634"/>
            <a:ext cx="4919663" cy="1701145"/>
            <a:chOff x="0" y="0"/>
            <a:chExt cx="6559551" cy="2268193"/>
          </a:xfrm>
        </p:grpSpPr>
        <p:sp>
          <p:nvSpPr>
            <p:cNvPr name="Freeform 21" id="21"/>
            <p:cNvSpPr/>
            <p:nvPr/>
          </p:nvSpPr>
          <p:spPr>
            <a:xfrm flipH="false" flipV="false" rot="0">
              <a:off x="0" y="0"/>
              <a:ext cx="6559551" cy="2268193"/>
            </a:xfrm>
            <a:custGeom>
              <a:avLst/>
              <a:gdLst/>
              <a:ahLst/>
              <a:cxnLst/>
              <a:rect r="r" b="b" t="t" l="l"/>
              <a:pathLst>
                <a:path h="2268193" w="6559551">
                  <a:moveTo>
                    <a:pt x="0" y="0"/>
                  </a:moveTo>
                  <a:lnTo>
                    <a:pt x="6559551" y="0"/>
                  </a:lnTo>
                  <a:lnTo>
                    <a:pt x="6559551" y="2268193"/>
                  </a:lnTo>
                  <a:lnTo>
                    <a:pt x="0" y="2268193"/>
                  </a:lnTo>
                  <a:close/>
                </a:path>
              </a:pathLst>
            </a:custGeom>
            <a:solidFill>
              <a:srgbClr val="000000">
                <a:alpha val="0"/>
              </a:srgbClr>
            </a:solidFill>
          </p:spPr>
        </p:sp>
        <p:sp>
          <p:nvSpPr>
            <p:cNvPr name="TextBox 22" id="22"/>
            <p:cNvSpPr txBox="true"/>
            <p:nvPr/>
          </p:nvSpPr>
          <p:spPr>
            <a:xfrm>
              <a:off x="0" y="-266700"/>
              <a:ext cx="6559551" cy="2534893"/>
            </a:xfrm>
            <a:prstGeom prst="rect">
              <a:avLst/>
            </a:prstGeom>
          </p:spPr>
          <p:txBody>
            <a:bodyPr anchor="ctr" rtlCol="false" tIns="0" lIns="0" bIns="0" rIns="0"/>
            <a:lstStyle/>
            <a:p>
              <a:pPr algn="ctr">
                <a:lnSpc>
                  <a:spcPts val="7990"/>
                </a:lnSpc>
              </a:pPr>
              <a:r>
                <a:rPr lang="en-US" sz="4498">
                  <a:solidFill>
                    <a:srgbClr val="000000"/>
                  </a:solidFill>
                  <a:latin typeface="Arial"/>
                  <a:ea typeface="Arial"/>
                  <a:cs typeface="Arial"/>
                  <a:sym typeface="Arial"/>
                </a:rPr>
                <a:t>Link del Video</a:t>
              </a:r>
            </a:p>
          </p:txBody>
        </p:sp>
      </p:grpSp>
      <p:grpSp>
        <p:nvGrpSpPr>
          <p:cNvPr name="Group 23" id="23"/>
          <p:cNvGrpSpPr/>
          <p:nvPr/>
        </p:nvGrpSpPr>
        <p:grpSpPr>
          <a:xfrm rot="0">
            <a:off x="11739805" y="5032666"/>
            <a:ext cx="5353646" cy="1267162"/>
            <a:chOff x="0" y="0"/>
            <a:chExt cx="7138195" cy="1689549"/>
          </a:xfrm>
        </p:grpSpPr>
        <p:sp>
          <p:nvSpPr>
            <p:cNvPr name="Freeform 24" id="24"/>
            <p:cNvSpPr/>
            <p:nvPr/>
          </p:nvSpPr>
          <p:spPr>
            <a:xfrm flipH="false" flipV="false" rot="0">
              <a:off x="0" y="0"/>
              <a:ext cx="7138162" cy="1689608"/>
            </a:xfrm>
            <a:custGeom>
              <a:avLst/>
              <a:gdLst/>
              <a:ahLst/>
              <a:cxnLst/>
              <a:rect r="r" b="b" t="t" l="l"/>
              <a:pathLst>
                <a:path h="1689608" w="7138162">
                  <a:moveTo>
                    <a:pt x="6109462" y="0"/>
                  </a:moveTo>
                  <a:lnTo>
                    <a:pt x="0" y="0"/>
                  </a:lnTo>
                  <a:lnTo>
                    <a:pt x="0" y="1689608"/>
                  </a:lnTo>
                  <a:lnTo>
                    <a:pt x="6109462" y="1689608"/>
                  </a:lnTo>
                  <a:lnTo>
                    <a:pt x="7138162" y="844804"/>
                  </a:lnTo>
                  <a:lnTo>
                    <a:pt x="6109462" y="0"/>
                  </a:lnTo>
                  <a:close/>
                </a:path>
              </a:pathLst>
            </a:custGeom>
            <a:solidFill>
              <a:srgbClr val="FFFFFF"/>
            </a:solidFill>
          </p:spPr>
        </p:sp>
      </p:grpSp>
      <p:grpSp>
        <p:nvGrpSpPr>
          <p:cNvPr name="Group 25" id="25"/>
          <p:cNvGrpSpPr/>
          <p:nvPr/>
        </p:nvGrpSpPr>
        <p:grpSpPr>
          <a:xfrm rot="0">
            <a:off x="11739805" y="4598683"/>
            <a:ext cx="4919663" cy="1701145"/>
            <a:chOff x="0" y="0"/>
            <a:chExt cx="6559551" cy="2268193"/>
          </a:xfrm>
        </p:grpSpPr>
        <p:sp>
          <p:nvSpPr>
            <p:cNvPr name="Freeform 26" id="26"/>
            <p:cNvSpPr/>
            <p:nvPr/>
          </p:nvSpPr>
          <p:spPr>
            <a:xfrm flipH="false" flipV="false" rot="0">
              <a:off x="0" y="0"/>
              <a:ext cx="6559551" cy="2268193"/>
            </a:xfrm>
            <a:custGeom>
              <a:avLst/>
              <a:gdLst/>
              <a:ahLst/>
              <a:cxnLst/>
              <a:rect r="r" b="b" t="t" l="l"/>
              <a:pathLst>
                <a:path h="2268193" w="6559551">
                  <a:moveTo>
                    <a:pt x="0" y="0"/>
                  </a:moveTo>
                  <a:lnTo>
                    <a:pt x="6559551" y="0"/>
                  </a:lnTo>
                  <a:lnTo>
                    <a:pt x="6559551" y="2268193"/>
                  </a:lnTo>
                  <a:lnTo>
                    <a:pt x="0" y="2268193"/>
                  </a:lnTo>
                  <a:close/>
                </a:path>
              </a:pathLst>
            </a:custGeom>
            <a:solidFill>
              <a:srgbClr val="000000">
                <a:alpha val="0"/>
              </a:srgbClr>
            </a:solidFill>
          </p:spPr>
        </p:sp>
        <p:sp>
          <p:nvSpPr>
            <p:cNvPr name="TextBox 27" id="27"/>
            <p:cNvSpPr txBox="true"/>
            <p:nvPr/>
          </p:nvSpPr>
          <p:spPr>
            <a:xfrm>
              <a:off x="0" y="-266700"/>
              <a:ext cx="6559551" cy="2534893"/>
            </a:xfrm>
            <a:prstGeom prst="rect">
              <a:avLst/>
            </a:prstGeom>
          </p:spPr>
          <p:txBody>
            <a:bodyPr anchor="ctr" rtlCol="false" tIns="0" lIns="0" bIns="0" rIns="0"/>
            <a:lstStyle/>
            <a:p>
              <a:pPr algn="ctr">
                <a:lnSpc>
                  <a:spcPts val="7990"/>
                </a:lnSpc>
              </a:pPr>
              <a:r>
                <a:rPr lang="en-US" sz="4498">
                  <a:solidFill>
                    <a:srgbClr val="000000"/>
                  </a:solidFill>
                  <a:latin typeface="Arial"/>
                  <a:ea typeface="Arial"/>
                  <a:cs typeface="Arial"/>
                  <a:sym typeface="Arial"/>
                </a:rPr>
                <a:t>Link de Quizziz</a:t>
              </a:r>
            </a:p>
          </p:txBody>
        </p:sp>
      </p:grpSp>
      <p:grpSp>
        <p:nvGrpSpPr>
          <p:cNvPr name="Group 28" id="28"/>
          <p:cNvGrpSpPr/>
          <p:nvPr/>
        </p:nvGrpSpPr>
        <p:grpSpPr>
          <a:xfrm rot="0">
            <a:off x="176619" y="5623280"/>
            <a:ext cx="4613551" cy="666407"/>
            <a:chOff x="0" y="0"/>
            <a:chExt cx="6151401" cy="888543"/>
          </a:xfrm>
        </p:grpSpPr>
        <p:sp>
          <p:nvSpPr>
            <p:cNvPr name="Freeform 29" id="29"/>
            <p:cNvSpPr/>
            <p:nvPr/>
          </p:nvSpPr>
          <p:spPr>
            <a:xfrm flipH="false" flipV="false" rot="0">
              <a:off x="0" y="0"/>
              <a:ext cx="6151372" cy="888492"/>
            </a:xfrm>
            <a:custGeom>
              <a:avLst/>
              <a:gdLst/>
              <a:ahLst/>
              <a:cxnLst/>
              <a:rect r="r" b="b" t="t" l="l"/>
              <a:pathLst>
                <a:path h="888492" w="6151372">
                  <a:moveTo>
                    <a:pt x="5514975" y="0"/>
                  </a:moveTo>
                  <a:lnTo>
                    <a:pt x="0" y="0"/>
                  </a:lnTo>
                  <a:lnTo>
                    <a:pt x="0" y="888492"/>
                  </a:lnTo>
                  <a:lnTo>
                    <a:pt x="5514975" y="888492"/>
                  </a:lnTo>
                  <a:lnTo>
                    <a:pt x="6151372" y="444246"/>
                  </a:lnTo>
                  <a:lnTo>
                    <a:pt x="5514975" y="0"/>
                  </a:lnTo>
                  <a:close/>
                </a:path>
              </a:pathLst>
            </a:custGeom>
            <a:solidFill>
              <a:srgbClr val="FFFFFF"/>
            </a:solidFill>
          </p:spPr>
        </p:sp>
      </p:grpSp>
      <p:grpSp>
        <p:nvGrpSpPr>
          <p:cNvPr name="Group 30" id="30"/>
          <p:cNvGrpSpPr/>
          <p:nvPr/>
        </p:nvGrpSpPr>
        <p:grpSpPr>
          <a:xfrm rot="0">
            <a:off x="865624" y="5444302"/>
            <a:ext cx="6117919" cy="845385"/>
            <a:chOff x="0" y="0"/>
            <a:chExt cx="8157226" cy="1127180"/>
          </a:xfrm>
        </p:grpSpPr>
        <p:sp>
          <p:nvSpPr>
            <p:cNvPr name="Freeform 31" id="31"/>
            <p:cNvSpPr/>
            <p:nvPr/>
          </p:nvSpPr>
          <p:spPr>
            <a:xfrm flipH="false" flipV="false" rot="0">
              <a:off x="0" y="0"/>
              <a:ext cx="8157226" cy="1127180"/>
            </a:xfrm>
            <a:custGeom>
              <a:avLst/>
              <a:gdLst/>
              <a:ahLst/>
              <a:cxnLst/>
              <a:rect r="r" b="b" t="t" l="l"/>
              <a:pathLst>
                <a:path h="1127180" w="8157226">
                  <a:moveTo>
                    <a:pt x="0" y="0"/>
                  </a:moveTo>
                  <a:lnTo>
                    <a:pt x="8157226" y="0"/>
                  </a:lnTo>
                  <a:lnTo>
                    <a:pt x="8157226" y="1127180"/>
                  </a:lnTo>
                  <a:lnTo>
                    <a:pt x="0" y="1127180"/>
                  </a:lnTo>
                  <a:close/>
                </a:path>
              </a:pathLst>
            </a:custGeom>
            <a:solidFill>
              <a:srgbClr val="000000">
                <a:alpha val="0"/>
              </a:srgbClr>
            </a:solidFill>
          </p:spPr>
        </p:sp>
        <p:sp>
          <p:nvSpPr>
            <p:cNvPr name="TextBox 32" id="32"/>
            <p:cNvSpPr txBox="true"/>
            <p:nvPr/>
          </p:nvSpPr>
          <p:spPr>
            <a:xfrm>
              <a:off x="0" y="-171450"/>
              <a:ext cx="8157226" cy="1298630"/>
            </a:xfrm>
            <a:prstGeom prst="rect">
              <a:avLst/>
            </a:prstGeom>
          </p:spPr>
          <p:txBody>
            <a:bodyPr anchor="ctr" rtlCol="false" tIns="0" lIns="0" bIns="0" rIns="0"/>
            <a:lstStyle/>
            <a:p>
              <a:pPr algn="ctr">
                <a:lnSpc>
                  <a:spcPts val="4971"/>
                </a:lnSpc>
              </a:pPr>
              <a:r>
                <a:rPr lang="en-US" sz="2799">
                  <a:solidFill>
                    <a:srgbClr val="000000"/>
                  </a:solidFill>
                  <a:latin typeface="Arial"/>
                  <a:ea typeface="Arial"/>
                  <a:cs typeface="Arial"/>
                  <a:sym typeface="Arial"/>
                </a:rPr>
                <a:t>Operaciones con arbol BST</a:t>
              </a:r>
            </a:p>
          </p:txBody>
        </p:sp>
      </p:grpSp>
      <p:grpSp>
        <p:nvGrpSpPr>
          <p:cNvPr name="Group 33" id="33"/>
          <p:cNvGrpSpPr/>
          <p:nvPr/>
        </p:nvGrpSpPr>
        <p:grpSpPr>
          <a:xfrm rot="0">
            <a:off x="176619" y="6604853"/>
            <a:ext cx="4613551" cy="666407"/>
            <a:chOff x="0" y="0"/>
            <a:chExt cx="6151401" cy="888543"/>
          </a:xfrm>
        </p:grpSpPr>
        <p:sp>
          <p:nvSpPr>
            <p:cNvPr name="Freeform 34" id="34"/>
            <p:cNvSpPr/>
            <p:nvPr/>
          </p:nvSpPr>
          <p:spPr>
            <a:xfrm flipH="false" flipV="false" rot="0">
              <a:off x="0" y="0"/>
              <a:ext cx="6151372" cy="888492"/>
            </a:xfrm>
            <a:custGeom>
              <a:avLst/>
              <a:gdLst/>
              <a:ahLst/>
              <a:cxnLst/>
              <a:rect r="r" b="b" t="t" l="l"/>
              <a:pathLst>
                <a:path h="888492" w="6151372">
                  <a:moveTo>
                    <a:pt x="5514975" y="0"/>
                  </a:moveTo>
                  <a:lnTo>
                    <a:pt x="0" y="0"/>
                  </a:lnTo>
                  <a:lnTo>
                    <a:pt x="0" y="888492"/>
                  </a:lnTo>
                  <a:lnTo>
                    <a:pt x="5514975" y="888492"/>
                  </a:lnTo>
                  <a:lnTo>
                    <a:pt x="6151372" y="444246"/>
                  </a:lnTo>
                  <a:lnTo>
                    <a:pt x="5514975" y="0"/>
                  </a:lnTo>
                  <a:close/>
                </a:path>
              </a:pathLst>
            </a:custGeom>
            <a:solidFill>
              <a:srgbClr val="FFFFFF"/>
            </a:solidFill>
          </p:spPr>
        </p:sp>
      </p:grpSp>
      <p:grpSp>
        <p:nvGrpSpPr>
          <p:cNvPr name="Group 35" id="35"/>
          <p:cNvGrpSpPr/>
          <p:nvPr/>
        </p:nvGrpSpPr>
        <p:grpSpPr>
          <a:xfrm rot="0">
            <a:off x="1105333" y="6402022"/>
            <a:ext cx="4345084" cy="845385"/>
            <a:chOff x="0" y="0"/>
            <a:chExt cx="5793445" cy="1127180"/>
          </a:xfrm>
        </p:grpSpPr>
        <p:sp>
          <p:nvSpPr>
            <p:cNvPr name="Freeform 36" id="36"/>
            <p:cNvSpPr/>
            <p:nvPr/>
          </p:nvSpPr>
          <p:spPr>
            <a:xfrm flipH="false" flipV="false" rot="0">
              <a:off x="0" y="0"/>
              <a:ext cx="5793445" cy="1127180"/>
            </a:xfrm>
            <a:custGeom>
              <a:avLst/>
              <a:gdLst/>
              <a:ahLst/>
              <a:cxnLst/>
              <a:rect r="r" b="b" t="t" l="l"/>
              <a:pathLst>
                <a:path h="1127180" w="5793445">
                  <a:moveTo>
                    <a:pt x="0" y="0"/>
                  </a:moveTo>
                  <a:lnTo>
                    <a:pt x="5793445" y="0"/>
                  </a:lnTo>
                  <a:lnTo>
                    <a:pt x="5793445" y="1127180"/>
                  </a:lnTo>
                  <a:lnTo>
                    <a:pt x="0" y="1127180"/>
                  </a:lnTo>
                  <a:close/>
                </a:path>
              </a:pathLst>
            </a:custGeom>
            <a:solidFill>
              <a:srgbClr val="000000">
                <a:alpha val="0"/>
              </a:srgbClr>
            </a:solidFill>
          </p:spPr>
        </p:sp>
        <p:sp>
          <p:nvSpPr>
            <p:cNvPr name="TextBox 37" id="37"/>
            <p:cNvSpPr txBox="true"/>
            <p:nvPr/>
          </p:nvSpPr>
          <p:spPr>
            <a:xfrm>
              <a:off x="0" y="-171450"/>
              <a:ext cx="5793445" cy="1298630"/>
            </a:xfrm>
            <a:prstGeom prst="rect">
              <a:avLst/>
            </a:prstGeom>
          </p:spPr>
          <p:txBody>
            <a:bodyPr anchor="ctr" rtlCol="false" tIns="0" lIns="0" bIns="0" rIns="0"/>
            <a:lstStyle/>
            <a:p>
              <a:pPr algn="ctr">
                <a:lnSpc>
                  <a:spcPts val="4971"/>
                </a:lnSpc>
              </a:pPr>
              <a:r>
                <a:rPr lang="en-US" sz="2799">
                  <a:solidFill>
                    <a:srgbClr val="000000"/>
                  </a:solidFill>
                  <a:latin typeface="Arial"/>
                  <a:ea typeface="Arial"/>
                  <a:cs typeface="Arial"/>
                  <a:sym typeface="Arial"/>
                </a:rPr>
                <a:t>Definicion arbol AVL</a:t>
              </a:r>
            </a:p>
          </p:txBody>
        </p:sp>
      </p:grpSp>
      <p:grpSp>
        <p:nvGrpSpPr>
          <p:cNvPr name="Group 38" id="38"/>
          <p:cNvGrpSpPr/>
          <p:nvPr/>
        </p:nvGrpSpPr>
        <p:grpSpPr>
          <a:xfrm rot="0">
            <a:off x="176619" y="7528435"/>
            <a:ext cx="4613551" cy="666407"/>
            <a:chOff x="0" y="0"/>
            <a:chExt cx="6151401" cy="888543"/>
          </a:xfrm>
        </p:grpSpPr>
        <p:sp>
          <p:nvSpPr>
            <p:cNvPr name="Freeform 39" id="39"/>
            <p:cNvSpPr/>
            <p:nvPr/>
          </p:nvSpPr>
          <p:spPr>
            <a:xfrm flipH="false" flipV="false" rot="0">
              <a:off x="0" y="0"/>
              <a:ext cx="6151372" cy="888492"/>
            </a:xfrm>
            <a:custGeom>
              <a:avLst/>
              <a:gdLst/>
              <a:ahLst/>
              <a:cxnLst/>
              <a:rect r="r" b="b" t="t" l="l"/>
              <a:pathLst>
                <a:path h="888492" w="6151372">
                  <a:moveTo>
                    <a:pt x="5514975" y="0"/>
                  </a:moveTo>
                  <a:lnTo>
                    <a:pt x="0" y="0"/>
                  </a:lnTo>
                  <a:lnTo>
                    <a:pt x="0" y="888492"/>
                  </a:lnTo>
                  <a:lnTo>
                    <a:pt x="5514975" y="888492"/>
                  </a:lnTo>
                  <a:lnTo>
                    <a:pt x="6151372" y="444246"/>
                  </a:lnTo>
                  <a:lnTo>
                    <a:pt x="5514975" y="0"/>
                  </a:lnTo>
                  <a:close/>
                </a:path>
              </a:pathLst>
            </a:custGeom>
            <a:solidFill>
              <a:srgbClr val="FFFFFF"/>
            </a:solidFill>
          </p:spPr>
        </p:sp>
      </p:grpSp>
      <p:grpSp>
        <p:nvGrpSpPr>
          <p:cNvPr name="Group 40" id="40"/>
          <p:cNvGrpSpPr/>
          <p:nvPr/>
        </p:nvGrpSpPr>
        <p:grpSpPr>
          <a:xfrm rot="0">
            <a:off x="1203112" y="7349457"/>
            <a:ext cx="4345084" cy="845385"/>
            <a:chOff x="0" y="0"/>
            <a:chExt cx="5793445" cy="1127180"/>
          </a:xfrm>
        </p:grpSpPr>
        <p:sp>
          <p:nvSpPr>
            <p:cNvPr name="Freeform 41" id="41"/>
            <p:cNvSpPr/>
            <p:nvPr/>
          </p:nvSpPr>
          <p:spPr>
            <a:xfrm flipH="false" flipV="false" rot="0">
              <a:off x="0" y="0"/>
              <a:ext cx="5793445" cy="1127180"/>
            </a:xfrm>
            <a:custGeom>
              <a:avLst/>
              <a:gdLst/>
              <a:ahLst/>
              <a:cxnLst/>
              <a:rect r="r" b="b" t="t" l="l"/>
              <a:pathLst>
                <a:path h="1127180" w="5793445">
                  <a:moveTo>
                    <a:pt x="0" y="0"/>
                  </a:moveTo>
                  <a:lnTo>
                    <a:pt x="5793445" y="0"/>
                  </a:lnTo>
                  <a:lnTo>
                    <a:pt x="5793445" y="1127180"/>
                  </a:lnTo>
                  <a:lnTo>
                    <a:pt x="0" y="1127180"/>
                  </a:lnTo>
                  <a:close/>
                </a:path>
              </a:pathLst>
            </a:custGeom>
            <a:solidFill>
              <a:srgbClr val="000000">
                <a:alpha val="0"/>
              </a:srgbClr>
            </a:solidFill>
          </p:spPr>
        </p:sp>
        <p:sp>
          <p:nvSpPr>
            <p:cNvPr name="TextBox 42" id="42"/>
            <p:cNvSpPr txBox="true"/>
            <p:nvPr/>
          </p:nvSpPr>
          <p:spPr>
            <a:xfrm>
              <a:off x="0" y="-171450"/>
              <a:ext cx="5793445" cy="1298630"/>
            </a:xfrm>
            <a:prstGeom prst="rect">
              <a:avLst/>
            </a:prstGeom>
          </p:spPr>
          <p:txBody>
            <a:bodyPr anchor="ctr" rtlCol="false" tIns="0" lIns="0" bIns="0" rIns="0"/>
            <a:lstStyle/>
            <a:p>
              <a:pPr algn="ctr">
                <a:lnSpc>
                  <a:spcPts val="4971"/>
                </a:lnSpc>
              </a:pPr>
              <a:r>
                <a:rPr lang="en-US" sz="2799">
                  <a:solidFill>
                    <a:srgbClr val="000000"/>
                  </a:solidFill>
                  <a:latin typeface="Arial"/>
                  <a:ea typeface="Arial"/>
                  <a:cs typeface="Arial"/>
                  <a:sym typeface="Arial"/>
                </a:rPr>
                <a:t>Rotaciones arbol AVL</a:t>
              </a:r>
            </a:p>
          </p:txBody>
        </p:sp>
      </p:grpSp>
      <p:grpSp>
        <p:nvGrpSpPr>
          <p:cNvPr name="Group 43" id="43"/>
          <p:cNvGrpSpPr/>
          <p:nvPr/>
        </p:nvGrpSpPr>
        <p:grpSpPr>
          <a:xfrm rot="0">
            <a:off x="878654" y="5623280"/>
            <a:ext cx="453358" cy="550094"/>
            <a:chOff x="0" y="0"/>
            <a:chExt cx="604477" cy="733459"/>
          </a:xfrm>
        </p:grpSpPr>
        <p:sp>
          <p:nvSpPr>
            <p:cNvPr name="Freeform 44" id="44"/>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3"/>
              <a:stretch>
                <a:fillRect l="0" t="0" r="7" b="-4"/>
              </a:stretch>
            </a:blipFill>
          </p:spPr>
        </p:sp>
      </p:grpSp>
      <p:grpSp>
        <p:nvGrpSpPr>
          <p:cNvPr name="Group 45" id="45"/>
          <p:cNvGrpSpPr/>
          <p:nvPr/>
        </p:nvGrpSpPr>
        <p:grpSpPr>
          <a:xfrm rot="0">
            <a:off x="878654" y="6604853"/>
            <a:ext cx="453358" cy="550094"/>
            <a:chOff x="0" y="0"/>
            <a:chExt cx="604477" cy="733459"/>
          </a:xfrm>
        </p:grpSpPr>
        <p:sp>
          <p:nvSpPr>
            <p:cNvPr name="Freeform 46" id="46"/>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3"/>
              <a:stretch>
                <a:fillRect l="0" t="0" r="7" b="-4"/>
              </a:stretch>
            </a:blipFill>
          </p:spPr>
        </p:sp>
      </p:grpSp>
      <p:grpSp>
        <p:nvGrpSpPr>
          <p:cNvPr name="Group 47" id="47"/>
          <p:cNvGrpSpPr/>
          <p:nvPr/>
        </p:nvGrpSpPr>
        <p:grpSpPr>
          <a:xfrm rot="0">
            <a:off x="878654" y="7604635"/>
            <a:ext cx="453358" cy="550094"/>
            <a:chOff x="0" y="0"/>
            <a:chExt cx="604477" cy="733459"/>
          </a:xfrm>
        </p:grpSpPr>
        <p:sp>
          <p:nvSpPr>
            <p:cNvPr name="Freeform 48" id="48"/>
            <p:cNvSpPr/>
            <p:nvPr/>
          </p:nvSpPr>
          <p:spPr>
            <a:xfrm flipH="false" flipV="false" rot="0">
              <a:off x="0" y="0"/>
              <a:ext cx="604520" cy="733425"/>
            </a:xfrm>
            <a:custGeom>
              <a:avLst/>
              <a:gdLst/>
              <a:ahLst/>
              <a:cxnLst/>
              <a:rect r="r" b="b" t="t" l="l"/>
              <a:pathLst>
                <a:path h="733425" w="604520">
                  <a:moveTo>
                    <a:pt x="0" y="0"/>
                  </a:moveTo>
                  <a:lnTo>
                    <a:pt x="604520" y="0"/>
                  </a:lnTo>
                  <a:lnTo>
                    <a:pt x="604520" y="733425"/>
                  </a:lnTo>
                  <a:lnTo>
                    <a:pt x="0" y="733425"/>
                  </a:lnTo>
                  <a:lnTo>
                    <a:pt x="0" y="0"/>
                  </a:lnTo>
                  <a:close/>
                </a:path>
              </a:pathLst>
            </a:custGeom>
            <a:blipFill>
              <a:blip r:embed="rId3"/>
              <a:stretch>
                <a:fillRect l="0" t="0" r="7" b="-4"/>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74889" y="444814"/>
            <a:ext cx="13991100" cy="1148250"/>
          </a:xfrm>
          <a:prstGeom prst="rect">
            <a:avLst/>
          </a:prstGeom>
        </p:spPr>
        <p:txBody>
          <a:bodyPr anchor="t" rtlCol="false" tIns="0" lIns="0" bIns="0" rIns="0">
            <a:spAutoFit/>
          </a:bodyPr>
          <a:lstStyle/>
          <a:p>
            <a:pPr algn="just">
              <a:lnSpc>
                <a:spcPts val="8267"/>
              </a:lnSpc>
            </a:pPr>
            <a:r>
              <a:rPr lang="en-US" sz="6098">
                <a:solidFill>
                  <a:srgbClr val="131416"/>
                </a:solidFill>
                <a:latin typeface="Impact"/>
                <a:ea typeface="Impact"/>
                <a:cs typeface="Impact"/>
                <a:sym typeface="Impact"/>
              </a:rPr>
              <a:t>COMPETENCIA(S) QUE DESARROLLAREMOS</a:t>
            </a:r>
          </a:p>
        </p:txBody>
      </p:sp>
      <p:sp>
        <p:nvSpPr>
          <p:cNvPr name="TextBox 3" id="3"/>
          <p:cNvSpPr txBox="true"/>
          <p:nvPr/>
        </p:nvSpPr>
        <p:spPr>
          <a:xfrm rot="0">
            <a:off x="2461964" y="2854177"/>
            <a:ext cx="14137736" cy="3235676"/>
          </a:xfrm>
          <a:prstGeom prst="rect">
            <a:avLst/>
          </a:prstGeom>
        </p:spPr>
        <p:txBody>
          <a:bodyPr anchor="t" rtlCol="false" tIns="0" lIns="0" bIns="0" rIns="0">
            <a:spAutoFit/>
          </a:bodyPr>
          <a:lstStyle/>
          <a:p>
            <a:pPr algn="ctr">
              <a:lnSpc>
                <a:spcPts val="8734"/>
              </a:lnSpc>
            </a:pPr>
            <a:r>
              <a:rPr lang="en-US" b="true" sz="5198">
                <a:solidFill>
                  <a:srgbClr val="131416"/>
                </a:solidFill>
                <a:latin typeface="Open Sans 1 Bold"/>
                <a:ea typeface="Open Sans 1 Bold"/>
                <a:cs typeface="Open Sans 1 Bold"/>
                <a:sym typeface="Open Sans 1 Bold"/>
              </a:rPr>
              <a:t>Man</a:t>
            </a:r>
            <a:r>
              <a:rPr lang="en-US" b="true" sz="5198">
                <a:solidFill>
                  <a:srgbClr val="131416"/>
                </a:solidFill>
                <a:latin typeface="Open Sans 1 Bold"/>
                <a:ea typeface="Open Sans 1 Bold"/>
                <a:cs typeface="Open Sans 1 Bold"/>
                <a:sym typeface="Open Sans 1 Bold"/>
              </a:rPr>
              <a:t>eja grandes volumenes de datos aplicando arboles para optimizar busquedas. </a:t>
            </a:r>
          </a:p>
        </p:txBody>
      </p:sp>
      <p:grpSp>
        <p:nvGrpSpPr>
          <p:cNvPr name="Group 4" id="4"/>
          <p:cNvGrpSpPr>
            <a:grpSpLocks noChangeAspect="true"/>
          </p:cNvGrpSpPr>
          <p:nvPr/>
        </p:nvGrpSpPr>
        <p:grpSpPr>
          <a:xfrm rot="0">
            <a:off x="0" y="5954209"/>
            <a:ext cx="3161767" cy="4332792"/>
            <a:chOff x="0" y="0"/>
            <a:chExt cx="6979147" cy="9564016"/>
          </a:xfrm>
        </p:grpSpPr>
        <p:sp>
          <p:nvSpPr>
            <p:cNvPr name="Freeform 5" id="5"/>
            <p:cNvSpPr/>
            <p:nvPr/>
          </p:nvSpPr>
          <p:spPr>
            <a:xfrm flipH="false" flipV="false" rot="0">
              <a:off x="0" y="0"/>
              <a:ext cx="6979158" cy="9563989"/>
            </a:xfrm>
            <a:custGeom>
              <a:avLst/>
              <a:gdLst/>
              <a:ahLst/>
              <a:cxnLst/>
              <a:rect r="r" b="b" t="t" l="l"/>
              <a:pathLst>
                <a:path h="9563989" w="6979158">
                  <a:moveTo>
                    <a:pt x="0" y="0"/>
                  </a:moveTo>
                  <a:lnTo>
                    <a:pt x="6979158" y="0"/>
                  </a:lnTo>
                  <a:lnTo>
                    <a:pt x="6979158" y="9563989"/>
                  </a:lnTo>
                  <a:lnTo>
                    <a:pt x="0" y="9563989"/>
                  </a:lnTo>
                  <a:lnTo>
                    <a:pt x="0" y="0"/>
                  </a:lnTo>
                  <a:close/>
                </a:path>
              </a:pathLst>
            </a:custGeom>
            <a:blipFill>
              <a:blip r:embed="rId3"/>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700000">
            <a:off x="17801712" y="3018912"/>
            <a:ext cx="4249175" cy="4249175"/>
            <a:chOff x="0" y="0"/>
            <a:chExt cx="5665567" cy="5665567"/>
          </a:xfrm>
        </p:grpSpPr>
        <p:sp>
          <p:nvSpPr>
            <p:cNvPr name="Freeform 3" id="3"/>
            <p:cNvSpPr/>
            <p:nvPr/>
          </p:nvSpPr>
          <p:spPr>
            <a:xfrm flipH="false" flipV="false" rot="0">
              <a:off x="0" y="0"/>
              <a:ext cx="5665597" cy="5665597"/>
            </a:xfrm>
            <a:custGeom>
              <a:avLst/>
              <a:gdLst/>
              <a:ahLst/>
              <a:cxnLst/>
              <a:rect r="r" b="b" t="t" l="l"/>
              <a:pathLst>
                <a:path h="5665597" w="5665597">
                  <a:moveTo>
                    <a:pt x="0" y="0"/>
                  </a:moveTo>
                  <a:lnTo>
                    <a:pt x="5665597" y="0"/>
                  </a:lnTo>
                  <a:lnTo>
                    <a:pt x="5665597" y="5665597"/>
                  </a:lnTo>
                  <a:lnTo>
                    <a:pt x="0" y="5665597"/>
                  </a:lnTo>
                  <a:close/>
                </a:path>
              </a:pathLst>
            </a:custGeom>
            <a:solidFill>
              <a:srgbClr val="5271FF"/>
            </a:solidFill>
          </p:spPr>
        </p:sp>
      </p:grpSp>
      <p:grpSp>
        <p:nvGrpSpPr>
          <p:cNvPr name="Group 4" id="4"/>
          <p:cNvGrpSpPr/>
          <p:nvPr/>
        </p:nvGrpSpPr>
        <p:grpSpPr>
          <a:xfrm rot="2700000">
            <a:off x="18016035" y="3316580"/>
            <a:ext cx="3653841" cy="3653841"/>
            <a:chOff x="0" y="0"/>
            <a:chExt cx="4871788" cy="4871788"/>
          </a:xfrm>
        </p:grpSpPr>
        <p:sp>
          <p:nvSpPr>
            <p:cNvPr name="Freeform 5" id="5"/>
            <p:cNvSpPr/>
            <p:nvPr/>
          </p:nvSpPr>
          <p:spPr>
            <a:xfrm flipH="false" flipV="false" rot="0">
              <a:off x="0" y="0"/>
              <a:ext cx="4871847" cy="4871847"/>
            </a:xfrm>
            <a:custGeom>
              <a:avLst/>
              <a:gdLst/>
              <a:ahLst/>
              <a:cxnLst/>
              <a:rect r="r" b="b" t="t" l="l"/>
              <a:pathLst>
                <a:path h="4871847" w="4871847">
                  <a:moveTo>
                    <a:pt x="0" y="0"/>
                  </a:moveTo>
                  <a:lnTo>
                    <a:pt x="0" y="4871847"/>
                  </a:lnTo>
                  <a:lnTo>
                    <a:pt x="4871847" y="4871847"/>
                  </a:lnTo>
                  <a:lnTo>
                    <a:pt x="4871847" y="0"/>
                  </a:lnTo>
                  <a:lnTo>
                    <a:pt x="0" y="0"/>
                  </a:lnTo>
                  <a:close/>
                  <a:moveTo>
                    <a:pt x="4716653" y="4716653"/>
                  </a:moveTo>
                  <a:lnTo>
                    <a:pt x="151892" y="4716653"/>
                  </a:lnTo>
                  <a:lnTo>
                    <a:pt x="151892" y="151892"/>
                  </a:lnTo>
                  <a:lnTo>
                    <a:pt x="4716653" y="151892"/>
                  </a:lnTo>
                  <a:lnTo>
                    <a:pt x="4716653" y="4716653"/>
                  </a:lnTo>
                  <a:close/>
                </a:path>
              </a:pathLst>
            </a:custGeom>
            <a:solidFill>
              <a:srgbClr val="FFFFFF"/>
            </a:solidFill>
          </p:spPr>
        </p:sp>
      </p:grpSp>
      <p:grpSp>
        <p:nvGrpSpPr>
          <p:cNvPr name="Group 6" id="6"/>
          <p:cNvGrpSpPr/>
          <p:nvPr/>
        </p:nvGrpSpPr>
        <p:grpSpPr>
          <a:xfrm rot="2700000">
            <a:off x="13386722" y="9391458"/>
            <a:ext cx="3362499" cy="5745117"/>
            <a:chOff x="0" y="0"/>
            <a:chExt cx="4483332" cy="7660156"/>
          </a:xfrm>
        </p:grpSpPr>
        <p:sp>
          <p:nvSpPr>
            <p:cNvPr name="Freeform 7" id="7"/>
            <p:cNvSpPr/>
            <p:nvPr/>
          </p:nvSpPr>
          <p:spPr>
            <a:xfrm flipH="false" flipV="false" rot="0">
              <a:off x="0" y="0"/>
              <a:ext cx="4483354" cy="7660132"/>
            </a:xfrm>
            <a:custGeom>
              <a:avLst/>
              <a:gdLst/>
              <a:ahLst/>
              <a:cxnLst/>
              <a:rect r="r" b="b" t="t" l="l"/>
              <a:pathLst>
                <a:path h="7660132" w="4483354">
                  <a:moveTo>
                    <a:pt x="0" y="0"/>
                  </a:moveTo>
                  <a:lnTo>
                    <a:pt x="0" y="7660132"/>
                  </a:lnTo>
                  <a:lnTo>
                    <a:pt x="4483354" y="7660132"/>
                  </a:lnTo>
                  <a:lnTo>
                    <a:pt x="4483354" y="0"/>
                  </a:lnTo>
                  <a:lnTo>
                    <a:pt x="0" y="0"/>
                  </a:lnTo>
                  <a:close/>
                  <a:moveTo>
                    <a:pt x="4221480" y="7398385"/>
                  </a:moveTo>
                  <a:lnTo>
                    <a:pt x="256286" y="7398385"/>
                  </a:lnTo>
                  <a:lnTo>
                    <a:pt x="256286" y="256286"/>
                  </a:lnTo>
                  <a:lnTo>
                    <a:pt x="4221480" y="256286"/>
                  </a:lnTo>
                  <a:lnTo>
                    <a:pt x="4221480" y="7398385"/>
                  </a:lnTo>
                  <a:close/>
                </a:path>
              </a:pathLst>
            </a:custGeom>
            <a:solidFill>
              <a:srgbClr val="2B4A9D"/>
            </a:solidFill>
          </p:spPr>
        </p:sp>
      </p:grpSp>
      <p:grpSp>
        <p:nvGrpSpPr>
          <p:cNvPr name="Group 8" id="8"/>
          <p:cNvGrpSpPr/>
          <p:nvPr/>
        </p:nvGrpSpPr>
        <p:grpSpPr>
          <a:xfrm rot="2700000">
            <a:off x="12024455" y="-4285306"/>
            <a:ext cx="4402267" cy="4402267"/>
            <a:chOff x="0" y="0"/>
            <a:chExt cx="5869689" cy="5869689"/>
          </a:xfrm>
        </p:grpSpPr>
        <p:sp>
          <p:nvSpPr>
            <p:cNvPr name="Freeform 9" id="9"/>
            <p:cNvSpPr/>
            <p:nvPr/>
          </p:nvSpPr>
          <p:spPr>
            <a:xfrm flipH="false" flipV="false" rot="0">
              <a:off x="0" y="0"/>
              <a:ext cx="5869686" cy="5869686"/>
            </a:xfrm>
            <a:custGeom>
              <a:avLst/>
              <a:gdLst/>
              <a:ahLst/>
              <a:cxnLst/>
              <a:rect r="r" b="b" t="t" l="l"/>
              <a:pathLst>
                <a:path h="5869686" w="5869686">
                  <a:moveTo>
                    <a:pt x="0" y="0"/>
                  </a:moveTo>
                  <a:lnTo>
                    <a:pt x="0" y="5869686"/>
                  </a:lnTo>
                  <a:lnTo>
                    <a:pt x="5869686" y="5869686"/>
                  </a:lnTo>
                  <a:lnTo>
                    <a:pt x="5869686" y="0"/>
                  </a:lnTo>
                  <a:lnTo>
                    <a:pt x="0" y="0"/>
                  </a:lnTo>
                  <a:close/>
                  <a:moveTo>
                    <a:pt x="5682742" y="5682742"/>
                  </a:moveTo>
                  <a:lnTo>
                    <a:pt x="183007" y="5682742"/>
                  </a:lnTo>
                  <a:lnTo>
                    <a:pt x="183007" y="183007"/>
                  </a:lnTo>
                  <a:lnTo>
                    <a:pt x="5682742" y="183007"/>
                  </a:lnTo>
                  <a:lnTo>
                    <a:pt x="5682742" y="5682742"/>
                  </a:lnTo>
                  <a:close/>
                </a:path>
              </a:pathLst>
            </a:custGeom>
            <a:solidFill>
              <a:srgbClr val="2B4A9D"/>
            </a:solidFill>
          </p:spPr>
        </p:sp>
      </p:grpSp>
      <p:grpSp>
        <p:nvGrpSpPr>
          <p:cNvPr name="Group 10" id="10"/>
          <p:cNvGrpSpPr/>
          <p:nvPr/>
        </p:nvGrpSpPr>
        <p:grpSpPr>
          <a:xfrm rot="5400000">
            <a:off x="-1309" y="1309"/>
            <a:ext cx="1635964" cy="1633346"/>
            <a:chOff x="0" y="0"/>
            <a:chExt cx="2181285" cy="2177795"/>
          </a:xfrm>
        </p:grpSpPr>
        <p:sp>
          <p:nvSpPr>
            <p:cNvPr name="Freeform 11" id="11"/>
            <p:cNvSpPr/>
            <p:nvPr/>
          </p:nvSpPr>
          <p:spPr>
            <a:xfrm flipH="false" flipV="false" rot="0">
              <a:off x="0" y="0"/>
              <a:ext cx="2181225" cy="2177796"/>
            </a:xfrm>
            <a:custGeom>
              <a:avLst/>
              <a:gdLst/>
              <a:ahLst/>
              <a:cxnLst/>
              <a:rect r="r" b="b" t="t" l="l"/>
              <a:pathLst>
                <a:path h="2177796" w="2181225">
                  <a:moveTo>
                    <a:pt x="2181225" y="2177796"/>
                  </a:moveTo>
                  <a:lnTo>
                    <a:pt x="0" y="2177796"/>
                  </a:lnTo>
                  <a:lnTo>
                    <a:pt x="0" y="0"/>
                  </a:lnTo>
                  <a:lnTo>
                    <a:pt x="2181225" y="2177796"/>
                  </a:lnTo>
                  <a:close/>
                </a:path>
              </a:pathLst>
            </a:custGeom>
            <a:solidFill>
              <a:srgbClr val="2B4A9D"/>
            </a:solidFill>
          </p:spPr>
        </p:sp>
      </p:grpSp>
      <p:grpSp>
        <p:nvGrpSpPr>
          <p:cNvPr name="Group 12" id="12"/>
          <p:cNvGrpSpPr/>
          <p:nvPr/>
        </p:nvGrpSpPr>
        <p:grpSpPr>
          <a:xfrm rot="0">
            <a:off x="9378727" y="1376580"/>
            <a:ext cx="7425389" cy="7319528"/>
            <a:chOff x="0" y="0"/>
            <a:chExt cx="9900519" cy="9759371"/>
          </a:xfrm>
        </p:grpSpPr>
        <p:sp>
          <p:nvSpPr>
            <p:cNvPr name="Freeform 13" id="13"/>
            <p:cNvSpPr/>
            <p:nvPr/>
          </p:nvSpPr>
          <p:spPr>
            <a:xfrm flipH="false" flipV="false" rot="0">
              <a:off x="0" y="0"/>
              <a:ext cx="9900539" cy="9759315"/>
            </a:xfrm>
            <a:custGeom>
              <a:avLst/>
              <a:gdLst/>
              <a:ahLst/>
              <a:cxnLst/>
              <a:rect r="r" b="b" t="t" l="l"/>
              <a:pathLst>
                <a:path h="9759315" w="9900539">
                  <a:moveTo>
                    <a:pt x="0" y="0"/>
                  </a:moveTo>
                  <a:lnTo>
                    <a:pt x="9900539" y="0"/>
                  </a:lnTo>
                  <a:lnTo>
                    <a:pt x="9900539" y="9759315"/>
                  </a:lnTo>
                  <a:lnTo>
                    <a:pt x="0" y="9759315"/>
                  </a:lnTo>
                  <a:lnTo>
                    <a:pt x="0" y="0"/>
                  </a:lnTo>
                  <a:close/>
                </a:path>
              </a:pathLst>
            </a:custGeom>
            <a:blipFill>
              <a:blip r:embed="rId2"/>
              <a:stretch>
                <a:fillRect l="0" t="0" r="0" b="0"/>
              </a:stretch>
            </a:blipFill>
          </p:spPr>
        </p:sp>
      </p:grpSp>
      <p:grpSp>
        <p:nvGrpSpPr>
          <p:cNvPr name="Group 14" id="14"/>
          <p:cNvGrpSpPr/>
          <p:nvPr/>
        </p:nvGrpSpPr>
        <p:grpSpPr>
          <a:xfrm rot="0">
            <a:off x="0" y="2728997"/>
            <a:ext cx="9378727" cy="4614694"/>
            <a:chOff x="0" y="0"/>
            <a:chExt cx="12504969" cy="6152926"/>
          </a:xfrm>
        </p:grpSpPr>
        <p:sp>
          <p:nvSpPr>
            <p:cNvPr name="Freeform 15" id="15"/>
            <p:cNvSpPr/>
            <p:nvPr/>
          </p:nvSpPr>
          <p:spPr>
            <a:xfrm flipH="false" flipV="false" rot="0">
              <a:off x="0" y="0"/>
              <a:ext cx="12504969" cy="6152926"/>
            </a:xfrm>
            <a:custGeom>
              <a:avLst/>
              <a:gdLst/>
              <a:ahLst/>
              <a:cxnLst/>
              <a:rect r="r" b="b" t="t" l="l"/>
              <a:pathLst>
                <a:path h="6152926" w="12504969">
                  <a:moveTo>
                    <a:pt x="0" y="0"/>
                  </a:moveTo>
                  <a:lnTo>
                    <a:pt x="12504969" y="0"/>
                  </a:lnTo>
                  <a:lnTo>
                    <a:pt x="12504969" y="6152926"/>
                  </a:lnTo>
                  <a:lnTo>
                    <a:pt x="0" y="6152926"/>
                  </a:lnTo>
                  <a:close/>
                </a:path>
              </a:pathLst>
            </a:custGeom>
            <a:solidFill>
              <a:srgbClr val="000000">
                <a:alpha val="0"/>
              </a:srgbClr>
            </a:solidFill>
          </p:spPr>
        </p:sp>
        <p:sp>
          <p:nvSpPr>
            <p:cNvPr name="TextBox 16" id="16"/>
            <p:cNvSpPr txBox="true"/>
            <p:nvPr/>
          </p:nvSpPr>
          <p:spPr>
            <a:xfrm>
              <a:off x="0" y="-171450"/>
              <a:ext cx="12504969" cy="6324376"/>
            </a:xfrm>
            <a:prstGeom prst="rect">
              <a:avLst/>
            </a:prstGeom>
          </p:spPr>
          <p:txBody>
            <a:bodyPr anchor="t" rtlCol="false" tIns="0" lIns="0" bIns="0" rIns="0"/>
            <a:lstStyle/>
            <a:p>
              <a:pPr algn="l" marL="1069453" indent="-356484" lvl="2">
                <a:lnSpc>
                  <a:spcPts val="7345"/>
                </a:lnSpc>
                <a:buFont typeface="Arial"/>
                <a:buChar char="⚬"/>
              </a:pPr>
              <a:r>
                <a:rPr lang="en-US" sz="4678">
                  <a:solidFill>
                    <a:srgbClr val="2B4A9D"/>
                  </a:solidFill>
                  <a:latin typeface="Canva Sans"/>
                  <a:ea typeface="Canva Sans"/>
                  <a:cs typeface="Canva Sans"/>
                  <a:sym typeface="Canva Sans"/>
                </a:rPr>
                <a:t>Estructuras jerarquica</a:t>
              </a:r>
            </a:p>
            <a:p>
              <a:pPr algn="l" marL="1069453" indent="-356484" lvl="2">
                <a:lnSpc>
                  <a:spcPts val="7345"/>
                </a:lnSpc>
                <a:buFont typeface="Arial"/>
                <a:buChar char="⚬"/>
              </a:pPr>
              <a:r>
                <a:rPr lang="en-US" sz="4678">
                  <a:solidFill>
                    <a:srgbClr val="2B4A9D"/>
                  </a:solidFill>
                  <a:latin typeface="Canva Sans"/>
                  <a:ea typeface="Canva Sans"/>
                  <a:cs typeface="Canva Sans"/>
                  <a:sym typeface="Canva Sans"/>
                </a:rPr>
                <a:t>No lineal y dinámica</a:t>
              </a:r>
            </a:p>
            <a:p>
              <a:pPr algn="l" marL="1069453" indent="-356484" lvl="2">
                <a:lnSpc>
                  <a:spcPts val="7345"/>
                </a:lnSpc>
                <a:buFont typeface="Arial"/>
                <a:buChar char="⚬"/>
              </a:pPr>
              <a:r>
                <a:rPr lang="en-US" sz="4678">
                  <a:solidFill>
                    <a:srgbClr val="2B4A9D"/>
                  </a:solidFill>
                  <a:latin typeface="Canva Sans"/>
                  <a:ea typeface="Canva Sans"/>
                  <a:cs typeface="Canva Sans"/>
                  <a:sym typeface="Canva Sans"/>
                </a:rPr>
                <a:t>Utilizados como un método eficiente para búsquedas grandes y complejas</a:t>
              </a:r>
            </a:p>
          </p:txBody>
        </p:sp>
      </p:grpSp>
      <p:sp>
        <p:nvSpPr>
          <p:cNvPr name="TextBox 17" id="17"/>
          <p:cNvSpPr txBox="true"/>
          <p:nvPr/>
        </p:nvSpPr>
        <p:spPr>
          <a:xfrm rot="0">
            <a:off x="4381662" y="857250"/>
            <a:ext cx="3459713" cy="1566490"/>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2 Bold"/>
                <a:ea typeface="Open Sans 2 Bold"/>
                <a:cs typeface="Open Sans 2 Bold"/>
                <a:sym typeface="Open Sans 2 Bold"/>
              </a:rPr>
              <a:t>Arbol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271FF"/>
        </a:solidFill>
      </p:bgPr>
    </p:bg>
    <p:spTree>
      <p:nvGrpSpPr>
        <p:cNvPr id="1" name=""/>
        <p:cNvGrpSpPr/>
        <p:nvPr/>
      </p:nvGrpSpPr>
      <p:grpSpPr>
        <a:xfrm>
          <a:off x="0" y="0"/>
          <a:ext cx="0" cy="0"/>
          <a:chOff x="0" y="0"/>
          <a:chExt cx="0" cy="0"/>
        </a:xfrm>
      </p:grpSpPr>
      <p:grpSp>
        <p:nvGrpSpPr>
          <p:cNvPr name="Group 2" id="2"/>
          <p:cNvGrpSpPr/>
          <p:nvPr/>
        </p:nvGrpSpPr>
        <p:grpSpPr>
          <a:xfrm rot="-5400000">
            <a:off x="13221041" y="4015986"/>
            <a:ext cx="8776690" cy="8762648"/>
            <a:chOff x="0" y="0"/>
            <a:chExt cx="11702253" cy="11683531"/>
          </a:xfrm>
        </p:grpSpPr>
        <p:sp>
          <p:nvSpPr>
            <p:cNvPr name="Freeform 3" id="3"/>
            <p:cNvSpPr/>
            <p:nvPr/>
          </p:nvSpPr>
          <p:spPr>
            <a:xfrm flipH="false" flipV="false" rot="0">
              <a:off x="0" y="0"/>
              <a:ext cx="11702288" cy="11683492"/>
            </a:xfrm>
            <a:custGeom>
              <a:avLst/>
              <a:gdLst/>
              <a:ahLst/>
              <a:cxnLst/>
              <a:rect r="r" b="b" t="t" l="l"/>
              <a:pathLst>
                <a:path h="11683492" w="11702288">
                  <a:moveTo>
                    <a:pt x="11702288" y="11683492"/>
                  </a:moveTo>
                  <a:lnTo>
                    <a:pt x="0" y="11683492"/>
                  </a:lnTo>
                  <a:lnTo>
                    <a:pt x="0" y="0"/>
                  </a:lnTo>
                  <a:lnTo>
                    <a:pt x="11702288" y="11683492"/>
                  </a:lnTo>
                  <a:close/>
                </a:path>
              </a:pathLst>
            </a:custGeom>
            <a:solidFill>
              <a:srgbClr val="FFFFFF"/>
            </a:solidFill>
          </p:spPr>
        </p:sp>
      </p:grpSp>
      <p:grpSp>
        <p:nvGrpSpPr>
          <p:cNvPr name="Group 4" id="4"/>
          <p:cNvGrpSpPr/>
          <p:nvPr/>
        </p:nvGrpSpPr>
        <p:grpSpPr>
          <a:xfrm rot="5400000">
            <a:off x="-2252041" y="-2547269"/>
            <a:ext cx="6561483" cy="6550984"/>
            <a:chOff x="0" y="0"/>
            <a:chExt cx="8748644" cy="8734645"/>
          </a:xfrm>
        </p:grpSpPr>
        <p:sp>
          <p:nvSpPr>
            <p:cNvPr name="Freeform 5" id="5"/>
            <p:cNvSpPr/>
            <p:nvPr/>
          </p:nvSpPr>
          <p:spPr>
            <a:xfrm flipH="false" flipV="false" rot="0">
              <a:off x="0" y="0"/>
              <a:ext cx="8748649" cy="8734679"/>
            </a:xfrm>
            <a:custGeom>
              <a:avLst/>
              <a:gdLst/>
              <a:ahLst/>
              <a:cxnLst/>
              <a:rect r="r" b="b" t="t" l="l"/>
              <a:pathLst>
                <a:path h="8734679" w="8748649">
                  <a:moveTo>
                    <a:pt x="8748649" y="8734679"/>
                  </a:moveTo>
                  <a:lnTo>
                    <a:pt x="0" y="8734679"/>
                  </a:lnTo>
                  <a:lnTo>
                    <a:pt x="0" y="0"/>
                  </a:lnTo>
                  <a:lnTo>
                    <a:pt x="8748649" y="8734679"/>
                  </a:lnTo>
                  <a:close/>
                </a:path>
              </a:pathLst>
            </a:custGeom>
            <a:solidFill>
              <a:srgbClr val="FFFFFF"/>
            </a:solidFill>
          </p:spPr>
        </p:sp>
      </p:grpSp>
      <p:grpSp>
        <p:nvGrpSpPr>
          <p:cNvPr name="Group 6" id="6"/>
          <p:cNvGrpSpPr/>
          <p:nvPr/>
        </p:nvGrpSpPr>
        <p:grpSpPr>
          <a:xfrm rot="0">
            <a:off x="11811641" y="2805217"/>
            <a:ext cx="4354955" cy="2867312"/>
            <a:chOff x="0" y="0"/>
            <a:chExt cx="5806607" cy="3823083"/>
          </a:xfrm>
        </p:grpSpPr>
        <p:sp>
          <p:nvSpPr>
            <p:cNvPr name="Freeform 7" id="7"/>
            <p:cNvSpPr/>
            <p:nvPr/>
          </p:nvSpPr>
          <p:spPr>
            <a:xfrm flipH="false" flipV="false" rot="0">
              <a:off x="0" y="0"/>
              <a:ext cx="5806567" cy="3823081"/>
            </a:xfrm>
            <a:custGeom>
              <a:avLst/>
              <a:gdLst/>
              <a:ahLst/>
              <a:cxnLst/>
              <a:rect r="r" b="b" t="t" l="l"/>
              <a:pathLst>
                <a:path h="3823081" w="5806567">
                  <a:moveTo>
                    <a:pt x="0" y="0"/>
                  </a:moveTo>
                  <a:lnTo>
                    <a:pt x="5806567" y="0"/>
                  </a:lnTo>
                  <a:lnTo>
                    <a:pt x="5806567" y="3823081"/>
                  </a:lnTo>
                  <a:lnTo>
                    <a:pt x="0" y="3823081"/>
                  </a:lnTo>
                  <a:lnTo>
                    <a:pt x="0" y="0"/>
                  </a:lnTo>
                  <a:close/>
                </a:path>
              </a:pathLst>
            </a:custGeom>
            <a:blipFill>
              <a:blip r:embed="rId2"/>
              <a:stretch>
                <a:fillRect l="0" t="0" r="0" b="0"/>
              </a:stretch>
            </a:blipFill>
          </p:spPr>
        </p:sp>
      </p:grpSp>
      <p:grpSp>
        <p:nvGrpSpPr>
          <p:cNvPr name="Group 8" id="8"/>
          <p:cNvGrpSpPr/>
          <p:nvPr/>
        </p:nvGrpSpPr>
        <p:grpSpPr>
          <a:xfrm rot="0">
            <a:off x="11811641" y="6369183"/>
            <a:ext cx="4354955" cy="2500257"/>
            <a:chOff x="0" y="0"/>
            <a:chExt cx="5806607" cy="3333676"/>
          </a:xfrm>
        </p:grpSpPr>
        <p:sp>
          <p:nvSpPr>
            <p:cNvPr name="Freeform 9" id="9"/>
            <p:cNvSpPr/>
            <p:nvPr/>
          </p:nvSpPr>
          <p:spPr>
            <a:xfrm flipH="false" flipV="false" rot="0">
              <a:off x="0" y="0"/>
              <a:ext cx="5806567" cy="3333623"/>
            </a:xfrm>
            <a:custGeom>
              <a:avLst/>
              <a:gdLst/>
              <a:ahLst/>
              <a:cxnLst/>
              <a:rect r="r" b="b" t="t" l="l"/>
              <a:pathLst>
                <a:path h="3333623" w="5806567">
                  <a:moveTo>
                    <a:pt x="0" y="0"/>
                  </a:moveTo>
                  <a:lnTo>
                    <a:pt x="5806567" y="0"/>
                  </a:lnTo>
                  <a:lnTo>
                    <a:pt x="5806567" y="3333623"/>
                  </a:lnTo>
                  <a:lnTo>
                    <a:pt x="0" y="3333623"/>
                  </a:lnTo>
                  <a:lnTo>
                    <a:pt x="0" y="0"/>
                  </a:lnTo>
                  <a:close/>
                </a:path>
              </a:pathLst>
            </a:custGeom>
            <a:blipFill>
              <a:blip r:embed="rId3"/>
              <a:stretch>
                <a:fillRect l="0" t="0" r="0" b="-1"/>
              </a:stretch>
            </a:blipFill>
          </p:spPr>
        </p:sp>
      </p:grpSp>
      <p:grpSp>
        <p:nvGrpSpPr>
          <p:cNvPr name="Group 10" id="10"/>
          <p:cNvGrpSpPr/>
          <p:nvPr/>
        </p:nvGrpSpPr>
        <p:grpSpPr>
          <a:xfrm rot="0">
            <a:off x="854006" y="2513420"/>
            <a:ext cx="8889735" cy="6581140"/>
            <a:chOff x="0" y="0"/>
            <a:chExt cx="11852980" cy="8774853"/>
          </a:xfrm>
        </p:grpSpPr>
        <p:sp>
          <p:nvSpPr>
            <p:cNvPr name="Freeform 11" id="11"/>
            <p:cNvSpPr/>
            <p:nvPr/>
          </p:nvSpPr>
          <p:spPr>
            <a:xfrm flipH="false" flipV="false" rot="0">
              <a:off x="0" y="0"/>
              <a:ext cx="11852980" cy="8774854"/>
            </a:xfrm>
            <a:custGeom>
              <a:avLst/>
              <a:gdLst/>
              <a:ahLst/>
              <a:cxnLst/>
              <a:rect r="r" b="b" t="t" l="l"/>
              <a:pathLst>
                <a:path h="8774854" w="11852980">
                  <a:moveTo>
                    <a:pt x="0" y="0"/>
                  </a:moveTo>
                  <a:lnTo>
                    <a:pt x="11852980" y="0"/>
                  </a:lnTo>
                  <a:lnTo>
                    <a:pt x="11852980" y="8774854"/>
                  </a:lnTo>
                  <a:lnTo>
                    <a:pt x="0" y="8774854"/>
                  </a:lnTo>
                  <a:close/>
                </a:path>
              </a:pathLst>
            </a:custGeom>
            <a:solidFill>
              <a:srgbClr val="000000">
                <a:alpha val="0"/>
              </a:srgbClr>
            </a:solidFill>
          </p:spPr>
        </p:sp>
        <p:sp>
          <p:nvSpPr>
            <p:cNvPr name="TextBox 12" id="12"/>
            <p:cNvSpPr txBox="true"/>
            <p:nvPr/>
          </p:nvSpPr>
          <p:spPr>
            <a:xfrm>
              <a:off x="0" y="-66675"/>
              <a:ext cx="11852980" cy="8841528"/>
            </a:xfrm>
            <a:prstGeom prst="rect">
              <a:avLst/>
            </a:prstGeom>
          </p:spPr>
          <p:txBody>
            <a:bodyPr anchor="t" rtlCol="false" tIns="0" lIns="0" bIns="0" rIns="0"/>
            <a:lstStyle/>
            <a:p>
              <a:pPr algn="l" marL="777118" indent="-259039" lvl="2">
                <a:lnSpc>
                  <a:spcPts val="4759"/>
                </a:lnSpc>
                <a:buFont typeface="Arial"/>
                <a:buChar char="⚬"/>
              </a:pPr>
              <a:r>
                <a:rPr lang="en-US" b="true" sz="3399">
                  <a:solidFill>
                    <a:srgbClr val="FFFFFF"/>
                  </a:solidFill>
                  <a:latin typeface="Canva Sans Bold"/>
                  <a:ea typeface="Canva Sans Bold"/>
                  <a:cs typeface="Canva Sans Bold"/>
                  <a:sym typeface="Canva Sans Bold"/>
                </a:rPr>
                <a:t>Nodos:</a:t>
              </a:r>
              <a:r>
                <a:rPr lang="en-US" sz="3399">
                  <a:solidFill>
                    <a:srgbClr val="FFFFFF"/>
                  </a:solidFill>
                  <a:latin typeface="Canva Sans"/>
                  <a:ea typeface="Canva Sans"/>
                  <a:cs typeface="Canva Sans"/>
                  <a:sym typeface="Canva Sans"/>
                </a:rPr>
                <a:t> Se le llama nodo a cada elemento que contiene el árbol </a:t>
              </a:r>
            </a:p>
            <a:p>
              <a:pPr algn="l" marL="777118" indent="-259039" lvl="2">
                <a:lnSpc>
                  <a:spcPts val="4759"/>
                </a:lnSpc>
                <a:buFont typeface="Arial"/>
                <a:buChar char="⚬"/>
              </a:pPr>
              <a:r>
                <a:rPr lang="en-US" b="true" sz="3399">
                  <a:solidFill>
                    <a:srgbClr val="FFFFFF"/>
                  </a:solidFill>
                  <a:latin typeface="Canva Sans Bold"/>
                  <a:ea typeface="Canva Sans Bold"/>
                  <a:cs typeface="Canva Sans Bold"/>
                  <a:sym typeface="Canva Sans Bold"/>
                </a:rPr>
                <a:t>Nodo padre:</a:t>
              </a:r>
              <a:r>
                <a:rPr lang="en-US" sz="3399">
                  <a:solidFill>
                    <a:srgbClr val="FFFFFF"/>
                  </a:solidFill>
                  <a:latin typeface="Canva Sans"/>
                  <a:ea typeface="Canva Sans"/>
                  <a:cs typeface="Canva Sans"/>
                  <a:sym typeface="Canva Sans"/>
                </a:rPr>
                <a:t> Se utiliza este término para llamar a todos aquellos nodos que tienen al menos un hijo. </a:t>
              </a:r>
            </a:p>
            <a:p>
              <a:pPr algn="l" marL="777118" indent="-259039" lvl="2">
                <a:lnSpc>
                  <a:spcPts val="4759"/>
                </a:lnSpc>
                <a:buFont typeface="Arial"/>
                <a:buChar char="⚬"/>
              </a:pPr>
              <a:r>
                <a:rPr lang="en-US" b="true" sz="3399">
                  <a:solidFill>
                    <a:srgbClr val="FFFFFF"/>
                  </a:solidFill>
                  <a:latin typeface="Canva Sans Bold"/>
                  <a:ea typeface="Canva Sans Bold"/>
                  <a:cs typeface="Canva Sans Bold"/>
                  <a:sym typeface="Canva Sans Bold"/>
                </a:rPr>
                <a:t>Nodo hijo:</a:t>
              </a:r>
              <a:r>
                <a:rPr lang="en-US" sz="3399">
                  <a:solidFill>
                    <a:srgbClr val="FFFFFF"/>
                  </a:solidFill>
                  <a:latin typeface="Canva Sans"/>
                  <a:ea typeface="Canva Sans"/>
                  <a:cs typeface="Canva Sans"/>
                  <a:sym typeface="Canva Sans"/>
                </a:rPr>
                <a:t> Los hijos son todos aquellos nodos que tienen un padre. </a:t>
              </a:r>
            </a:p>
            <a:p>
              <a:pPr algn="l" marL="777118" indent="-259039" lvl="2">
                <a:lnSpc>
                  <a:spcPts val="4759"/>
                </a:lnSpc>
                <a:buFont typeface="Arial"/>
                <a:buChar char="⚬"/>
              </a:pPr>
              <a:r>
                <a:rPr lang="en-US" b="true" sz="3399">
                  <a:solidFill>
                    <a:srgbClr val="FFFFFF"/>
                  </a:solidFill>
                  <a:latin typeface="Canva Sans Bold"/>
                  <a:ea typeface="Canva Sans Bold"/>
                  <a:cs typeface="Canva Sans Bold"/>
                  <a:sym typeface="Canva Sans Bold"/>
                </a:rPr>
                <a:t>Nodo hermano:</a:t>
              </a:r>
              <a:r>
                <a:rPr lang="en-US" sz="3399">
                  <a:solidFill>
                    <a:srgbClr val="FFFFFF"/>
                  </a:solidFill>
                  <a:latin typeface="Canva Sans"/>
                  <a:ea typeface="Canva Sans"/>
                  <a:cs typeface="Canva Sans"/>
                  <a:sym typeface="Canva Sans"/>
                </a:rPr>
                <a:t> Los nodos hermanos son aquellos nodos que comparten un mismo padre en común dentro de la estructura.</a:t>
              </a:r>
            </a:p>
          </p:txBody>
        </p:sp>
      </p:grpSp>
      <p:grpSp>
        <p:nvGrpSpPr>
          <p:cNvPr name="Group 13" id="13"/>
          <p:cNvGrpSpPr/>
          <p:nvPr/>
        </p:nvGrpSpPr>
        <p:grpSpPr>
          <a:xfrm rot="0">
            <a:off x="4304192" y="168488"/>
            <a:ext cx="9340215" cy="2377775"/>
            <a:chOff x="0" y="0"/>
            <a:chExt cx="12453620" cy="3170367"/>
          </a:xfrm>
        </p:grpSpPr>
        <p:sp>
          <p:nvSpPr>
            <p:cNvPr name="Freeform 14" id="14"/>
            <p:cNvSpPr/>
            <p:nvPr/>
          </p:nvSpPr>
          <p:spPr>
            <a:xfrm flipH="false" flipV="false" rot="0">
              <a:off x="0" y="0"/>
              <a:ext cx="12453620" cy="3170367"/>
            </a:xfrm>
            <a:custGeom>
              <a:avLst/>
              <a:gdLst/>
              <a:ahLst/>
              <a:cxnLst/>
              <a:rect r="r" b="b" t="t" l="l"/>
              <a:pathLst>
                <a:path h="3170367" w="12453620">
                  <a:moveTo>
                    <a:pt x="0" y="0"/>
                  </a:moveTo>
                  <a:lnTo>
                    <a:pt x="12453620" y="0"/>
                  </a:lnTo>
                  <a:lnTo>
                    <a:pt x="12453620" y="3170367"/>
                  </a:lnTo>
                  <a:lnTo>
                    <a:pt x="0" y="3170367"/>
                  </a:lnTo>
                  <a:close/>
                </a:path>
              </a:pathLst>
            </a:custGeom>
            <a:solidFill>
              <a:srgbClr val="000000">
                <a:alpha val="0"/>
              </a:srgbClr>
            </a:solidFill>
          </p:spPr>
        </p:sp>
        <p:sp>
          <p:nvSpPr>
            <p:cNvPr name="TextBox 15" id="15"/>
            <p:cNvSpPr txBox="true"/>
            <p:nvPr/>
          </p:nvSpPr>
          <p:spPr>
            <a:xfrm>
              <a:off x="0" y="28575"/>
              <a:ext cx="12453620" cy="3141792"/>
            </a:xfrm>
            <a:prstGeom prst="rect">
              <a:avLst/>
            </a:prstGeom>
          </p:spPr>
          <p:txBody>
            <a:bodyPr anchor="t" rtlCol="false" tIns="0" lIns="0" bIns="0" rIns="0"/>
            <a:lstStyle/>
            <a:p>
              <a:pPr algn="ctr">
                <a:lnSpc>
                  <a:spcPts val="6531"/>
                </a:lnSpc>
              </a:pPr>
              <a:r>
                <a:rPr lang="en-US" b="true" sz="6220" spc="311">
                  <a:solidFill>
                    <a:srgbClr val="FFFFFF"/>
                  </a:solidFill>
                  <a:latin typeface="Poppins Bold"/>
                  <a:ea typeface="Poppins Bold"/>
                  <a:cs typeface="Poppins Bold"/>
                  <a:sym typeface="Poppins Bold"/>
                </a:rPr>
                <a:t>RELACION CON OTROS NODOS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381190">
            <a:off x="3844377" y="-703112"/>
            <a:ext cx="18288000" cy="988836"/>
            <a:chOff x="0" y="0"/>
            <a:chExt cx="24384000" cy="1318448"/>
          </a:xfrm>
        </p:grpSpPr>
        <p:sp>
          <p:nvSpPr>
            <p:cNvPr name="Freeform 3" id="3"/>
            <p:cNvSpPr/>
            <p:nvPr/>
          </p:nvSpPr>
          <p:spPr>
            <a:xfrm flipH="false" flipV="false" rot="0">
              <a:off x="0" y="0"/>
              <a:ext cx="24384000" cy="1318387"/>
            </a:xfrm>
            <a:custGeom>
              <a:avLst/>
              <a:gdLst/>
              <a:ahLst/>
              <a:cxnLst/>
              <a:rect r="r" b="b" t="t" l="l"/>
              <a:pathLst>
                <a:path h="1318387" w="24384000">
                  <a:moveTo>
                    <a:pt x="0" y="0"/>
                  </a:moveTo>
                  <a:lnTo>
                    <a:pt x="24384000" y="0"/>
                  </a:lnTo>
                  <a:lnTo>
                    <a:pt x="24384000" y="1318387"/>
                  </a:lnTo>
                  <a:lnTo>
                    <a:pt x="0" y="1318387"/>
                  </a:lnTo>
                  <a:close/>
                </a:path>
              </a:pathLst>
            </a:custGeom>
            <a:solidFill>
              <a:srgbClr val="2B4A9D"/>
            </a:solidFill>
          </p:spPr>
        </p:sp>
      </p:grpSp>
      <p:grpSp>
        <p:nvGrpSpPr>
          <p:cNvPr name="Group 4" id="4"/>
          <p:cNvGrpSpPr/>
          <p:nvPr/>
        </p:nvGrpSpPr>
        <p:grpSpPr>
          <a:xfrm rot="-284447">
            <a:off x="-3836640" y="-634752"/>
            <a:ext cx="18288000" cy="909273"/>
            <a:chOff x="0" y="0"/>
            <a:chExt cx="24384000" cy="1212364"/>
          </a:xfrm>
        </p:grpSpPr>
        <p:sp>
          <p:nvSpPr>
            <p:cNvPr name="Freeform 5" id="5"/>
            <p:cNvSpPr/>
            <p:nvPr/>
          </p:nvSpPr>
          <p:spPr>
            <a:xfrm flipH="false" flipV="false" rot="0">
              <a:off x="0" y="0"/>
              <a:ext cx="24384000" cy="1212342"/>
            </a:xfrm>
            <a:custGeom>
              <a:avLst/>
              <a:gdLst/>
              <a:ahLst/>
              <a:cxnLst/>
              <a:rect r="r" b="b" t="t" l="l"/>
              <a:pathLst>
                <a:path h="1212342" w="24384000">
                  <a:moveTo>
                    <a:pt x="0" y="0"/>
                  </a:moveTo>
                  <a:lnTo>
                    <a:pt x="24384000" y="0"/>
                  </a:lnTo>
                  <a:lnTo>
                    <a:pt x="24384000" y="1212342"/>
                  </a:lnTo>
                  <a:lnTo>
                    <a:pt x="0" y="1212342"/>
                  </a:lnTo>
                  <a:close/>
                </a:path>
              </a:pathLst>
            </a:custGeom>
            <a:solidFill>
              <a:srgbClr val="2B4A9D"/>
            </a:solidFill>
          </p:spPr>
        </p:sp>
      </p:grpSp>
      <p:grpSp>
        <p:nvGrpSpPr>
          <p:cNvPr name="Group 6" id="6"/>
          <p:cNvGrpSpPr/>
          <p:nvPr/>
        </p:nvGrpSpPr>
        <p:grpSpPr>
          <a:xfrm rot="381190">
            <a:off x="4005261" y="-550241"/>
            <a:ext cx="18288000" cy="835494"/>
            <a:chOff x="0" y="0"/>
            <a:chExt cx="24384000" cy="1113992"/>
          </a:xfrm>
        </p:grpSpPr>
        <p:sp>
          <p:nvSpPr>
            <p:cNvPr name="Freeform 7" id="7"/>
            <p:cNvSpPr/>
            <p:nvPr/>
          </p:nvSpPr>
          <p:spPr>
            <a:xfrm flipH="false" flipV="false" rot="0">
              <a:off x="0" y="0"/>
              <a:ext cx="24384000" cy="1114044"/>
            </a:xfrm>
            <a:custGeom>
              <a:avLst/>
              <a:gdLst/>
              <a:ahLst/>
              <a:cxnLst/>
              <a:rect r="r" b="b" t="t" l="l"/>
              <a:pathLst>
                <a:path h="1114044" w="24384000">
                  <a:moveTo>
                    <a:pt x="0" y="0"/>
                  </a:moveTo>
                  <a:lnTo>
                    <a:pt x="24384000" y="0"/>
                  </a:lnTo>
                  <a:lnTo>
                    <a:pt x="24384000" y="1114044"/>
                  </a:lnTo>
                  <a:lnTo>
                    <a:pt x="0" y="1114044"/>
                  </a:lnTo>
                  <a:close/>
                </a:path>
              </a:pathLst>
            </a:custGeom>
            <a:solidFill>
              <a:srgbClr val="2B4A9D"/>
            </a:solidFill>
          </p:spPr>
        </p:sp>
      </p:grpSp>
      <p:grpSp>
        <p:nvGrpSpPr>
          <p:cNvPr name="Group 8" id="8"/>
          <p:cNvGrpSpPr/>
          <p:nvPr/>
        </p:nvGrpSpPr>
        <p:grpSpPr>
          <a:xfrm rot="0">
            <a:off x="9483657" y="2775928"/>
            <a:ext cx="7999278" cy="4735143"/>
            <a:chOff x="0" y="0"/>
            <a:chExt cx="10665704" cy="6313524"/>
          </a:xfrm>
        </p:grpSpPr>
        <p:sp>
          <p:nvSpPr>
            <p:cNvPr name="Freeform 9" id="9"/>
            <p:cNvSpPr/>
            <p:nvPr/>
          </p:nvSpPr>
          <p:spPr>
            <a:xfrm flipH="false" flipV="false" rot="0">
              <a:off x="0" y="0"/>
              <a:ext cx="10665714" cy="6313551"/>
            </a:xfrm>
            <a:custGeom>
              <a:avLst/>
              <a:gdLst/>
              <a:ahLst/>
              <a:cxnLst/>
              <a:rect r="r" b="b" t="t" l="l"/>
              <a:pathLst>
                <a:path h="6313551" w="10665714">
                  <a:moveTo>
                    <a:pt x="0" y="0"/>
                  </a:moveTo>
                  <a:lnTo>
                    <a:pt x="10665714" y="0"/>
                  </a:lnTo>
                  <a:lnTo>
                    <a:pt x="10665714" y="6313551"/>
                  </a:lnTo>
                  <a:lnTo>
                    <a:pt x="0" y="6313551"/>
                  </a:lnTo>
                  <a:lnTo>
                    <a:pt x="0" y="0"/>
                  </a:lnTo>
                  <a:close/>
                </a:path>
              </a:pathLst>
            </a:custGeom>
            <a:blipFill>
              <a:blip r:embed="rId2"/>
              <a:stretch>
                <a:fillRect l="0" t="0" r="0" b="0"/>
              </a:stretch>
            </a:blipFill>
          </p:spPr>
        </p:sp>
      </p:grpSp>
      <p:grpSp>
        <p:nvGrpSpPr>
          <p:cNvPr name="Group 10" id="10"/>
          <p:cNvGrpSpPr/>
          <p:nvPr/>
        </p:nvGrpSpPr>
        <p:grpSpPr>
          <a:xfrm rot="0">
            <a:off x="1064125" y="2594833"/>
            <a:ext cx="6819534" cy="6292423"/>
            <a:chOff x="0" y="0"/>
            <a:chExt cx="9092712" cy="8389897"/>
          </a:xfrm>
        </p:grpSpPr>
        <p:sp>
          <p:nvSpPr>
            <p:cNvPr name="Freeform 11" id="11"/>
            <p:cNvSpPr/>
            <p:nvPr/>
          </p:nvSpPr>
          <p:spPr>
            <a:xfrm flipH="false" flipV="false" rot="0">
              <a:off x="0" y="0"/>
              <a:ext cx="9092712" cy="8389897"/>
            </a:xfrm>
            <a:custGeom>
              <a:avLst/>
              <a:gdLst/>
              <a:ahLst/>
              <a:cxnLst/>
              <a:rect r="r" b="b" t="t" l="l"/>
              <a:pathLst>
                <a:path h="8389897" w="9092712">
                  <a:moveTo>
                    <a:pt x="0" y="0"/>
                  </a:moveTo>
                  <a:lnTo>
                    <a:pt x="9092712" y="0"/>
                  </a:lnTo>
                  <a:lnTo>
                    <a:pt x="9092712" y="8389897"/>
                  </a:lnTo>
                  <a:lnTo>
                    <a:pt x="0" y="8389897"/>
                  </a:lnTo>
                  <a:close/>
                </a:path>
              </a:pathLst>
            </a:custGeom>
            <a:solidFill>
              <a:srgbClr val="000000">
                <a:alpha val="0"/>
              </a:srgbClr>
            </a:solidFill>
          </p:spPr>
        </p:sp>
        <p:sp>
          <p:nvSpPr>
            <p:cNvPr name="TextBox 12" id="12"/>
            <p:cNvSpPr txBox="true"/>
            <p:nvPr/>
          </p:nvSpPr>
          <p:spPr>
            <a:xfrm>
              <a:off x="0" y="-47625"/>
              <a:ext cx="9092712" cy="8437522"/>
            </a:xfrm>
            <a:prstGeom prst="rect">
              <a:avLst/>
            </a:prstGeom>
          </p:spPr>
          <p:txBody>
            <a:bodyPr anchor="t" rtlCol="false" tIns="0" lIns="0" bIns="0" rIns="0"/>
            <a:lstStyle/>
            <a:p>
              <a:pPr algn="l" marL="632397" indent="-210799" lvl="2">
                <a:lnSpc>
                  <a:spcPts val="3873"/>
                </a:lnSpc>
                <a:buFont typeface="Arial"/>
                <a:buChar char="⚬"/>
              </a:pPr>
              <a:r>
                <a:rPr lang="en-US" b="true" sz="2765">
                  <a:solidFill>
                    <a:srgbClr val="2B4A9D"/>
                  </a:solidFill>
                  <a:latin typeface="Canva Sans Bold"/>
                  <a:ea typeface="Canva Sans Bold"/>
                  <a:cs typeface="Canva Sans Bold"/>
                  <a:sym typeface="Canva Sans Bold"/>
                </a:rPr>
                <a:t>Nodo Raíz</a:t>
              </a:r>
              <a:r>
                <a:rPr lang="en-US" sz="2765">
                  <a:solidFill>
                    <a:srgbClr val="2B4A9D"/>
                  </a:solidFill>
                  <a:latin typeface="Canva Sans"/>
                  <a:ea typeface="Canva Sans"/>
                  <a:cs typeface="Canva Sans"/>
                  <a:sym typeface="Canva Sans"/>
                </a:rPr>
                <a:t>. Se refiere al primer nodo de un árbol. Solo un nodo del árbol puede ser la raíz.</a:t>
              </a:r>
            </a:p>
            <a:p>
              <a:pPr algn="l" marL="632397" indent="-210799" lvl="2">
                <a:lnSpc>
                  <a:spcPts val="3873"/>
                </a:lnSpc>
              </a:pPr>
            </a:p>
            <a:p>
              <a:pPr algn="l" marL="632397" indent="-210799" lvl="2">
                <a:lnSpc>
                  <a:spcPts val="3873"/>
                </a:lnSpc>
                <a:buFont typeface="Arial"/>
                <a:buChar char="⚬"/>
              </a:pPr>
              <a:r>
                <a:rPr lang="en-US" b="true" sz="2765">
                  <a:solidFill>
                    <a:srgbClr val="2B4A9D"/>
                  </a:solidFill>
                  <a:latin typeface="Canva Sans Bold"/>
                  <a:ea typeface="Canva Sans Bold"/>
                  <a:cs typeface="Canva Sans Bold"/>
                  <a:sym typeface="Canva Sans Bold"/>
                </a:rPr>
                <a:t>Nodo Hoja.</a:t>
              </a:r>
              <a:r>
                <a:rPr lang="en-US" sz="2765">
                  <a:solidFill>
                    <a:srgbClr val="2B4A9D"/>
                  </a:solidFill>
                  <a:latin typeface="Canva Sans"/>
                  <a:ea typeface="Canva Sans"/>
                  <a:cs typeface="Canva Sans"/>
                  <a:sym typeface="Canva Sans"/>
                </a:rPr>
                <a:t> Son todos aquellos nodos que no tienen hijos, los cuales siempre se encuentran en los extremos de la estructura. </a:t>
              </a:r>
            </a:p>
            <a:p>
              <a:pPr algn="l" marL="632397" indent="-210799" lvl="2">
                <a:lnSpc>
                  <a:spcPts val="3873"/>
                </a:lnSpc>
              </a:pPr>
            </a:p>
            <a:p>
              <a:pPr algn="l" marL="632397" indent="-210799" lvl="2">
                <a:lnSpc>
                  <a:spcPts val="3873"/>
                </a:lnSpc>
                <a:buFont typeface="Arial"/>
                <a:buChar char="⚬"/>
              </a:pPr>
              <a:r>
                <a:rPr lang="en-US" b="true" sz="2765">
                  <a:solidFill>
                    <a:srgbClr val="2B4A9D"/>
                  </a:solidFill>
                  <a:latin typeface="Canva Sans Bold"/>
                  <a:ea typeface="Canva Sans Bold"/>
                  <a:cs typeface="Canva Sans Bold"/>
                  <a:sym typeface="Canva Sans Bold"/>
                </a:rPr>
                <a:t>Nodo Interior o Rama. </a:t>
              </a:r>
              <a:r>
                <a:rPr lang="en-US" sz="2765">
                  <a:solidFill>
                    <a:srgbClr val="2B4A9D"/>
                  </a:solidFill>
                  <a:latin typeface="Canva Sans"/>
                  <a:ea typeface="Canva Sans"/>
                  <a:cs typeface="Canva Sans"/>
                  <a:sym typeface="Canva Sans"/>
                </a:rPr>
                <a:t>Estos son todos aquellos nodos que no son la raíz y que además tiene al menos un hijo</a:t>
              </a:r>
            </a:p>
          </p:txBody>
        </p:sp>
      </p:grpSp>
      <p:grpSp>
        <p:nvGrpSpPr>
          <p:cNvPr name="Group 13" id="13"/>
          <p:cNvGrpSpPr/>
          <p:nvPr/>
        </p:nvGrpSpPr>
        <p:grpSpPr>
          <a:xfrm rot="0">
            <a:off x="4473892" y="217058"/>
            <a:ext cx="9340215" cy="2377775"/>
            <a:chOff x="0" y="0"/>
            <a:chExt cx="12453620" cy="3170367"/>
          </a:xfrm>
        </p:grpSpPr>
        <p:sp>
          <p:nvSpPr>
            <p:cNvPr name="Freeform 14" id="14"/>
            <p:cNvSpPr/>
            <p:nvPr/>
          </p:nvSpPr>
          <p:spPr>
            <a:xfrm flipH="false" flipV="false" rot="0">
              <a:off x="0" y="0"/>
              <a:ext cx="12453620" cy="3170367"/>
            </a:xfrm>
            <a:custGeom>
              <a:avLst/>
              <a:gdLst/>
              <a:ahLst/>
              <a:cxnLst/>
              <a:rect r="r" b="b" t="t" l="l"/>
              <a:pathLst>
                <a:path h="3170367" w="12453620">
                  <a:moveTo>
                    <a:pt x="0" y="0"/>
                  </a:moveTo>
                  <a:lnTo>
                    <a:pt x="12453620" y="0"/>
                  </a:lnTo>
                  <a:lnTo>
                    <a:pt x="12453620" y="3170367"/>
                  </a:lnTo>
                  <a:lnTo>
                    <a:pt x="0" y="3170367"/>
                  </a:lnTo>
                  <a:close/>
                </a:path>
              </a:pathLst>
            </a:custGeom>
            <a:solidFill>
              <a:srgbClr val="000000">
                <a:alpha val="0"/>
              </a:srgbClr>
            </a:solidFill>
          </p:spPr>
        </p:sp>
        <p:sp>
          <p:nvSpPr>
            <p:cNvPr name="TextBox 15" id="15"/>
            <p:cNvSpPr txBox="true"/>
            <p:nvPr/>
          </p:nvSpPr>
          <p:spPr>
            <a:xfrm>
              <a:off x="0" y="28575"/>
              <a:ext cx="12453620" cy="3141792"/>
            </a:xfrm>
            <a:prstGeom prst="rect">
              <a:avLst/>
            </a:prstGeom>
          </p:spPr>
          <p:txBody>
            <a:bodyPr anchor="t" rtlCol="false" tIns="0" lIns="0" bIns="0" rIns="0"/>
            <a:lstStyle/>
            <a:p>
              <a:pPr algn="ctr">
                <a:lnSpc>
                  <a:spcPts val="6531"/>
                </a:lnSpc>
              </a:pPr>
              <a:r>
                <a:rPr lang="en-US" b="true" sz="6220" spc="311">
                  <a:solidFill>
                    <a:srgbClr val="2B4A9D"/>
                  </a:solidFill>
                  <a:latin typeface="Poppins Bold"/>
                  <a:ea typeface="Poppins Bold"/>
                  <a:cs typeface="Poppins Bold"/>
                  <a:sym typeface="Poppins Bold"/>
                </a:rPr>
                <a:t>RELACION A LA POSICION</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700000">
            <a:off x="17801712" y="3018912"/>
            <a:ext cx="4249175" cy="4249175"/>
            <a:chOff x="0" y="0"/>
            <a:chExt cx="5665567" cy="5665567"/>
          </a:xfrm>
        </p:grpSpPr>
        <p:sp>
          <p:nvSpPr>
            <p:cNvPr name="Freeform 3" id="3"/>
            <p:cNvSpPr/>
            <p:nvPr/>
          </p:nvSpPr>
          <p:spPr>
            <a:xfrm flipH="false" flipV="false" rot="0">
              <a:off x="0" y="0"/>
              <a:ext cx="5665597" cy="5665597"/>
            </a:xfrm>
            <a:custGeom>
              <a:avLst/>
              <a:gdLst/>
              <a:ahLst/>
              <a:cxnLst/>
              <a:rect r="r" b="b" t="t" l="l"/>
              <a:pathLst>
                <a:path h="5665597" w="5665597">
                  <a:moveTo>
                    <a:pt x="0" y="0"/>
                  </a:moveTo>
                  <a:lnTo>
                    <a:pt x="5665597" y="0"/>
                  </a:lnTo>
                  <a:lnTo>
                    <a:pt x="5665597" y="5665597"/>
                  </a:lnTo>
                  <a:lnTo>
                    <a:pt x="0" y="5665597"/>
                  </a:lnTo>
                  <a:close/>
                </a:path>
              </a:pathLst>
            </a:custGeom>
            <a:solidFill>
              <a:srgbClr val="5271FF"/>
            </a:solidFill>
          </p:spPr>
        </p:sp>
      </p:grpSp>
      <p:grpSp>
        <p:nvGrpSpPr>
          <p:cNvPr name="Group 4" id="4"/>
          <p:cNvGrpSpPr/>
          <p:nvPr/>
        </p:nvGrpSpPr>
        <p:grpSpPr>
          <a:xfrm rot="2700000">
            <a:off x="18016035" y="3316580"/>
            <a:ext cx="3653841" cy="3653841"/>
            <a:chOff x="0" y="0"/>
            <a:chExt cx="4871788" cy="4871788"/>
          </a:xfrm>
        </p:grpSpPr>
        <p:sp>
          <p:nvSpPr>
            <p:cNvPr name="Freeform 5" id="5"/>
            <p:cNvSpPr/>
            <p:nvPr/>
          </p:nvSpPr>
          <p:spPr>
            <a:xfrm flipH="false" flipV="false" rot="0">
              <a:off x="0" y="0"/>
              <a:ext cx="4871847" cy="4871847"/>
            </a:xfrm>
            <a:custGeom>
              <a:avLst/>
              <a:gdLst/>
              <a:ahLst/>
              <a:cxnLst/>
              <a:rect r="r" b="b" t="t" l="l"/>
              <a:pathLst>
                <a:path h="4871847" w="4871847">
                  <a:moveTo>
                    <a:pt x="0" y="0"/>
                  </a:moveTo>
                  <a:lnTo>
                    <a:pt x="0" y="4871847"/>
                  </a:lnTo>
                  <a:lnTo>
                    <a:pt x="4871847" y="4871847"/>
                  </a:lnTo>
                  <a:lnTo>
                    <a:pt x="4871847" y="0"/>
                  </a:lnTo>
                  <a:lnTo>
                    <a:pt x="0" y="0"/>
                  </a:lnTo>
                  <a:close/>
                  <a:moveTo>
                    <a:pt x="4716653" y="4716653"/>
                  </a:moveTo>
                  <a:lnTo>
                    <a:pt x="151892" y="4716653"/>
                  </a:lnTo>
                  <a:lnTo>
                    <a:pt x="151892" y="151892"/>
                  </a:lnTo>
                  <a:lnTo>
                    <a:pt x="4716653" y="151892"/>
                  </a:lnTo>
                  <a:lnTo>
                    <a:pt x="4716653" y="4716653"/>
                  </a:lnTo>
                  <a:close/>
                </a:path>
              </a:pathLst>
            </a:custGeom>
            <a:solidFill>
              <a:srgbClr val="FFFFFF"/>
            </a:solidFill>
          </p:spPr>
        </p:sp>
      </p:grpSp>
      <p:grpSp>
        <p:nvGrpSpPr>
          <p:cNvPr name="Group 6" id="6"/>
          <p:cNvGrpSpPr/>
          <p:nvPr/>
        </p:nvGrpSpPr>
        <p:grpSpPr>
          <a:xfrm rot="2700000">
            <a:off x="13386722" y="9391458"/>
            <a:ext cx="3362499" cy="5745117"/>
            <a:chOff x="0" y="0"/>
            <a:chExt cx="4483332" cy="7660156"/>
          </a:xfrm>
        </p:grpSpPr>
        <p:sp>
          <p:nvSpPr>
            <p:cNvPr name="Freeform 7" id="7"/>
            <p:cNvSpPr/>
            <p:nvPr/>
          </p:nvSpPr>
          <p:spPr>
            <a:xfrm flipH="false" flipV="false" rot="0">
              <a:off x="0" y="0"/>
              <a:ext cx="4483354" cy="7660132"/>
            </a:xfrm>
            <a:custGeom>
              <a:avLst/>
              <a:gdLst/>
              <a:ahLst/>
              <a:cxnLst/>
              <a:rect r="r" b="b" t="t" l="l"/>
              <a:pathLst>
                <a:path h="7660132" w="4483354">
                  <a:moveTo>
                    <a:pt x="0" y="0"/>
                  </a:moveTo>
                  <a:lnTo>
                    <a:pt x="0" y="7660132"/>
                  </a:lnTo>
                  <a:lnTo>
                    <a:pt x="4483354" y="7660132"/>
                  </a:lnTo>
                  <a:lnTo>
                    <a:pt x="4483354" y="0"/>
                  </a:lnTo>
                  <a:lnTo>
                    <a:pt x="0" y="0"/>
                  </a:lnTo>
                  <a:close/>
                  <a:moveTo>
                    <a:pt x="4221480" y="7398385"/>
                  </a:moveTo>
                  <a:lnTo>
                    <a:pt x="256286" y="7398385"/>
                  </a:lnTo>
                  <a:lnTo>
                    <a:pt x="256286" y="256286"/>
                  </a:lnTo>
                  <a:lnTo>
                    <a:pt x="4221480" y="256286"/>
                  </a:lnTo>
                  <a:lnTo>
                    <a:pt x="4221480" y="7398385"/>
                  </a:lnTo>
                  <a:close/>
                </a:path>
              </a:pathLst>
            </a:custGeom>
            <a:solidFill>
              <a:srgbClr val="2B4A9D"/>
            </a:solidFill>
          </p:spPr>
        </p:sp>
      </p:grpSp>
      <p:grpSp>
        <p:nvGrpSpPr>
          <p:cNvPr name="Group 8" id="8"/>
          <p:cNvGrpSpPr/>
          <p:nvPr/>
        </p:nvGrpSpPr>
        <p:grpSpPr>
          <a:xfrm rot="2700000">
            <a:off x="12024455" y="-4285306"/>
            <a:ext cx="4402267" cy="4402267"/>
            <a:chOff x="0" y="0"/>
            <a:chExt cx="5869689" cy="5869689"/>
          </a:xfrm>
        </p:grpSpPr>
        <p:sp>
          <p:nvSpPr>
            <p:cNvPr name="Freeform 9" id="9"/>
            <p:cNvSpPr/>
            <p:nvPr/>
          </p:nvSpPr>
          <p:spPr>
            <a:xfrm flipH="false" flipV="false" rot="0">
              <a:off x="0" y="0"/>
              <a:ext cx="5869686" cy="5869686"/>
            </a:xfrm>
            <a:custGeom>
              <a:avLst/>
              <a:gdLst/>
              <a:ahLst/>
              <a:cxnLst/>
              <a:rect r="r" b="b" t="t" l="l"/>
              <a:pathLst>
                <a:path h="5869686" w="5869686">
                  <a:moveTo>
                    <a:pt x="0" y="0"/>
                  </a:moveTo>
                  <a:lnTo>
                    <a:pt x="0" y="5869686"/>
                  </a:lnTo>
                  <a:lnTo>
                    <a:pt x="5869686" y="5869686"/>
                  </a:lnTo>
                  <a:lnTo>
                    <a:pt x="5869686" y="0"/>
                  </a:lnTo>
                  <a:lnTo>
                    <a:pt x="0" y="0"/>
                  </a:lnTo>
                  <a:close/>
                  <a:moveTo>
                    <a:pt x="5682742" y="5682742"/>
                  </a:moveTo>
                  <a:lnTo>
                    <a:pt x="183007" y="5682742"/>
                  </a:lnTo>
                  <a:lnTo>
                    <a:pt x="183007" y="183007"/>
                  </a:lnTo>
                  <a:lnTo>
                    <a:pt x="5682742" y="183007"/>
                  </a:lnTo>
                  <a:lnTo>
                    <a:pt x="5682742" y="5682742"/>
                  </a:lnTo>
                  <a:close/>
                </a:path>
              </a:pathLst>
            </a:custGeom>
            <a:solidFill>
              <a:srgbClr val="2B4A9D"/>
            </a:solidFill>
          </p:spPr>
        </p:sp>
      </p:grpSp>
      <p:grpSp>
        <p:nvGrpSpPr>
          <p:cNvPr name="Group 10" id="10"/>
          <p:cNvGrpSpPr/>
          <p:nvPr/>
        </p:nvGrpSpPr>
        <p:grpSpPr>
          <a:xfrm rot="5400000">
            <a:off x="-1309" y="1309"/>
            <a:ext cx="1635964" cy="1633346"/>
            <a:chOff x="0" y="0"/>
            <a:chExt cx="2181285" cy="2177795"/>
          </a:xfrm>
        </p:grpSpPr>
        <p:sp>
          <p:nvSpPr>
            <p:cNvPr name="Freeform 11" id="11"/>
            <p:cNvSpPr/>
            <p:nvPr/>
          </p:nvSpPr>
          <p:spPr>
            <a:xfrm flipH="false" flipV="false" rot="0">
              <a:off x="0" y="0"/>
              <a:ext cx="2181225" cy="2177796"/>
            </a:xfrm>
            <a:custGeom>
              <a:avLst/>
              <a:gdLst/>
              <a:ahLst/>
              <a:cxnLst/>
              <a:rect r="r" b="b" t="t" l="l"/>
              <a:pathLst>
                <a:path h="2177796" w="2181225">
                  <a:moveTo>
                    <a:pt x="2181225" y="2177796"/>
                  </a:moveTo>
                  <a:lnTo>
                    <a:pt x="0" y="2177796"/>
                  </a:lnTo>
                  <a:lnTo>
                    <a:pt x="0" y="0"/>
                  </a:lnTo>
                  <a:lnTo>
                    <a:pt x="2181225" y="2177796"/>
                  </a:lnTo>
                  <a:close/>
                </a:path>
              </a:pathLst>
            </a:custGeom>
            <a:solidFill>
              <a:srgbClr val="2B4A9D"/>
            </a:solidFill>
          </p:spPr>
        </p:sp>
      </p:grpSp>
      <p:grpSp>
        <p:nvGrpSpPr>
          <p:cNvPr name="Group 12" id="12"/>
          <p:cNvGrpSpPr/>
          <p:nvPr/>
        </p:nvGrpSpPr>
        <p:grpSpPr>
          <a:xfrm rot="0">
            <a:off x="11419069" y="1509756"/>
            <a:ext cx="5919393" cy="4220709"/>
            <a:chOff x="0" y="0"/>
            <a:chExt cx="7892524" cy="5627612"/>
          </a:xfrm>
        </p:grpSpPr>
        <p:sp>
          <p:nvSpPr>
            <p:cNvPr name="Freeform 13" id="13"/>
            <p:cNvSpPr/>
            <p:nvPr/>
          </p:nvSpPr>
          <p:spPr>
            <a:xfrm flipH="false" flipV="false" rot="0">
              <a:off x="0" y="0"/>
              <a:ext cx="7892542" cy="5627624"/>
            </a:xfrm>
            <a:custGeom>
              <a:avLst/>
              <a:gdLst/>
              <a:ahLst/>
              <a:cxnLst/>
              <a:rect r="r" b="b" t="t" l="l"/>
              <a:pathLst>
                <a:path h="5627624" w="7892542">
                  <a:moveTo>
                    <a:pt x="0" y="0"/>
                  </a:moveTo>
                  <a:lnTo>
                    <a:pt x="7892542" y="0"/>
                  </a:lnTo>
                  <a:lnTo>
                    <a:pt x="7892542" y="5627624"/>
                  </a:lnTo>
                  <a:lnTo>
                    <a:pt x="0" y="5627624"/>
                  </a:lnTo>
                  <a:lnTo>
                    <a:pt x="0" y="0"/>
                  </a:lnTo>
                  <a:close/>
                </a:path>
              </a:pathLst>
            </a:custGeom>
            <a:blipFill>
              <a:blip r:embed="rId2"/>
              <a:stretch>
                <a:fillRect l="0" t="0" r="0" b="0"/>
              </a:stretch>
            </a:blipFill>
          </p:spPr>
        </p:sp>
      </p:grpSp>
      <p:grpSp>
        <p:nvGrpSpPr>
          <p:cNvPr name="Group 14" id="14"/>
          <p:cNvGrpSpPr/>
          <p:nvPr/>
        </p:nvGrpSpPr>
        <p:grpSpPr>
          <a:xfrm rot="0">
            <a:off x="678370" y="3268459"/>
            <a:ext cx="9012558" cy="6478010"/>
            <a:chOff x="0" y="0"/>
            <a:chExt cx="12016744" cy="8637347"/>
          </a:xfrm>
        </p:grpSpPr>
        <p:sp>
          <p:nvSpPr>
            <p:cNvPr name="Freeform 15" id="15"/>
            <p:cNvSpPr/>
            <p:nvPr/>
          </p:nvSpPr>
          <p:spPr>
            <a:xfrm flipH="false" flipV="false" rot="0">
              <a:off x="0" y="0"/>
              <a:ext cx="12016744" cy="8637346"/>
            </a:xfrm>
            <a:custGeom>
              <a:avLst/>
              <a:gdLst/>
              <a:ahLst/>
              <a:cxnLst/>
              <a:rect r="r" b="b" t="t" l="l"/>
              <a:pathLst>
                <a:path h="8637346" w="12016744">
                  <a:moveTo>
                    <a:pt x="0" y="0"/>
                  </a:moveTo>
                  <a:lnTo>
                    <a:pt x="12016744" y="0"/>
                  </a:lnTo>
                  <a:lnTo>
                    <a:pt x="12016744" y="8637346"/>
                  </a:lnTo>
                  <a:lnTo>
                    <a:pt x="0" y="8637346"/>
                  </a:lnTo>
                  <a:close/>
                </a:path>
              </a:pathLst>
            </a:custGeom>
            <a:solidFill>
              <a:srgbClr val="000000">
                <a:alpha val="0"/>
              </a:srgbClr>
            </a:solidFill>
          </p:spPr>
        </p:sp>
        <p:sp>
          <p:nvSpPr>
            <p:cNvPr name="TextBox 16" id="16"/>
            <p:cNvSpPr txBox="true"/>
            <p:nvPr/>
          </p:nvSpPr>
          <p:spPr>
            <a:xfrm>
              <a:off x="0" y="-66675"/>
              <a:ext cx="12016744" cy="8704022"/>
            </a:xfrm>
            <a:prstGeom prst="rect">
              <a:avLst/>
            </a:prstGeom>
          </p:spPr>
          <p:txBody>
            <a:bodyPr anchor="t" rtlCol="false" tIns="0" lIns="0" bIns="0" rIns="0"/>
            <a:lstStyle/>
            <a:p>
              <a:pPr algn="l" marL="762406" indent="-254135" lvl="2">
                <a:lnSpc>
                  <a:spcPts val="4668"/>
                </a:lnSpc>
                <a:buFont typeface="Arial"/>
                <a:buChar char="⚬"/>
              </a:pPr>
              <a:r>
                <a:rPr lang="en-US" b="true" sz="3335">
                  <a:solidFill>
                    <a:srgbClr val="2B4A9D"/>
                  </a:solidFill>
                  <a:latin typeface="Canva Sans Bold"/>
                  <a:ea typeface="Canva Sans Bold"/>
                  <a:cs typeface="Canva Sans Bold"/>
                  <a:sym typeface="Canva Sans Bold"/>
                </a:rPr>
                <a:t>Nivel</a:t>
              </a:r>
              <a:r>
                <a:rPr lang="en-US" sz="3335">
                  <a:solidFill>
                    <a:srgbClr val="2B4A9D"/>
                  </a:solidFill>
                  <a:latin typeface="Canva Sans"/>
                  <a:ea typeface="Canva Sans"/>
                  <a:cs typeface="Canva Sans"/>
                  <a:sym typeface="Canva Sans"/>
                </a:rPr>
                <a:t>. El nivel de un nodo es su distancia a la raíz. Por lo tanto: </a:t>
              </a:r>
            </a:p>
            <a:p>
              <a:pPr algn="l" marL="1362469" indent="-340617" lvl="3">
                <a:lnSpc>
                  <a:spcPts val="4668"/>
                </a:lnSpc>
                <a:buFont typeface="Arial"/>
                <a:buChar char="￭"/>
              </a:pPr>
              <a:r>
                <a:rPr lang="en-US" sz="3335">
                  <a:solidFill>
                    <a:srgbClr val="2B4A9D"/>
                  </a:solidFill>
                  <a:latin typeface="Canva Sans"/>
                  <a:ea typeface="Canva Sans"/>
                  <a:cs typeface="Canva Sans"/>
                  <a:sym typeface="Canva Sans"/>
                </a:rPr>
                <a:t>Un árbol vacío tiene 0 niveles</a:t>
              </a:r>
            </a:p>
            <a:p>
              <a:pPr algn="l" marL="1362469" indent="-340617" lvl="3">
                <a:lnSpc>
                  <a:spcPts val="4668"/>
                </a:lnSpc>
                <a:buFont typeface="Arial"/>
                <a:buChar char="￭"/>
              </a:pPr>
              <a:r>
                <a:rPr lang="en-US" sz="3335">
                  <a:solidFill>
                    <a:srgbClr val="2B4A9D"/>
                  </a:solidFill>
                  <a:latin typeface="Canva Sans"/>
                  <a:ea typeface="Canva Sans"/>
                  <a:cs typeface="Canva Sans"/>
                  <a:sym typeface="Canva Sans"/>
                </a:rPr>
                <a:t>El nivel de la raíz es 1 </a:t>
              </a:r>
            </a:p>
            <a:p>
              <a:pPr algn="l" marL="1362469" indent="-340617" lvl="3">
                <a:lnSpc>
                  <a:spcPts val="4668"/>
                </a:lnSpc>
              </a:pPr>
            </a:p>
            <a:p>
              <a:pPr algn="l" marL="762406" indent="-254135" lvl="2">
                <a:lnSpc>
                  <a:spcPts val="4668"/>
                </a:lnSpc>
                <a:buFont typeface="Arial"/>
                <a:buChar char="⚬"/>
              </a:pPr>
              <a:r>
                <a:rPr lang="en-US" b="true" sz="3335">
                  <a:solidFill>
                    <a:srgbClr val="2B4A9D"/>
                  </a:solidFill>
                  <a:latin typeface="Canva Sans Bold"/>
                  <a:ea typeface="Canva Sans Bold"/>
                  <a:cs typeface="Canva Sans Bold"/>
                  <a:sym typeface="Canva Sans Bold"/>
                </a:rPr>
                <a:t>Altura</a:t>
              </a:r>
              <a:r>
                <a:rPr lang="en-US" sz="3335">
                  <a:solidFill>
                    <a:srgbClr val="2B4A9D"/>
                  </a:solidFill>
                  <a:latin typeface="Canva Sans"/>
                  <a:ea typeface="Canva Sans"/>
                  <a:cs typeface="Canva Sans"/>
                  <a:sym typeface="Canva Sans"/>
                </a:rPr>
                <a:t>. Se le llama altura al número máximo de niveles de un árbol</a:t>
              </a:r>
            </a:p>
            <a:p>
              <a:pPr algn="l" marL="762406" indent="-254135" lvl="2">
                <a:lnSpc>
                  <a:spcPts val="4668"/>
                </a:lnSpc>
              </a:pPr>
            </a:p>
            <a:p>
              <a:pPr algn="l" marL="762406" indent="-254135" lvl="2">
                <a:lnSpc>
                  <a:spcPts val="4668"/>
                </a:lnSpc>
                <a:buFont typeface="Arial"/>
                <a:buChar char="⚬"/>
              </a:pPr>
              <a:r>
                <a:rPr lang="en-US" b="true" sz="3335">
                  <a:solidFill>
                    <a:srgbClr val="2B4A9D"/>
                  </a:solidFill>
                  <a:latin typeface="Canva Sans Bold"/>
                  <a:ea typeface="Canva Sans Bold"/>
                  <a:cs typeface="Canva Sans Bold"/>
                  <a:sym typeface="Canva Sans Bold"/>
                </a:rPr>
                <a:t>Peso</a:t>
              </a:r>
              <a:r>
                <a:rPr lang="en-US" sz="3335">
                  <a:solidFill>
                    <a:srgbClr val="2B4A9D"/>
                  </a:solidFill>
                  <a:latin typeface="Canva Sans"/>
                  <a:ea typeface="Canva Sans"/>
                  <a:cs typeface="Canva Sans"/>
                  <a:sym typeface="Canva Sans"/>
                </a:rPr>
                <a:t>. Es el número de nodos que tiene un árbol.</a:t>
              </a:r>
            </a:p>
            <a:p>
              <a:pPr algn="l" marL="762406" indent="-254135" lvl="2">
                <a:lnSpc>
                  <a:spcPts val="4668"/>
                </a:lnSpc>
              </a:pPr>
            </a:p>
          </p:txBody>
        </p:sp>
      </p:grpSp>
      <p:grpSp>
        <p:nvGrpSpPr>
          <p:cNvPr name="Group 17" id="17"/>
          <p:cNvGrpSpPr/>
          <p:nvPr/>
        </p:nvGrpSpPr>
        <p:grpSpPr>
          <a:xfrm rot="0">
            <a:off x="4134945" y="389881"/>
            <a:ext cx="9340215" cy="2377775"/>
            <a:chOff x="0" y="0"/>
            <a:chExt cx="12453620" cy="3170367"/>
          </a:xfrm>
        </p:grpSpPr>
        <p:sp>
          <p:nvSpPr>
            <p:cNvPr name="Freeform 18" id="18"/>
            <p:cNvSpPr/>
            <p:nvPr/>
          </p:nvSpPr>
          <p:spPr>
            <a:xfrm flipH="false" flipV="false" rot="0">
              <a:off x="0" y="0"/>
              <a:ext cx="12453620" cy="3170367"/>
            </a:xfrm>
            <a:custGeom>
              <a:avLst/>
              <a:gdLst/>
              <a:ahLst/>
              <a:cxnLst/>
              <a:rect r="r" b="b" t="t" l="l"/>
              <a:pathLst>
                <a:path h="3170367" w="12453620">
                  <a:moveTo>
                    <a:pt x="0" y="0"/>
                  </a:moveTo>
                  <a:lnTo>
                    <a:pt x="12453620" y="0"/>
                  </a:lnTo>
                  <a:lnTo>
                    <a:pt x="12453620" y="3170367"/>
                  </a:lnTo>
                  <a:lnTo>
                    <a:pt x="0" y="3170367"/>
                  </a:lnTo>
                  <a:close/>
                </a:path>
              </a:pathLst>
            </a:custGeom>
            <a:solidFill>
              <a:srgbClr val="000000">
                <a:alpha val="0"/>
              </a:srgbClr>
            </a:solidFill>
          </p:spPr>
        </p:sp>
        <p:sp>
          <p:nvSpPr>
            <p:cNvPr name="TextBox 19" id="19"/>
            <p:cNvSpPr txBox="true"/>
            <p:nvPr/>
          </p:nvSpPr>
          <p:spPr>
            <a:xfrm>
              <a:off x="0" y="28575"/>
              <a:ext cx="12453620" cy="3141792"/>
            </a:xfrm>
            <a:prstGeom prst="rect">
              <a:avLst/>
            </a:prstGeom>
          </p:spPr>
          <p:txBody>
            <a:bodyPr anchor="t" rtlCol="false" tIns="0" lIns="0" bIns="0" rIns="0"/>
            <a:lstStyle/>
            <a:p>
              <a:pPr algn="ctr">
                <a:lnSpc>
                  <a:spcPts val="6531"/>
                </a:lnSpc>
              </a:pPr>
              <a:r>
                <a:rPr lang="en-US" b="true" sz="6220" spc="311">
                  <a:solidFill>
                    <a:srgbClr val="2B4A9D"/>
                  </a:solidFill>
                  <a:latin typeface="Poppins Bold"/>
                  <a:ea typeface="Poppins Bold"/>
                  <a:cs typeface="Poppins Bold"/>
                  <a:sym typeface="Poppins Bold"/>
                </a:rPr>
                <a:t>RELACION AL TAMAÑO</a:t>
              </a:r>
            </a:p>
          </p:txBody>
        </p:sp>
      </p:grpSp>
      <p:grpSp>
        <p:nvGrpSpPr>
          <p:cNvPr name="Group 20" id="20"/>
          <p:cNvGrpSpPr/>
          <p:nvPr/>
        </p:nvGrpSpPr>
        <p:grpSpPr>
          <a:xfrm rot="0">
            <a:off x="11419069" y="5753088"/>
            <a:ext cx="6226968" cy="3993381"/>
            <a:chOff x="0" y="0"/>
            <a:chExt cx="8302624" cy="5324508"/>
          </a:xfrm>
        </p:grpSpPr>
        <p:sp>
          <p:nvSpPr>
            <p:cNvPr name="Freeform 21" id="21"/>
            <p:cNvSpPr/>
            <p:nvPr/>
          </p:nvSpPr>
          <p:spPr>
            <a:xfrm flipH="false" flipV="false" rot="0">
              <a:off x="0" y="0"/>
              <a:ext cx="8302625" cy="5324475"/>
            </a:xfrm>
            <a:custGeom>
              <a:avLst/>
              <a:gdLst/>
              <a:ahLst/>
              <a:cxnLst/>
              <a:rect r="r" b="b" t="t" l="l"/>
              <a:pathLst>
                <a:path h="5324475" w="8302625">
                  <a:moveTo>
                    <a:pt x="0" y="0"/>
                  </a:moveTo>
                  <a:lnTo>
                    <a:pt x="8302625" y="0"/>
                  </a:lnTo>
                  <a:lnTo>
                    <a:pt x="8302625" y="5324475"/>
                  </a:lnTo>
                  <a:lnTo>
                    <a:pt x="0" y="5324475"/>
                  </a:lnTo>
                  <a:lnTo>
                    <a:pt x="0" y="0"/>
                  </a:lnTo>
                  <a:close/>
                </a:path>
              </a:pathLst>
            </a:custGeom>
            <a:blipFill>
              <a:blip r:embed="rId3"/>
              <a:stretch>
                <a:fillRect l="-43" t="0" r="-43" b="0"/>
              </a:stretch>
            </a:blipFill>
          </p:spPr>
        </p:sp>
      </p:grpSp>
    </p:spTree>
  </p:cSld>
  <p:clrMapOvr>
    <a:masterClrMapping/>
  </p:clrMapOvr>
</p:sld>
</file>

<file path=ppt/slides/slide9.xml><?xml version="1.0" encoding="utf-8"?>
<p:sld xmlns:p="http://schemas.openxmlformats.org/presentationml/2006/main" xmlns:a="http://schemas.openxmlformats.org/drawingml/2006/main">
  <p:cSld>
    <p:bg>
      <p:bgPr>
        <a:solidFill>
          <a:srgbClr val="5271FF"/>
        </a:solidFill>
      </p:bgPr>
    </p:bg>
    <p:spTree>
      <p:nvGrpSpPr>
        <p:cNvPr id="1" name=""/>
        <p:cNvGrpSpPr/>
        <p:nvPr/>
      </p:nvGrpSpPr>
      <p:grpSpPr>
        <a:xfrm>
          <a:off x="0" y="0"/>
          <a:ext cx="0" cy="0"/>
          <a:chOff x="0" y="0"/>
          <a:chExt cx="0" cy="0"/>
        </a:xfrm>
      </p:grpSpPr>
      <p:grpSp>
        <p:nvGrpSpPr>
          <p:cNvPr name="Group 2" id="2"/>
          <p:cNvGrpSpPr/>
          <p:nvPr/>
        </p:nvGrpSpPr>
        <p:grpSpPr>
          <a:xfrm rot="0">
            <a:off x="1480498" y="4562475"/>
            <a:ext cx="15327005" cy="3060192"/>
            <a:chOff x="0" y="0"/>
            <a:chExt cx="20436007" cy="4080256"/>
          </a:xfrm>
        </p:grpSpPr>
        <p:sp>
          <p:nvSpPr>
            <p:cNvPr name="Freeform 3" id="3"/>
            <p:cNvSpPr/>
            <p:nvPr/>
          </p:nvSpPr>
          <p:spPr>
            <a:xfrm flipH="false" flipV="false" rot="0">
              <a:off x="0" y="0"/>
              <a:ext cx="20436007" cy="4080256"/>
            </a:xfrm>
            <a:custGeom>
              <a:avLst/>
              <a:gdLst/>
              <a:ahLst/>
              <a:cxnLst/>
              <a:rect r="r" b="b" t="t" l="l"/>
              <a:pathLst>
                <a:path h="4080256" w="20436007">
                  <a:moveTo>
                    <a:pt x="0" y="0"/>
                  </a:moveTo>
                  <a:lnTo>
                    <a:pt x="20436007" y="0"/>
                  </a:lnTo>
                  <a:lnTo>
                    <a:pt x="20436007" y="4080256"/>
                  </a:lnTo>
                  <a:lnTo>
                    <a:pt x="0" y="4080256"/>
                  </a:lnTo>
                  <a:close/>
                </a:path>
              </a:pathLst>
            </a:custGeom>
            <a:solidFill>
              <a:srgbClr val="000000">
                <a:alpha val="0"/>
              </a:srgbClr>
            </a:solidFill>
          </p:spPr>
        </p:sp>
        <p:sp>
          <p:nvSpPr>
            <p:cNvPr name="TextBox 4" id="4"/>
            <p:cNvSpPr txBox="true"/>
            <p:nvPr/>
          </p:nvSpPr>
          <p:spPr>
            <a:xfrm>
              <a:off x="0" y="28575"/>
              <a:ext cx="20436007" cy="4051681"/>
            </a:xfrm>
            <a:prstGeom prst="rect">
              <a:avLst/>
            </a:prstGeom>
          </p:spPr>
          <p:txBody>
            <a:bodyPr anchor="t" rtlCol="false" tIns="0" lIns="0" bIns="0" rIns="0"/>
            <a:lstStyle/>
            <a:p>
              <a:pPr algn="ctr">
                <a:lnSpc>
                  <a:spcPts val="8400"/>
                </a:lnSpc>
              </a:pPr>
              <a:r>
                <a:rPr lang="en-US" b="true" sz="8000" spc="400">
                  <a:solidFill>
                    <a:srgbClr val="FFFFFF"/>
                  </a:solidFill>
                  <a:latin typeface="Poppins Bold"/>
                  <a:ea typeface="Poppins Bold"/>
                  <a:cs typeface="Poppins Bold"/>
                  <a:sym typeface="Poppins Bold"/>
                </a:rPr>
                <a:t>BUSQUEDAS EN PROFUNDIDAD</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5021" y="-2492352"/>
            <a:ext cx="5770168" cy="5770168"/>
            <a:chOff x="0" y="0"/>
            <a:chExt cx="7693557" cy="7693557"/>
          </a:xfrm>
        </p:grpSpPr>
        <p:sp>
          <p:nvSpPr>
            <p:cNvPr name="Freeform 3" id="3"/>
            <p:cNvSpPr/>
            <p:nvPr/>
          </p:nvSpPr>
          <p:spPr>
            <a:xfrm flipH="false" flipV="false" rot="0">
              <a:off x="0" y="0"/>
              <a:ext cx="7693660" cy="7693660"/>
            </a:xfrm>
            <a:custGeom>
              <a:avLst/>
              <a:gdLst/>
              <a:ahLst/>
              <a:cxnLst/>
              <a:rect r="r" b="b" t="t" l="l"/>
              <a:pathLst>
                <a:path h="7693660" w="7693660">
                  <a:moveTo>
                    <a:pt x="3846830" y="0"/>
                  </a:moveTo>
                  <a:cubicBezTo>
                    <a:pt x="1722247" y="0"/>
                    <a:pt x="0" y="1722247"/>
                    <a:pt x="0" y="3846830"/>
                  </a:cubicBezTo>
                  <a:cubicBezTo>
                    <a:pt x="0" y="5971413"/>
                    <a:pt x="1722247" y="7693660"/>
                    <a:pt x="3846830" y="7693660"/>
                  </a:cubicBezTo>
                  <a:cubicBezTo>
                    <a:pt x="5971413" y="7693660"/>
                    <a:pt x="7693660" y="5971413"/>
                    <a:pt x="7693660" y="3846830"/>
                  </a:cubicBezTo>
                  <a:cubicBezTo>
                    <a:pt x="7693660" y="1722247"/>
                    <a:pt x="5971286" y="0"/>
                    <a:pt x="3846830" y="0"/>
                  </a:cubicBezTo>
                  <a:close/>
                </a:path>
              </a:pathLst>
            </a:custGeom>
            <a:solidFill>
              <a:srgbClr val="2B4A9D"/>
            </a:solidFill>
          </p:spPr>
        </p:sp>
      </p:grpSp>
      <p:grpSp>
        <p:nvGrpSpPr>
          <p:cNvPr name="Group 4" id="4"/>
          <p:cNvGrpSpPr/>
          <p:nvPr/>
        </p:nvGrpSpPr>
        <p:grpSpPr>
          <a:xfrm rot="0">
            <a:off x="0" y="6875318"/>
            <a:ext cx="6874719" cy="3411682"/>
            <a:chOff x="0" y="0"/>
            <a:chExt cx="9166292" cy="4548909"/>
          </a:xfrm>
        </p:grpSpPr>
        <p:sp>
          <p:nvSpPr>
            <p:cNvPr name="Freeform 5" id="5"/>
            <p:cNvSpPr/>
            <p:nvPr/>
          </p:nvSpPr>
          <p:spPr>
            <a:xfrm flipH="false" flipV="false" rot="0">
              <a:off x="0" y="0"/>
              <a:ext cx="9166352" cy="4548886"/>
            </a:xfrm>
            <a:custGeom>
              <a:avLst/>
              <a:gdLst/>
              <a:ahLst/>
              <a:cxnLst/>
              <a:rect r="r" b="b" t="t" l="l"/>
              <a:pathLst>
                <a:path h="4548886" w="9166352">
                  <a:moveTo>
                    <a:pt x="0" y="0"/>
                  </a:moveTo>
                  <a:lnTo>
                    <a:pt x="9166352" y="0"/>
                  </a:lnTo>
                  <a:lnTo>
                    <a:pt x="9166352" y="4548886"/>
                  </a:lnTo>
                  <a:lnTo>
                    <a:pt x="0" y="4548886"/>
                  </a:lnTo>
                  <a:close/>
                </a:path>
              </a:pathLst>
            </a:custGeom>
            <a:solidFill>
              <a:srgbClr val="2B4A9D"/>
            </a:solidFill>
          </p:spPr>
        </p:sp>
      </p:grpSp>
      <p:grpSp>
        <p:nvGrpSpPr>
          <p:cNvPr name="Group 6" id="6"/>
          <p:cNvGrpSpPr/>
          <p:nvPr/>
        </p:nvGrpSpPr>
        <p:grpSpPr>
          <a:xfrm rot="0">
            <a:off x="3336986" y="-9994"/>
            <a:ext cx="14951017" cy="417760"/>
            <a:chOff x="0" y="0"/>
            <a:chExt cx="19934689" cy="557013"/>
          </a:xfrm>
        </p:grpSpPr>
        <p:sp>
          <p:nvSpPr>
            <p:cNvPr name="Freeform 7" id="7"/>
            <p:cNvSpPr/>
            <p:nvPr/>
          </p:nvSpPr>
          <p:spPr>
            <a:xfrm flipH="false" flipV="false" rot="0">
              <a:off x="0" y="0"/>
              <a:ext cx="19934682" cy="557022"/>
            </a:xfrm>
            <a:custGeom>
              <a:avLst/>
              <a:gdLst/>
              <a:ahLst/>
              <a:cxnLst/>
              <a:rect r="r" b="b" t="t" l="l"/>
              <a:pathLst>
                <a:path h="557022" w="19934682">
                  <a:moveTo>
                    <a:pt x="0" y="0"/>
                  </a:moveTo>
                  <a:lnTo>
                    <a:pt x="19934682" y="0"/>
                  </a:lnTo>
                  <a:lnTo>
                    <a:pt x="19934682" y="557022"/>
                  </a:lnTo>
                  <a:lnTo>
                    <a:pt x="0" y="557022"/>
                  </a:lnTo>
                  <a:close/>
                </a:path>
              </a:pathLst>
            </a:custGeom>
            <a:solidFill>
              <a:srgbClr val="2B4A9D"/>
            </a:solidFill>
          </p:spPr>
        </p:sp>
      </p:grpSp>
      <p:grpSp>
        <p:nvGrpSpPr>
          <p:cNvPr name="Group 8" id="8"/>
          <p:cNvGrpSpPr/>
          <p:nvPr/>
        </p:nvGrpSpPr>
        <p:grpSpPr>
          <a:xfrm rot="0">
            <a:off x="7746825" y="1826800"/>
            <a:ext cx="9997384" cy="6754359"/>
            <a:chOff x="0" y="0"/>
            <a:chExt cx="13329845" cy="9005812"/>
          </a:xfrm>
        </p:grpSpPr>
        <p:sp>
          <p:nvSpPr>
            <p:cNvPr name="Freeform 9" id="9"/>
            <p:cNvSpPr/>
            <p:nvPr/>
          </p:nvSpPr>
          <p:spPr>
            <a:xfrm flipH="false" flipV="false" rot="0">
              <a:off x="0" y="0"/>
              <a:ext cx="13329793" cy="9005824"/>
            </a:xfrm>
            <a:custGeom>
              <a:avLst/>
              <a:gdLst/>
              <a:ahLst/>
              <a:cxnLst/>
              <a:rect r="r" b="b" t="t" l="l"/>
              <a:pathLst>
                <a:path h="9005824" w="13329793">
                  <a:moveTo>
                    <a:pt x="0" y="0"/>
                  </a:moveTo>
                  <a:lnTo>
                    <a:pt x="13329793" y="0"/>
                  </a:lnTo>
                  <a:lnTo>
                    <a:pt x="13329793" y="9005824"/>
                  </a:lnTo>
                  <a:lnTo>
                    <a:pt x="0" y="9005824"/>
                  </a:lnTo>
                  <a:lnTo>
                    <a:pt x="0" y="0"/>
                  </a:lnTo>
                  <a:close/>
                </a:path>
              </a:pathLst>
            </a:custGeom>
            <a:blipFill>
              <a:blip r:embed="rId2"/>
              <a:stretch>
                <a:fillRect l="0" t="0" r="0" b="0"/>
              </a:stretch>
            </a:blipFill>
          </p:spPr>
        </p:sp>
      </p:grpSp>
      <p:grpSp>
        <p:nvGrpSpPr>
          <p:cNvPr name="Group 10" id="10"/>
          <p:cNvGrpSpPr/>
          <p:nvPr/>
        </p:nvGrpSpPr>
        <p:grpSpPr>
          <a:xfrm rot="0">
            <a:off x="580063" y="7231049"/>
            <a:ext cx="6077153" cy="2620150"/>
            <a:chOff x="0" y="0"/>
            <a:chExt cx="8102871" cy="3493533"/>
          </a:xfrm>
        </p:grpSpPr>
        <p:sp>
          <p:nvSpPr>
            <p:cNvPr name="Freeform 11" id="11"/>
            <p:cNvSpPr/>
            <p:nvPr/>
          </p:nvSpPr>
          <p:spPr>
            <a:xfrm flipH="false" flipV="false" rot="0">
              <a:off x="0" y="0"/>
              <a:ext cx="8102871" cy="3493533"/>
            </a:xfrm>
            <a:custGeom>
              <a:avLst/>
              <a:gdLst/>
              <a:ahLst/>
              <a:cxnLst/>
              <a:rect r="r" b="b" t="t" l="l"/>
              <a:pathLst>
                <a:path h="3493533" w="8102871">
                  <a:moveTo>
                    <a:pt x="0" y="0"/>
                  </a:moveTo>
                  <a:lnTo>
                    <a:pt x="8102871" y="0"/>
                  </a:lnTo>
                  <a:lnTo>
                    <a:pt x="8102871" y="3493533"/>
                  </a:lnTo>
                  <a:lnTo>
                    <a:pt x="0" y="3493533"/>
                  </a:lnTo>
                  <a:close/>
                </a:path>
              </a:pathLst>
            </a:custGeom>
            <a:solidFill>
              <a:srgbClr val="000000">
                <a:alpha val="0"/>
              </a:srgbClr>
            </a:solidFill>
          </p:spPr>
        </p:sp>
        <p:sp>
          <p:nvSpPr>
            <p:cNvPr name="TextBox 12" id="12"/>
            <p:cNvSpPr txBox="true"/>
            <p:nvPr/>
          </p:nvSpPr>
          <p:spPr>
            <a:xfrm>
              <a:off x="0" y="-85725"/>
              <a:ext cx="8102871" cy="3579258"/>
            </a:xfrm>
            <a:prstGeom prst="rect">
              <a:avLst/>
            </a:prstGeom>
          </p:spPr>
          <p:txBody>
            <a:bodyPr anchor="t" rtlCol="false" tIns="0" lIns="0" bIns="0" rIns="0"/>
            <a:lstStyle/>
            <a:p>
              <a:pPr algn="l">
                <a:lnSpc>
                  <a:spcPts val="5207"/>
                </a:lnSpc>
              </a:pPr>
              <a:r>
                <a:rPr lang="en-US" sz="3719" b="true">
                  <a:solidFill>
                    <a:srgbClr val="FFFFFF"/>
                  </a:solidFill>
                  <a:latin typeface="Canva Sans Bold"/>
                  <a:ea typeface="Canva Sans Bold"/>
                  <a:cs typeface="Canva Sans Bold"/>
                  <a:sym typeface="Canva Sans Bold"/>
                </a:rPr>
                <a:t>PRE-</a:t>
              </a:r>
              <a:r>
                <a:rPr lang="en-US" sz="3719">
                  <a:solidFill>
                    <a:srgbClr val="FFFFFF"/>
                  </a:solidFill>
                  <a:latin typeface="Canva Sans"/>
                  <a:ea typeface="Canva Sans"/>
                  <a:cs typeface="Canva Sans"/>
                  <a:sym typeface="Canva Sans"/>
                </a:rPr>
                <a:t>ORDEN</a:t>
              </a:r>
            </a:p>
            <a:p>
              <a:pPr algn="l">
                <a:lnSpc>
                  <a:spcPts val="5207"/>
                </a:lnSpc>
              </a:pPr>
            </a:p>
            <a:p>
              <a:pPr algn="l">
                <a:lnSpc>
                  <a:spcPts val="5207"/>
                </a:lnSpc>
              </a:pPr>
              <a:r>
                <a:rPr lang="en-US" sz="3719" b="true">
                  <a:solidFill>
                    <a:srgbClr val="FFFFFF"/>
                  </a:solidFill>
                  <a:latin typeface="Canva Sans Bold"/>
                  <a:ea typeface="Canva Sans Bold"/>
                  <a:cs typeface="Canva Sans Bold"/>
                  <a:sym typeface="Canva Sans Bold"/>
                </a:rPr>
                <a:t>Raiz </a:t>
              </a:r>
              <a:r>
                <a:rPr lang="en-US" sz="3719">
                  <a:solidFill>
                    <a:srgbClr val="FFFFFF"/>
                  </a:solidFill>
                  <a:latin typeface="Canva Sans"/>
                  <a:ea typeface="Canva Sans"/>
                  <a:cs typeface="Canva Sans"/>
                  <a:sym typeface="Canva Sans"/>
                </a:rPr>
                <a:t>- Izquierda - Derecha</a:t>
              </a:r>
            </a:p>
            <a:p>
              <a:pPr algn="l">
                <a:lnSpc>
                  <a:spcPts val="5207"/>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5021" y="-2492352"/>
            <a:ext cx="5770168" cy="5770168"/>
            <a:chOff x="0" y="0"/>
            <a:chExt cx="7693557" cy="7693557"/>
          </a:xfrm>
        </p:grpSpPr>
        <p:sp>
          <p:nvSpPr>
            <p:cNvPr name="Freeform 3" id="3"/>
            <p:cNvSpPr/>
            <p:nvPr/>
          </p:nvSpPr>
          <p:spPr>
            <a:xfrm flipH="false" flipV="false" rot="0">
              <a:off x="0" y="0"/>
              <a:ext cx="7693660" cy="7693660"/>
            </a:xfrm>
            <a:custGeom>
              <a:avLst/>
              <a:gdLst/>
              <a:ahLst/>
              <a:cxnLst/>
              <a:rect r="r" b="b" t="t" l="l"/>
              <a:pathLst>
                <a:path h="7693660" w="7693660">
                  <a:moveTo>
                    <a:pt x="3846830" y="0"/>
                  </a:moveTo>
                  <a:cubicBezTo>
                    <a:pt x="1722247" y="0"/>
                    <a:pt x="0" y="1722247"/>
                    <a:pt x="0" y="3846830"/>
                  </a:cubicBezTo>
                  <a:cubicBezTo>
                    <a:pt x="0" y="5971413"/>
                    <a:pt x="1722247" y="7693660"/>
                    <a:pt x="3846830" y="7693660"/>
                  </a:cubicBezTo>
                  <a:cubicBezTo>
                    <a:pt x="5971413" y="7693660"/>
                    <a:pt x="7693660" y="5971413"/>
                    <a:pt x="7693660" y="3846830"/>
                  </a:cubicBezTo>
                  <a:cubicBezTo>
                    <a:pt x="7693660" y="1722247"/>
                    <a:pt x="5971286" y="0"/>
                    <a:pt x="3846830" y="0"/>
                  </a:cubicBezTo>
                  <a:close/>
                </a:path>
              </a:pathLst>
            </a:custGeom>
            <a:solidFill>
              <a:srgbClr val="2B4A9D"/>
            </a:solidFill>
          </p:spPr>
        </p:sp>
      </p:grpSp>
      <p:grpSp>
        <p:nvGrpSpPr>
          <p:cNvPr name="Group 4" id="4"/>
          <p:cNvGrpSpPr/>
          <p:nvPr/>
        </p:nvGrpSpPr>
        <p:grpSpPr>
          <a:xfrm rot="0">
            <a:off x="0" y="6742880"/>
            <a:ext cx="6885801" cy="3544120"/>
            <a:chOff x="0" y="0"/>
            <a:chExt cx="9181068" cy="4725493"/>
          </a:xfrm>
        </p:grpSpPr>
        <p:sp>
          <p:nvSpPr>
            <p:cNvPr name="Freeform 5" id="5"/>
            <p:cNvSpPr/>
            <p:nvPr/>
          </p:nvSpPr>
          <p:spPr>
            <a:xfrm flipH="false" flipV="false" rot="0">
              <a:off x="0" y="0"/>
              <a:ext cx="9181084" cy="4725543"/>
            </a:xfrm>
            <a:custGeom>
              <a:avLst/>
              <a:gdLst/>
              <a:ahLst/>
              <a:cxnLst/>
              <a:rect r="r" b="b" t="t" l="l"/>
              <a:pathLst>
                <a:path h="4725543" w="9181084">
                  <a:moveTo>
                    <a:pt x="0" y="0"/>
                  </a:moveTo>
                  <a:lnTo>
                    <a:pt x="9181084" y="0"/>
                  </a:lnTo>
                  <a:lnTo>
                    <a:pt x="9181084" y="4725543"/>
                  </a:lnTo>
                  <a:lnTo>
                    <a:pt x="0" y="4725543"/>
                  </a:lnTo>
                  <a:close/>
                </a:path>
              </a:pathLst>
            </a:custGeom>
            <a:solidFill>
              <a:srgbClr val="2B4A9D"/>
            </a:solidFill>
          </p:spPr>
        </p:sp>
      </p:grpSp>
      <p:grpSp>
        <p:nvGrpSpPr>
          <p:cNvPr name="Group 6" id="6"/>
          <p:cNvGrpSpPr/>
          <p:nvPr/>
        </p:nvGrpSpPr>
        <p:grpSpPr>
          <a:xfrm rot="0">
            <a:off x="3336986" y="-9994"/>
            <a:ext cx="14951017" cy="417760"/>
            <a:chOff x="0" y="0"/>
            <a:chExt cx="19934689" cy="557013"/>
          </a:xfrm>
        </p:grpSpPr>
        <p:sp>
          <p:nvSpPr>
            <p:cNvPr name="Freeform 7" id="7"/>
            <p:cNvSpPr/>
            <p:nvPr/>
          </p:nvSpPr>
          <p:spPr>
            <a:xfrm flipH="false" flipV="false" rot="0">
              <a:off x="0" y="0"/>
              <a:ext cx="19934682" cy="557022"/>
            </a:xfrm>
            <a:custGeom>
              <a:avLst/>
              <a:gdLst/>
              <a:ahLst/>
              <a:cxnLst/>
              <a:rect r="r" b="b" t="t" l="l"/>
              <a:pathLst>
                <a:path h="557022" w="19934682">
                  <a:moveTo>
                    <a:pt x="0" y="0"/>
                  </a:moveTo>
                  <a:lnTo>
                    <a:pt x="19934682" y="0"/>
                  </a:lnTo>
                  <a:lnTo>
                    <a:pt x="19934682" y="557022"/>
                  </a:lnTo>
                  <a:lnTo>
                    <a:pt x="0" y="557022"/>
                  </a:lnTo>
                  <a:close/>
                </a:path>
              </a:pathLst>
            </a:custGeom>
            <a:solidFill>
              <a:srgbClr val="2B4A9D"/>
            </a:solidFill>
          </p:spPr>
        </p:sp>
      </p:grpSp>
      <p:grpSp>
        <p:nvGrpSpPr>
          <p:cNvPr name="Group 8" id="8"/>
          <p:cNvGrpSpPr/>
          <p:nvPr/>
        </p:nvGrpSpPr>
        <p:grpSpPr>
          <a:xfrm rot="0">
            <a:off x="7875341" y="1987415"/>
            <a:ext cx="9876926" cy="6867462"/>
            <a:chOff x="0" y="0"/>
            <a:chExt cx="13169235" cy="9156616"/>
          </a:xfrm>
        </p:grpSpPr>
        <p:sp>
          <p:nvSpPr>
            <p:cNvPr name="Freeform 9" id="9"/>
            <p:cNvSpPr/>
            <p:nvPr/>
          </p:nvSpPr>
          <p:spPr>
            <a:xfrm flipH="false" flipV="false" rot="0">
              <a:off x="0" y="0"/>
              <a:ext cx="13169264" cy="9156573"/>
            </a:xfrm>
            <a:custGeom>
              <a:avLst/>
              <a:gdLst/>
              <a:ahLst/>
              <a:cxnLst/>
              <a:rect r="r" b="b" t="t" l="l"/>
              <a:pathLst>
                <a:path h="9156573" w="13169264">
                  <a:moveTo>
                    <a:pt x="0" y="0"/>
                  </a:moveTo>
                  <a:lnTo>
                    <a:pt x="13169264" y="0"/>
                  </a:lnTo>
                  <a:lnTo>
                    <a:pt x="13169264" y="9156573"/>
                  </a:lnTo>
                  <a:lnTo>
                    <a:pt x="0" y="9156573"/>
                  </a:lnTo>
                  <a:lnTo>
                    <a:pt x="0" y="0"/>
                  </a:lnTo>
                  <a:close/>
                </a:path>
              </a:pathLst>
            </a:custGeom>
            <a:blipFill>
              <a:blip r:embed="rId2"/>
              <a:stretch>
                <a:fillRect l="0" t="0" r="0" b="0"/>
              </a:stretch>
            </a:blipFill>
          </p:spPr>
        </p:sp>
      </p:grpSp>
      <p:grpSp>
        <p:nvGrpSpPr>
          <p:cNvPr name="Group 10" id="10"/>
          <p:cNvGrpSpPr/>
          <p:nvPr/>
        </p:nvGrpSpPr>
        <p:grpSpPr>
          <a:xfrm rot="0">
            <a:off x="298409" y="7279788"/>
            <a:ext cx="6077153" cy="1962925"/>
            <a:chOff x="0" y="0"/>
            <a:chExt cx="8102871" cy="2617233"/>
          </a:xfrm>
        </p:grpSpPr>
        <p:sp>
          <p:nvSpPr>
            <p:cNvPr name="Freeform 11" id="11"/>
            <p:cNvSpPr/>
            <p:nvPr/>
          </p:nvSpPr>
          <p:spPr>
            <a:xfrm flipH="false" flipV="false" rot="0">
              <a:off x="0" y="0"/>
              <a:ext cx="8102871" cy="2617233"/>
            </a:xfrm>
            <a:custGeom>
              <a:avLst/>
              <a:gdLst/>
              <a:ahLst/>
              <a:cxnLst/>
              <a:rect r="r" b="b" t="t" l="l"/>
              <a:pathLst>
                <a:path h="2617233" w="8102871">
                  <a:moveTo>
                    <a:pt x="0" y="0"/>
                  </a:moveTo>
                  <a:lnTo>
                    <a:pt x="8102871" y="0"/>
                  </a:lnTo>
                  <a:lnTo>
                    <a:pt x="8102871" y="2617233"/>
                  </a:lnTo>
                  <a:lnTo>
                    <a:pt x="0" y="2617233"/>
                  </a:lnTo>
                  <a:close/>
                </a:path>
              </a:pathLst>
            </a:custGeom>
            <a:solidFill>
              <a:srgbClr val="000000">
                <a:alpha val="0"/>
              </a:srgbClr>
            </a:solidFill>
          </p:spPr>
        </p:sp>
        <p:sp>
          <p:nvSpPr>
            <p:cNvPr name="TextBox 12" id="12"/>
            <p:cNvSpPr txBox="true"/>
            <p:nvPr/>
          </p:nvSpPr>
          <p:spPr>
            <a:xfrm>
              <a:off x="0" y="-85725"/>
              <a:ext cx="8102871" cy="2702958"/>
            </a:xfrm>
            <a:prstGeom prst="rect">
              <a:avLst/>
            </a:prstGeom>
          </p:spPr>
          <p:txBody>
            <a:bodyPr anchor="t" rtlCol="false" tIns="0" lIns="0" bIns="0" rIns="0"/>
            <a:lstStyle/>
            <a:p>
              <a:pPr algn="l">
                <a:lnSpc>
                  <a:spcPts val="5207"/>
                </a:lnSpc>
              </a:pPr>
              <a:r>
                <a:rPr lang="en-US" sz="3719" b="true">
                  <a:solidFill>
                    <a:srgbClr val="FFFFFF"/>
                  </a:solidFill>
                  <a:latin typeface="Canva Sans Bold"/>
                  <a:ea typeface="Canva Sans Bold"/>
                  <a:cs typeface="Canva Sans Bold"/>
                  <a:sym typeface="Canva Sans Bold"/>
                </a:rPr>
                <a:t>POS-</a:t>
              </a:r>
              <a:r>
                <a:rPr lang="en-US" sz="3719">
                  <a:solidFill>
                    <a:srgbClr val="FFFFFF"/>
                  </a:solidFill>
                  <a:latin typeface="Canva Sans"/>
                  <a:ea typeface="Canva Sans"/>
                  <a:cs typeface="Canva Sans"/>
                  <a:sym typeface="Canva Sans"/>
                </a:rPr>
                <a:t>ORDEN</a:t>
              </a:r>
            </a:p>
            <a:p>
              <a:pPr algn="l">
                <a:lnSpc>
                  <a:spcPts val="5207"/>
                </a:lnSpc>
              </a:pPr>
            </a:p>
            <a:p>
              <a:pPr algn="l">
                <a:lnSpc>
                  <a:spcPts val="5207"/>
                </a:lnSpc>
              </a:pPr>
              <a:r>
                <a:rPr lang="en-US" sz="3719">
                  <a:solidFill>
                    <a:srgbClr val="FFFFFF"/>
                  </a:solidFill>
                  <a:latin typeface="Canva Sans"/>
                  <a:ea typeface="Canva Sans"/>
                  <a:cs typeface="Canva Sans"/>
                  <a:sym typeface="Canva Sans"/>
                </a:rPr>
                <a:t>Izquierda - Derecha - </a:t>
              </a:r>
              <a:r>
                <a:rPr lang="en-US" sz="3719" b="true">
                  <a:solidFill>
                    <a:srgbClr val="FFFFFF"/>
                  </a:solidFill>
                  <a:latin typeface="Canva Sans Bold"/>
                  <a:ea typeface="Canva Sans Bold"/>
                  <a:cs typeface="Canva Sans Bold"/>
                  <a:sym typeface="Canva Sans Bold"/>
                </a:rPr>
                <a:t>Raiz</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5021" y="-2492352"/>
            <a:ext cx="5770168" cy="5770168"/>
            <a:chOff x="0" y="0"/>
            <a:chExt cx="7693557" cy="7693557"/>
          </a:xfrm>
        </p:grpSpPr>
        <p:sp>
          <p:nvSpPr>
            <p:cNvPr name="Freeform 3" id="3"/>
            <p:cNvSpPr/>
            <p:nvPr/>
          </p:nvSpPr>
          <p:spPr>
            <a:xfrm flipH="false" flipV="false" rot="0">
              <a:off x="0" y="0"/>
              <a:ext cx="7693660" cy="7693660"/>
            </a:xfrm>
            <a:custGeom>
              <a:avLst/>
              <a:gdLst/>
              <a:ahLst/>
              <a:cxnLst/>
              <a:rect r="r" b="b" t="t" l="l"/>
              <a:pathLst>
                <a:path h="7693660" w="7693660">
                  <a:moveTo>
                    <a:pt x="3846830" y="0"/>
                  </a:moveTo>
                  <a:cubicBezTo>
                    <a:pt x="1722247" y="0"/>
                    <a:pt x="0" y="1722247"/>
                    <a:pt x="0" y="3846830"/>
                  </a:cubicBezTo>
                  <a:cubicBezTo>
                    <a:pt x="0" y="5971413"/>
                    <a:pt x="1722247" y="7693660"/>
                    <a:pt x="3846830" y="7693660"/>
                  </a:cubicBezTo>
                  <a:cubicBezTo>
                    <a:pt x="5971413" y="7693660"/>
                    <a:pt x="7693660" y="5971413"/>
                    <a:pt x="7693660" y="3846830"/>
                  </a:cubicBezTo>
                  <a:cubicBezTo>
                    <a:pt x="7693660" y="1722247"/>
                    <a:pt x="5971286" y="0"/>
                    <a:pt x="3846830" y="0"/>
                  </a:cubicBezTo>
                  <a:close/>
                </a:path>
              </a:pathLst>
            </a:custGeom>
            <a:solidFill>
              <a:srgbClr val="2B4A9D"/>
            </a:solidFill>
          </p:spPr>
        </p:sp>
      </p:grpSp>
      <p:grpSp>
        <p:nvGrpSpPr>
          <p:cNvPr name="Group 4" id="4"/>
          <p:cNvGrpSpPr/>
          <p:nvPr/>
        </p:nvGrpSpPr>
        <p:grpSpPr>
          <a:xfrm rot="0">
            <a:off x="3336986" y="-9994"/>
            <a:ext cx="14951017" cy="417760"/>
            <a:chOff x="0" y="0"/>
            <a:chExt cx="19934689" cy="557013"/>
          </a:xfrm>
        </p:grpSpPr>
        <p:sp>
          <p:nvSpPr>
            <p:cNvPr name="Freeform 5" id="5"/>
            <p:cNvSpPr/>
            <p:nvPr/>
          </p:nvSpPr>
          <p:spPr>
            <a:xfrm flipH="false" flipV="false" rot="0">
              <a:off x="0" y="0"/>
              <a:ext cx="19934682" cy="557022"/>
            </a:xfrm>
            <a:custGeom>
              <a:avLst/>
              <a:gdLst/>
              <a:ahLst/>
              <a:cxnLst/>
              <a:rect r="r" b="b" t="t" l="l"/>
              <a:pathLst>
                <a:path h="557022" w="19934682">
                  <a:moveTo>
                    <a:pt x="0" y="0"/>
                  </a:moveTo>
                  <a:lnTo>
                    <a:pt x="19934682" y="0"/>
                  </a:lnTo>
                  <a:lnTo>
                    <a:pt x="19934682" y="557022"/>
                  </a:lnTo>
                  <a:lnTo>
                    <a:pt x="0" y="557022"/>
                  </a:lnTo>
                  <a:close/>
                </a:path>
              </a:pathLst>
            </a:custGeom>
            <a:solidFill>
              <a:srgbClr val="2B4A9D"/>
            </a:solidFill>
          </p:spPr>
        </p:sp>
      </p:grpSp>
      <p:grpSp>
        <p:nvGrpSpPr>
          <p:cNvPr name="Group 6" id="6"/>
          <p:cNvGrpSpPr/>
          <p:nvPr/>
        </p:nvGrpSpPr>
        <p:grpSpPr>
          <a:xfrm rot="0">
            <a:off x="7552616" y="1774168"/>
            <a:ext cx="10171348" cy="7093023"/>
            <a:chOff x="0" y="0"/>
            <a:chExt cx="13561797" cy="9457364"/>
          </a:xfrm>
        </p:grpSpPr>
        <p:sp>
          <p:nvSpPr>
            <p:cNvPr name="Freeform 7" id="7"/>
            <p:cNvSpPr/>
            <p:nvPr/>
          </p:nvSpPr>
          <p:spPr>
            <a:xfrm flipH="false" flipV="false" rot="0">
              <a:off x="0" y="0"/>
              <a:ext cx="13561822" cy="9457309"/>
            </a:xfrm>
            <a:custGeom>
              <a:avLst/>
              <a:gdLst/>
              <a:ahLst/>
              <a:cxnLst/>
              <a:rect r="r" b="b" t="t" l="l"/>
              <a:pathLst>
                <a:path h="9457309" w="13561822">
                  <a:moveTo>
                    <a:pt x="0" y="0"/>
                  </a:moveTo>
                  <a:lnTo>
                    <a:pt x="13561822" y="0"/>
                  </a:lnTo>
                  <a:lnTo>
                    <a:pt x="13561822" y="9457309"/>
                  </a:lnTo>
                  <a:lnTo>
                    <a:pt x="0" y="9457309"/>
                  </a:lnTo>
                  <a:lnTo>
                    <a:pt x="0" y="0"/>
                  </a:lnTo>
                  <a:close/>
                </a:path>
              </a:pathLst>
            </a:custGeom>
            <a:blipFill>
              <a:blip r:embed="rId2"/>
              <a:stretch>
                <a:fillRect l="0" t="0" r="0" b="0"/>
              </a:stretch>
            </a:blipFill>
          </p:spPr>
        </p:sp>
      </p:grpSp>
      <p:grpSp>
        <p:nvGrpSpPr>
          <p:cNvPr name="Group 8" id="8"/>
          <p:cNvGrpSpPr/>
          <p:nvPr/>
        </p:nvGrpSpPr>
        <p:grpSpPr>
          <a:xfrm rot="0">
            <a:off x="22247" y="6742880"/>
            <a:ext cx="6885801" cy="3544120"/>
            <a:chOff x="0" y="0"/>
            <a:chExt cx="9181068" cy="4725493"/>
          </a:xfrm>
        </p:grpSpPr>
        <p:sp>
          <p:nvSpPr>
            <p:cNvPr name="Freeform 9" id="9"/>
            <p:cNvSpPr/>
            <p:nvPr/>
          </p:nvSpPr>
          <p:spPr>
            <a:xfrm flipH="false" flipV="false" rot="0">
              <a:off x="0" y="0"/>
              <a:ext cx="9181084" cy="4725543"/>
            </a:xfrm>
            <a:custGeom>
              <a:avLst/>
              <a:gdLst/>
              <a:ahLst/>
              <a:cxnLst/>
              <a:rect r="r" b="b" t="t" l="l"/>
              <a:pathLst>
                <a:path h="4725543" w="9181084">
                  <a:moveTo>
                    <a:pt x="0" y="0"/>
                  </a:moveTo>
                  <a:lnTo>
                    <a:pt x="9181084" y="0"/>
                  </a:lnTo>
                  <a:lnTo>
                    <a:pt x="9181084" y="4725543"/>
                  </a:lnTo>
                  <a:lnTo>
                    <a:pt x="0" y="4725543"/>
                  </a:lnTo>
                  <a:close/>
                </a:path>
              </a:pathLst>
            </a:custGeom>
            <a:solidFill>
              <a:srgbClr val="2B4A9D"/>
            </a:solidFill>
          </p:spPr>
        </p:sp>
      </p:grpSp>
      <p:grpSp>
        <p:nvGrpSpPr>
          <p:cNvPr name="Group 10" id="10"/>
          <p:cNvGrpSpPr/>
          <p:nvPr/>
        </p:nvGrpSpPr>
        <p:grpSpPr>
          <a:xfrm rot="0">
            <a:off x="320656" y="7279788"/>
            <a:ext cx="6077153" cy="1962925"/>
            <a:chOff x="0" y="0"/>
            <a:chExt cx="8102871" cy="2617233"/>
          </a:xfrm>
        </p:grpSpPr>
        <p:sp>
          <p:nvSpPr>
            <p:cNvPr name="Freeform 11" id="11"/>
            <p:cNvSpPr/>
            <p:nvPr/>
          </p:nvSpPr>
          <p:spPr>
            <a:xfrm flipH="false" flipV="false" rot="0">
              <a:off x="0" y="0"/>
              <a:ext cx="8102871" cy="2617233"/>
            </a:xfrm>
            <a:custGeom>
              <a:avLst/>
              <a:gdLst/>
              <a:ahLst/>
              <a:cxnLst/>
              <a:rect r="r" b="b" t="t" l="l"/>
              <a:pathLst>
                <a:path h="2617233" w="8102871">
                  <a:moveTo>
                    <a:pt x="0" y="0"/>
                  </a:moveTo>
                  <a:lnTo>
                    <a:pt x="8102871" y="0"/>
                  </a:lnTo>
                  <a:lnTo>
                    <a:pt x="8102871" y="2617233"/>
                  </a:lnTo>
                  <a:lnTo>
                    <a:pt x="0" y="2617233"/>
                  </a:lnTo>
                  <a:close/>
                </a:path>
              </a:pathLst>
            </a:custGeom>
            <a:solidFill>
              <a:srgbClr val="000000">
                <a:alpha val="0"/>
              </a:srgbClr>
            </a:solidFill>
          </p:spPr>
        </p:sp>
        <p:sp>
          <p:nvSpPr>
            <p:cNvPr name="TextBox 12" id="12"/>
            <p:cNvSpPr txBox="true"/>
            <p:nvPr/>
          </p:nvSpPr>
          <p:spPr>
            <a:xfrm>
              <a:off x="0" y="-85725"/>
              <a:ext cx="8102871" cy="2702958"/>
            </a:xfrm>
            <a:prstGeom prst="rect">
              <a:avLst/>
            </a:prstGeom>
          </p:spPr>
          <p:txBody>
            <a:bodyPr anchor="t" rtlCol="false" tIns="0" lIns="0" bIns="0" rIns="0"/>
            <a:lstStyle/>
            <a:p>
              <a:pPr algn="l">
                <a:lnSpc>
                  <a:spcPts val="5207"/>
                </a:lnSpc>
              </a:pPr>
              <a:r>
                <a:rPr lang="en-US" sz="3719" b="true">
                  <a:solidFill>
                    <a:srgbClr val="FFFFFF"/>
                  </a:solidFill>
                  <a:latin typeface="Canva Sans Bold"/>
                  <a:ea typeface="Canva Sans Bold"/>
                  <a:cs typeface="Canva Sans Bold"/>
                  <a:sym typeface="Canva Sans Bold"/>
                </a:rPr>
                <a:t>IN-</a:t>
              </a:r>
              <a:r>
                <a:rPr lang="en-US" sz="3719">
                  <a:solidFill>
                    <a:srgbClr val="FFFFFF"/>
                  </a:solidFill>
                  <a:latin typeface="Canva Sans"/>
                  <a:ea typeface="Canva Sans"/>
                  <a:cs typeface="Canva Sans"/>
                  <a:sym typeface="Canva Sans"/>
                </a:rPr>
                <a:t>ORDEN</a:t>
              </a:r>
            </a:p>
            <a:p>
              <a:pPr algn="l">
                <a:lnSpc>
                  <a:spcPts val="5207"/>
                </a:lnSpc>
              </a:pPr>
            </a:p>
            <a:p>
              <a:pPr algn="l">
                <a:lnSpc>
                  <a:spcPts val="5207"/>
                </a:lnSpc>
              </a:pPr>
              <a:r>
                <a:rPr lang="en-US" sz="3719">
                  <a:solidFill>
                    <a:srgbClr val="FFFFFF"/>
                  </a:solidFill>
                  <a:latin typeface="Canva Sans"/>
                  <a:ea typeface="Canva Sans"/>
                  <a:cs typeface="Canva Sans"/>
                  <a:sym typeface="Canva Sans"/>
                </a:rPr>
                <a:t>Izquierda - </a:t>
              </a:r>
              <a:r>
                <a:rPr lang="en-US" sz="3719" b="true">
                  <a:solidFill>
                    <a:srgbClr val="FFFFFF"/>
                  </a:solidFill>
                  <a:latin typeface="Canva Sans Bold"/>
                  <a:ea typeface="Canva Sans Bold"/>
                  <a:cs typeface="Canva Sans Bold"/>
                  <a:sym typeface="Canva Sans Bold"/>
                </a:rPr>
                <a:t>Raiz </a:t>
              </a:r>
              <a:r>
                <a:rPr lang="en-US" sz="3719">
                  <a:solidFill>
                    <a:srgbClr val="FFFFFF"/>
                  </a:solidFill>
                  <a:latin typeface="Canva Sans"/>
                  <a:ea typeface="Canva Sans"/>
                  <a:cs typeface="Canva Sans"/>
                  <a:sym typeface="Canva Sans"/>
                </a:rPr>
                <a:t>- Derecha </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7834" y="2425592"/>
            <a:ext cx="9968424" cy="1259922"/>
            <a:chOff x="0" y="0"/>
            <a:chExt cx="13291232" cy="1679896"/>
          </a:xfrm>
        </p:grpSpPr>
        <p:sp>
          <p:nvSpPr>
            <p:cNvPr name="Freeform 3" id="3"/>
            <p:cNvSpPr/>
            <p:nvPr/>
          </p:nvSpPr>
          <p:spPr>
            <a:xfrm flipH="false" flipV="false" rot="0">
              <a:off x="0" y="0"/>
              <a:ext cx="13291186" cy="1679956"/>
            </a:xfrm>
            <a:custGeom>
              <a:avLst/>
              <a:gdLst/>
              <a:ahLst/>
              <a:cxnLst/>
              <a:rect r="r" b="b" t="t" l="l"/>
              <a:pathLst>
                <a:path h="1679956" w="13291186">
                  <a:moveTo>
                    <a:pt x="0" y="0"/>
                  </a:moveTo>
                  <a:lnTo>
                    <a:pt x="13291186" y="0"/>
                  </a:lnTo>
                  <a:lnTo>
                    <a:pt x="13291186" y="1679956"/>
                  </a:lnTo>
                  <a:lnTo>
                    <a:pt x="0" y="1679956"/>
                  </a:lnTo>
                  <a:close/>
                </a:path>
              </a:pathLst>
            </a:custGeom>
            <a:solidFill>
              <a:srgbClr val="2B4A9D"/>
            </a:solidFill>
          </p:spPr>
        </p:sp>
      </p:grpSp>
      <p:grpSp>
        <p:nvGrpSpPr>
          <p:cNvPr name="Group 4" id="4"/>
          <p:cNvGrpSpPr/>
          <p:nvPr/>
        </p:nvGrpSpPr>
        <p:grpSpPr>
          <a:xfrm rot="-2700000">
            <a:off x="-3283041" y="-3283041"/>
            <a:ext cx="6566081" cy="6566081"/>
            <a:chOff x="0" y="0"/>
            <a:chExt cx="8754775" cy="8754775"/>
          </a:xfrm>
        </p:grpSpPr>
        <p:sp>
          <p:nvSpPr>
            <p:cNvPr name="Freeform 5" id="5"/>
            <p:cNvSpPr/>
            <p:nvPr/>
          </p:nvSpPr>
          <p:spPr>
            <a:xfrm flipH="false" flipV="false" rot="0">
              <a:off x="0" y="0"/>
              <a:ext cx="8754745" cy="8754745"/>
            </a:xfrm>
            <a:custGeom>
              <a:avLst/>
              <a:gdLst/>
              <a:ahLst/>
              <a:cxnLst/>
              <a:rect r="r" b="b" t="t" l="l"/>
              <a:pathLst>
                <a:path h="8754745" w="8754745">
                  <a:moveTo>
                    <a:pt x="0" y="0"/>
                  </a:moveTo>
                  <a:lnTo>
                    <a:pt x="8754745" y="0"/>
                  </a:lnTo>
                  <a:lnTo>
                    <a:pt x="8754745" y="8754745"/>
                  </a:lnTo>
                  <a:lnTo>
                    <a:pt x="0" y="8754745"/>
                  </a:lnTo>
                  <a:close/>
                </a:path>
              </a:pathLst>
            </a:custGeom>
            <a:solidFill>
              <a:srgbClr val="5271FF"/>
            </a:solidFill>
          </p:spPr>
        </p:sp>
      </p:grpSp>
      <p:grpSp>
        <p:nvGrpSpPr>
          <p:cNvPr name="Group 6" id="6"/>
          <p:cNvGrpSpPr/>
          <p:nvPr/>
        </p:nvGrpSpPr>
        <p:grpSpPr>
          <a:xfrm rot="2700000">
            <a:off x="-2926440" y="-2926440"/>
            <a:ext cx="5852880" cy="5852880"/>
            <a:chOff x="0" y="0"/>
            <a:chExt cx="7803840" cy="7803840"/>
          </a:xfrm>
        </p:grpSpPr>
        <p:sp>
          <p:nvSpPr>
            <p:cNvPr name="Freeform 7" id="7"/>
            <p:cNvSpPr/>
            <p:nvPr/>
          </p:nvSpPr>
          <p:spPr>
            <a:xfrm flipH="false" flipV="false" rot="0">
              <a:off x="0" y="0"/>
              <a:ext cx="7803896" cy="7803896"/>
            </a:xfrm>
            <a:custGeom>
              <a:avLst/>
              <a:gdLst/>
              <a:ahLst/>
              <a:cxnLst/>
              <a:rect r="r" b="b" t="t" l="l"/>
              <a:pathLst>
                <a:path h="7803896" w="7803896">
                  <a:moveTo>
                    <a:pt x="0" y="0"/>
                  </a:moveTo>
                  <a:lnTo>
                    <a:pt x="0" y="7803896"/>
                  </a:lnTo>
                  <a:lnTo>
                    <a:pt x="7803896" y="7803896"/>
                  </a:lnTo>
                  <a:lnTo>
                    <a:pt x="7803896" y="0"/>
                  </a:lnTo>
                  <a:lnTo>
                    <a:pt x="0" y="0"/>
                  </a:lnTo>
                  <a:close/>
                  <a:moveTo>
                    <a:pt x="7555230" y="7555230"/>
                  </a:moveTo>
                  <a:lnTo>
                    <a:pt x="243332" y="7555230"/>
                  </a:lnTo>
                  <a:lnTo>
                    <a:pt x="243332" y="243332"/>
                  </a:lnTo>
                  <a:lnTo>
                    <a:pt x="7555230" y="243332"/>
                  </a:lnTo>
                  <a:lnTo>
                    <a:pt x="7555230" y="7555230"/>
                  </a:lnTo>
                  <a:close/>
                </a:path>
              </a:pathLst>
            </a:custGeom>
            <a:solidFill>
              <a:srgbClr val="FFFFFF"/>
            </a:solidFill>
          </p:spPr>
        </p:sp>
      </p:grpSp>
      <p:grpSp>
        <p:nvGrpSpPr>
          <p:cNvPr name="Group 8" id="8"/>
          <p:cNvGrpSpPr/>
          <p:nvPr/>
        </p:nvGrpSpPr>
        <p:grpSpPr>
          <a:xfrm rot="-2700000">
            <a:off x="-3283041" y="7003959"/>
            <a:ext cx="6566081" cy="6566081"/>
            <a:chOff x="0" y="0"/>
            <a:chExt cx="8754775" cy="8754775"/>
          </a:xfrm>
        </p:grpSpPr>
        <p:sp>
          <p:nvSpPr>
            <p:cNvPr name="Freeform 9" id="9"/>
            <p:cNvSpPr/>
            <p:nvPr/>
          </p:nvSpPr>
          <p:spPr>
            <a:xfrm flipH="false" flipV="false" rot="0">
              <a:off x="0" y="0"/>
              <a:ext cx="8754745" cy="8754745"/>
            </a:xfrm>
            <a:custGeom>
              <a:avLst/>
              <a:gdLst/>
              <a:ahLst/>
              <a:cxnLst/>
              <a:rect r="r" b="b" t="t" l="l"/>
              <a:pathLst>
                <a:path h="8754745" w="8754745">
                  <a:moveTo>
                    <a:pt x="0" y="0"/>
                  </a:moveTo>
                  <a:lnTo>
                    <a:pt x="8754745" y="0"/>
                  </a:lnTo>
                  <a:lnTo>
                    <a:pt x="8754745" y="8754745"/>
                  </a:lnTo>
                  <a:lnTo>
                    <a:pt x="0" y="8754745"/>
                  </a:lnTo>
                  <a:close/>
                </a:path>
              </a:pathLst>
            </a:custGeom>
            <a:solidFill>
              <a:srgbClr val="5271FF"/>
            </a:solidFill>
          </p:spPr>
        </p:sp>
      </p:grpSp>
      <p:grpSp>
        <p:nvGrpSpPr>
          <p:cNvPr name="Group 10" id="10"/>
          <p:cNvGrpSpPr/>
          <p:nvPr/>
        </p:nvGrpSpPr>
        <p:grpSpPr>
          <a:xfrm rot="2700000">
            <a:off x="-2926440" y="7360560"/>
            <a:ext cx="5852880" cy="5852880"/>
            <a:chOff x="0" y="0"/>
            <a:chExt cx="7803840" cy="7803840"/>
          </a:xfrm>
        </p:grpSpPr>
        <p:sp>
          <p:nvSpPr>
            <p:cNvPr name="Freeform 11" id="11"/>
            <p:cNvSpPr/>
            <p:nvPr/>
          </p:nvSpPr>
          <p:spPr>
            <a:xfrm flipH="false" flipV="false" rot="0">
              <a:off x="0" y="0"/>
              <a:ext cx="7803896" cy="7803896"/>
            </a:xfrm>
            <a:custGeom>
              <a:avLst/>
              <a:gdLst/>
              <a:ahLst/>
              <a:cxnLst/>
              <a:rect r="r" b="b" t="t" l="l"/>
              <a:pathLst>
                <a:path h="7803896" w="7803896">
                  <a:moveTo>
                    <a:pt x="0" y="0"/>
                  </a:moveTo>
                  <a:lnTo>
                    <a:pt x="0" y="7803896"/>
                  </a:lnTo>
                  <a:lnTo>
                    <a:pt x="7803896" y="7803896"/>
                  </a:lnTo>
                  <a:lnTo>
                    <a:pt x="7803896" y="0"/>
                  </a:lnTo>
                  <a:lnTo>
                    <a:pt x="0" y="0"/>
                  </a:lnTo>
                  <a:close/>
                  <a:moveTo>
                    <a:pt x="7555230" y="7555230"/>
                  </a:moveTo>
                  <a:lnTo>
                    <a:pt x="243332" y="7555230"/>
                  </a:lnTo>
                  <a:lnTo>
                    <a:pt x="243332" y="243332"/>
                  </a:lnTo>
                  <a:lnTo>
                    <a:pt x="7555230" y="243332"/>
                  </a:lnTo>
                  <a:lnTo>
                    <a:pt x="7555230" y="7555230"/>
                  </a:lnTo>
                  <a:close/>
                </a:path>
              </a:pathLst>
            </a:custGeom>
            <a:solidFill>
              <a:srgbClr val="FFFFFF"/>
            </a:solidFill>
          </p:spPr>
        </p:sp>
      </p:grpSp>
      <p:grpSp>
        <p:nvGrpSpPr>
          <p:cNvPr name="Group 12" id="12"/>
          <p:cNvGrpSpPr/>
          <p:nvPr/>
        </p:nvGrpSpPr>
        <p:grpSpPr>
          <a:xfrm rot="-2700000">
            <a:off x="-3283041" y="8117325"/>
            <a:ext cx="6566081" cy="6566081"/>
            <a:chOff x="0" y="0"/>
            <a:chExt cx="8754775" cy="8754775"/>
          </a:xfrm>
        </p:grpSpPr>
        <p:sp>
          <p:nvSpPr>
            <p:cNvPr name="Freeform 13" id="13"/>
            <p:cNvSpPr/>
            <p:nvPr/>
          </p:nvSpPr>
          <p:spPr>
            <a:xfrm flipH="false" flipV="false" rot="0">
              <a:off x="0" y="0"/>
              <a:ext cx="8754745" cy="8754745"/>
            </a:xfrm>
            <a:custGeom>
              <a:avLst/>
              <a:gdLst/>
              <a:ahLst/>
              <a:cxnLst/>
              <a:rect r="r" b="b" t="t" l="l"/>
              <a:pathLst>
                <a:path h="8754745" w="8754745">
                  <a:moveTo>
                    <a:pt x="0" y="0"/>
                  </a:moveTo>
                  <a:lnTo>
                    <a:pt x="8754745" y="0"/>
                  </a:lnTo>
                  <a:lnTo>
                    <a:pt x="8754745" y="8754745"/>
                  </a:lnTo>
                  <a:lnTo>
                    <a:pt x="0" y="8754745"/>
                  </a:lnTo>
                  <a:close/>
                </a:path>
              </a:pathLst>
            </a:custGeom>
            <a:solidFill>
              <a:srgbClr val="5271FF"/>
            </a:solidFill>
          </p:spPr>
        </p:sp>
      </p:grpSp>
      <p:grpSp>
        <p:nvGrpSpPr>
          <p:cNvPr name="Group 14" id="14"/>
          <p:cNvGrpSpPr/>
          <p:nvPr/>
        </p:nvGrpSpPr>
        <p:grpSpPr>
          <a:xfrm rot="2700000">
            <a:off x="-2926440" y="8473925"/>
            <a:ext cx="5852880" cy="5852880"/>
            <a:chOff x="0" y="0"/>
            <a:chExt cx="7803840" cy="7803840"/>
          </a:xfrm>
        </p:grpSpPr>
        <p:sp>
          <p:nvSpPr>
            <p:cNvPr name="Freeform 15" id="15"/>
            <p:cNvSpPr/>
            <p:nvPr/>
          </p:nvSpPr>
          <p:spPr>
            <a:xfrm flipH="false" flipV="false" rot="0">
              <a:off x="0" y="0"/>
              <a:ext cx="7803896" cy="7803896"/>
            </a:xfrm>
            <a:custGeom>
              <a:avLst/>
              <a:gdLst/>
              <a:ahLst/>
              <a:cxnLst/>
              <a:rect r="r" b="b" t="t" l="l"/>
              <a:pathLst>
                <a:path h="7803896" w="7803896">
                  <a:moveTo>
                    <a:pt x="0" y="0"/>
                  </a:moveTo>
                  <a:lnTo>
                    <a:pt x="0" y="7803896"/>
                  </a:lnTo>
                  <a:lnTo>
                    <a:pt x="7803896" y="7803896"/>
                  </a:lnTo>
                  <a:lnTo>
                    <a:pt x="7803896" y="0"/>
                  </a:lnTo>
                  <a:lnTo>
                    <a:pt x="0" y="0"/>
                  </a:lnTo>
                  <a:close/>
                  <a:moveTo>
                    <a:pt x="7555230" y="7555230"/>
                  </a:moveTo>
                  <a:lnTo>
                    <a:pt x="243332" y="7555230"/>
                  </a:lnTo>
                  <a:lnTo>
                    <a:pt x="243332" y="243332"/>
                  </a:lnTo>
                  <a:lnTo>
                    <a:pt x="7555230" y="243332"/>
                  </a:lnTo>
                  <a:lnTo>
                    <a:pt x="7555230" y="7555230"/>
                  </a:lnTo>
                  <a:close/>
                </a:path>
              </a:pathLst>
            </a:custGeom>
            <a:solidFill>
              <a:srgbClr val="FFFFFF"/>
            </a:solidFill>
          </p:spPr>
        </p:sp>
      </p:grpSp>
      <p:grpSp>
        <p:nvGrpSpPr>
          <p:cNvPr name="Group 16" id="16"/>
          <p:cNvGrpSpPr/>
          <p:nvPr/>
        </p:nvGrpSpPr>
        <p:grpSpPr>
          <a:xfrm rot="0">
            <a:off x="895350" y="3742663"/>
            <a:ext cx="9233976" cy="1993392"/>
            <a:chOff x="0" y="0"/>
            <a:chExt cx="12311968" cy="2657856"/>
          </a:xfrm>
        </p:grpSpPr>
        <p:sp>
          <p:nvSpPr>
            <p:cNvPr name="Freeform 17" id="17"/>
            <p:cNvSpPr/>
            <p:nvPr/>
          </p:nvSpPr>
          <p:spPr>
            <a:xfrm flipH="false" flipV="false" rot="0">
              <a:off x="0" y="0"/>
              <a:ext cx="12311968" cy="2657856"/>
            </a:xfrm>
            <a:custGeom>
              <a:avLst/>
              <a:gdLst/>
              <a:ahLst/>
              <a:cxnLst/>
              <a:rect r="r" b="b" t="t" l="l"/>
              <a:pathLst>
                <a:path h="2657856" w="12311968">
                  <a:moveTo>
                    <a:pt x="0" y="0"/>
                  </a:moveTo>
                  <a:lnTo>
                    <a:pt x="12311968" y="0"/>
                  </a:lnTo>
                  <a:lnTo>
                    <a:pt x="12311968" y="2657856"/>
                  </a:lnTo>
                  <a:lnTo>
                    <a:pt x="0" y="2657856"/>
                  </a:lnTo>
                  <a:close/>
                </a:path>
              </a:pathLst>
            </a:custGeom>
            <a:solidFill>
              <a:srgbClr val="000000">
                <a:alpha val="0"/>
              </a:srgbClr>
            </a:solidFill>
          </p:spPr>
        </p:sp>
        <p:sp>
          <p:nvSpPr>
            <p:cNvPr name="TextBox 18" id="18"/>
            <p:cNvSpPr txBox="true"/>
            <p:nvPr/>
          </p:nvSpPr>
          <p:spPr>
            <a:xfrm>
              <a:off x="0" y="28575"/>
              <a:ext cx="12311968" cy="2629281"/>
            </a:xfrm>
            <a:prstGeom prst="rect">
              <a:avLst/>
            </a:prstGeom>
          </p:spPr>
          <p:txBody>
            <a:bodyPr anchor="t" rtlCol="false" tIns="0" lIns="0" bIns="0" rIns="0"/>
            <a:lstStyle/>
            <a:p>
              <a:pPr algn="ctr">
                <a:lnSpc>
                  <a:spcPts val="8400"/>
                </a:lnSpc>
              </a:pPr>
              <a:r>
                <a:rPr lang="en-US" b="true" sz="8000" spc="400">
                  <a:solidFill>
                    <a:srgbClr val="2B4A9D"/>
                  </a:solidFill>
                  <a:latin typeface="Poppins Bold"/>
                  <a:ea typeface="Poppins Bold"/>
                  <a:cs typeface="Poppins Bold"/>
                  <a:sym typeface="Poppins Bold"/>
                </a:rPr>
                <a:t>ARBOL BINARIO</a:t>
              </a:r>
            </a:p>
          </p:txBody>
        </p:sp>
      </p:grpSp>
      <p:grpSp>
        <p:nvGrpSpPr>
          <p:cNvPr name="Group 19" id="19"/>
          <p:cNvGrpSpPr/>
          <p:nvPr/>
        </p:nvGrpSpPr>
        <p:grpSpPr>
          <a:xfrm rot="0">
            <a:off x="10129326" y="0"/>
            <a:ext cx="8158674" cy="10287003"/>
            <a:chOff x="0" y="0"/>
            <a:chExt cx="10878232" cy="13716004"/>
          </a:xfrm>
        </p:grpSpPr>
        <p:sp>
          <p:nvSpPr>
            <p:cNvPr name="Freeform 20" id="20"/>
            <p:cNvSpPr/>
            <p:nvPr/>
          </p:nvSpPr>
          <p:spPr>
            <a:xfrm flipH="false" flipV="false" rot="0">
              <a:off x="0" y="0"/>
              <a:ext cx="10878185" cy="13716000"/>
            </a:xfrm>
            <a:custGeom>
              <a:avLst/>
              <a:gdLst/>
              <a:ahLst/>
              <a:cxnLst/>
              <a:rect r="r" b="b" t="t" l="l"/>
              <a:pathLst>
                <a:path h="13716000" w="10878185">
                  <a:moveTo>
                    <a:pt x="0" y="0"/>
                  </a:moveTo>
                  <a:lnTo>
                    <a:pt x="10878185" y="0"/>
                  </a:lnTo>
                  <a:lnTo>
                    <a:pt x="10878185" y="13716000"/>
                  </a:lnTo>
                  <a:lnTo>
                    <a:pt x="0" y="13716000"/>
                  </a:lnTo>
                  <a:close/>
                </a:path>
              </a:pathLst>
            </a:custGeom>
            <a:solidFill>
              <a:srgbClr val="2B4A9D"/>
            </a:solidFill>
          </p:spPr>
        </p:sp>
      </p:grpSp>
      <p:grpSp>
        <p:nvGrpSpPr>
          <p:cNvPr name="Group 21" id="21"/>
          <p:cNvGrpSpPr/>
          <p:nvPr/>
        </p:nvGrpSpPr>
        <p:grpSpPr>
          <a:xfrm rot="0">
            <a:off x="11331036" y="3714088"/>
            <a:ext cx="5755255" cy="5743698"/>
            <a:chOff x="0" y="0"/>
            <a:chExt cx="7673673" cy="7658264"/>
          </a:xfrm>
        </p:grpSpPr>
        <p:sp>
          <p:nvSpPr>
            <p:cNvPr name="Freeform 22" id="22"/>
            <p:cNvSpPr/>
            <p:nvPr/>
          </p:nvSpPr>
          <p:spPr>
            <a:xfrm flipH="false" flipV="false" rot="0">
              <a:off x="0" y="0"/>
              <a:ext cx="7673721" cy="7658227"/>
            </a:xfrm>
            <a:custGeom>
              <a:avLst/>
              <a:gdLst/>
              <a:ahLst/>
              <a:cxnLst/>
              <a:rect r="r" b="b" t="t" l="l"/>
              <a:pathLst>
                <a:path h="7658227" w="7673721">
                  <a:moveTo>
                    <a:pt x="0" y="0"/>
                  </a:moveTo>
                  <a:lnTo>
                    <a:pt x="7673721" y="0"/>
                  </a:lnTo>
                  <a:lnTo>
                    <a:pt x="7673721" y="7658227"/>
                  </a:lnTo>
                  <a:lnTo>
                    <a:pt x="0" y="7658227"/>
                  </a:lnTo>
                  <a:lnTo>
                    <a:pt x="0" y="0"/>
                  </a:lnTo>
                  <a:close/>
                </a:path>
              </a:pathLst>
            </a:custGeom>
            <a:blipFill>
              <a:blip r:embed="rId2"/>
              <a:stretch>
                <a:fillRect l="0" t="0" r="0" b="0"/>
              </a:stretch>
            </a:blipFill>
          </p:spPr>
        </p:sp>
      </p:grpSp>
      <p:grpSp>
        <p:nvGrpSpPr>
          <p:cNvPr name="Group 23" id="23"/>
          <p:cNvGrpSpPr/>
          <p:nvPr/>
        </p:nvGrpSpPr>
        <p:grpSpPr>
          <a:xfrm rot="0">
            <a:off x="10647776" y="962025"/>
            <a:ext cx="7121774" cy="2380615"/>
            <a:chOff x="0" y="0"/>
            <a:chExt cx="9495699" cy="3174153"/>
          </a:xfrm>
        </p:grpSpPr>
        <p:sp>
          <p:nvSpPr>
            <p:cNvPr name="Freeform 24" id="24"/>
            <p:cNvSpPr/>
            <p:nvPr/>
          </p:nvSpPr>
          <p:spPr>
            <a:xfrm flipH="false" flipV="false" rot="0">
              <a:off x="0" y="0"/>
              <a:ext cx="9495699" cy="3174153"/>
            </a:xfrm>
            <a:custGeom>
              <a:avLst/>
              <a:gdLst/>
              <a:ahLst/>
              <a:cxnLst/>
              <a:rect r="r" b="b" t="t" l="l"/>
              <a:pathLst>
                <a:path h="3174153" w="9495699">
                  <a:moveTo>
                    <a:pt x="0" y="0"/>
                  </a:moveTo>
                  <a:lnTo>
                    <a:pt x="9495699" y="0"/>
                  </a:lnTo>
                  <a:lnTo>
                    <a:pt x="9495699" y="3174153"/>
                  </a:lnTo>
                  <a:lnTo>
                    <a:pt x="0" y="3174153"/>
                  </a:lnTo>
                  <a:close/>
                </a:path>
              </a:pathLst>
            </a:custGeom>
            <a:solidFill>
              <a:srgbClr val="000000">
                <a:alpha val="0"/>
              </a:srgbClr>
            </a:solidFill>
          </p:spPr>
        </p:sp>
        <p:sp>
          <p:nvSpPr>
            <p:cNvPr name="TextBox 25" id="25"/>
            <p:cNvSpPr txBox="true"/>
            <p:nvPr/>
          </p:nvSpPr>
          <p:spPr>
            <a:xfrm>
              <a:off x="0" y="-66675"/>
              <a:ext cx="9495699" cy="3240828"/>
            </a:xfrm>
            <a:prstGeom prst="rect">
              <a:avLst/>
            </a:prstGeom>
          </p:spPr>
          <p:txBody>
            <a:bodyPr anchor="t" rtlCol="false" tIns="0" lIns="0" bIns="0" rIns="0"/>
            <a:lstStyle/>
            <a:p>
              <a:pPr algn="l">
                <a:lnSpc>
                  <a:spcPts val="4759"/>
                </a:lnSpc>
              </a:pPr>
              <a:r>
                <a:rPr lang="en-US" sz="3399">
                  <a:solidFill>
                    <a:srgbClr val="FFFFFF"/>
                  </a:solidFill>
                  <a:latin typeface="Canva Sans"/>
                  <a:ea typeface="Canva Sans"/>
                  <a:cs typeface="Canva Sans"/>
                  <a:sym typeface="Canva Sans"/>
                </a:rPr>
                <a:t>Esta estructura se caracteriza por que cada nodo solo puede tener máximo 2 hijos</a:t>
              </a:r>
            </a:p>
            <a:p>
              <a:pPr algn="l">
                <a:lnSpc>
                  <a:spcPts val="4759"/>
                </a:lnSpc>
              </a:pPr>
            </a:p>
          </p:txBody>
        </p:sp>
      </p:gr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305021" y="-2492352"/>
            <a:ext cx="5770168" cy="5770168"/>
            <a:chOff x="0" y="0"/>
            <a:chExt cx="7693557" cy="7693557"/>
          </a:xfrm>
        </p:grpSpPr>
        <p:sp>
          <p:nvSpPr>
            <p:cNvPr name="Freeform 3" id="3"/>
            <p:cNvSpPr/>
            <p:nvPr/>
          </p:nvSpPr>
          <p:spPr>
            <a:xfrm flipH="false" flipV="false" rot="0">
              <a:off x="0" y="0"/>
              <a:ext cx="7693660" cy="7693660"/>
            </a:xfrm>
            <a:custGeom>
              <a:avLst/>
              <a:gdLst/>
              <a:ahLst/>
              <a:cxnLst/>
              <a:rect r="r" b="b" t="t" l="l"/>
              <a:pathLst>
                <a:path h="7693660" w="7693660">
                  <a:moveTo>
                    <a:pt x="3846830" y="0"/>
                  </a:moveTo>
                  <a:cubicBezTo>
                    <a:pt x="1722247" y="0"/>
                    <a:pt x="0" y="1722247"/>
                    <a:pt x="0" y="3846830"/>
                  </a:cubicBezTo>
                  <a:cubicBezTo>
                    <a:pt x="0" y="5971413"/>
                    <a:pt x="1722247" y="7693660"/>
                    <a:pt x="3846830" y="7693660"/>
                  </a:cubicBezTo>
                  <a:cubicBezTo>
                    <a:pt x="5971413" y="7693660"/>
                    <a:pt x="7693660" y="5971413"/>
                    <a:pt x="7693660" y="3846830"/>
                  </a:cubicBezTo>
                  <a:cubicBezTo>
                    <a:pt x="7693660" y="1722247"/>
                    <a:pt x="5971286" y="0"/>
                    <a:pt x="3846830" y="0"/>
                  </a:cubicBezTo>
                  <a:close/>
                </a:path>
              </a:pathLst>
            </a:custGeom>
            <a:solidFill>
              <a:srgbClr val="2B4A9D"/>
            </a:solidFill>
          </p:spPr>
        </p:sp>
      </p:grpSp>
      <p:grpSp>
        <p:nvGrpSpPr>
          <p:cNvPr name="Group 4" id="4"/>
          <p:cNvGrpSpPr/>
          <p:nvPr/>
        </p:nvGrpSpPr>
        <p:grpSpPr>
          <a:xfrm rot="0">
            <a:off x="8177763" y="407766"/>
            <a:ext cx="10110237" cy="9880891"/>
            <a:chOff x="0" y="0"/>
            <a:chExt cx="13480316" cy="13174521"/>
          </a:xfrm>
        </p:grpSpPr>
        <p:sp>
          <p:nvSpPr>
            <p:cNvPr name="Freeform 5" id="5"/>
            <p:cNvSpPr/>
            <p:nvPr/>
          </p:nvSpPr>
          <p:spPr>
            <a:xfrm flipH="false" flipV="false" rot="0">
              <a:off x="0" y="0"/>
              <a:ext cx="13480287" cy="13174472"/>
            </a:xfrm>
            <a:custGeom>
              <a:avLst/>
              <a:gdLst/>
              <a:ahLst/>
              <a:cxnLst/>
              <a:rect r="r" b="b" t="t" l="l"/>
              <a:pathLst>
                <a:path h="13174472" w="13480287">
                  <a:moveTo>
                    <a:pt x="0" y="0"/>
                  </a:moveTo>
                  <a:lnTo>
                    <a:pt x="13480287" y="0"/>
                  </a:lnTo>
                  <a:lnTo>
                    <a:pt x="13480287" y="13174472"/>
                  </a:lnTo>
                  <a:lnTo>
                    <a:pt x="0" y="13174472"/>
                  </a:lnTo>
                  <a:close/>
                </a:path>
              </a:pathLst>
            </a:custGeom>
            <a:solidFill>
              <a:srgbClr val="2B4A9D"/>
            </a:solidFill>
          </p:spPr>
        </p:sp>
      </p:grpSp>
      <p:grpSp>
        <p:nvGrpSpPr>
          <p:cNvPr name="Group 6" id="6"/>
          <p:cNvGrpSpPr/>
          <p:nvPr/>
        </p:nvGrpSpPr>
        <p:grpSpPr>
          <a:xfrm rot="0">
            <a:off x="3336986" y="-9994"/>
            <a:ext cx="14951017" cy="417760"/>
            <a:chOff x="0" y="0"/>
            <a:chExt cx="19934689" cy="557013"/>
          </a:xfrm>
        </p:grpSpPr>
        <p:sp>
          <p:nvSpPr>
            <p:cNvPr name="Freeform 7" id="7"/>
            <p:cNvSpPr/>
            <p:nvPr/>
          </p:nvSpPr>
          <p:spPr>
            <a:xfrm flipH="false" flipV="false" rot="0">
              <a:off x="0" y="0"/>
              <a:ext cx="19934682" cy="557022"/>
            </a:xfrm>
            <a:custGeom>
              <a:avLst/>
              <a:gdLst/>
              <a:ahLst/>
              <a:cxnLst/>
              <a:rect r="r" b="b" t="t" l="l"/>
              <a:pathLst>
                <a:path h="557022" w="19934682">
                  <a:moveTo>
                    <a:pt x="0" y="0"/>
                  </a:moveTo>
                  <a:lnTo>
                    <a:pt x="19934682" y="0"/>
                  </a:lnTo>
                  <a:lnTo>
                    <a:pt x="19934682" y="557022"/>
                  </a:lnTo>
                  <a:lnTo>
                    <a:pt x="0" y="557022"/>
                  </a:lnTo>
                  <a:close/>
                </a:path>
              </a:pathLst>
            </a:custGeom>
            <a:solidFill>
              <a:srgbClr val="2B4A9D"/>
            </a:solidFill>
          </p:spPr>
        </p:sp>
      </p:grpSp>
      <p:grpSp>
        <p:nvGrpSpPr>
          <p:cNvPr name="Group 8" id="8"/>
          <p:cNvGrpSpPr/>
          <p:nvPr/>
        </p:nvGrpSpPr>
        <p:grpSpPr>
          <a:xfrm rot="0">
            <a:off x="421097" y="4663127"/>
            <a:ext cx="7397313" cy="1659407"/>
            <a:chOff x="0" y="0"/>
            <a:chExt cx="9863084" cy="2212543"/>
          </a:xfrm>
        </p:grpSpPr>
        <p:sp>
          <p:nvSpPr>
            <p:cNvPr name="Freeform 9" id="9"/>
            <p:cNvSpPr/>
            <p:nvPr/>
          </p:nvSpPr>
          <p:spPr>
            <a:xfrm flipH="false" flipV="false" rot="0">
              <a:off x="0" y="0"/>
              <a:ext cx="9863084" cy="2212543"/>
            </a:xfrm>
            <a:custGeom>
              <a:avLst/>
              <a:gdLst/>
              <a:ahLst/>
              <a:cxnLst/>
              <a:rect r="r" b="b" t="t" l="l"/>
              <a:pathLst>
                <a:path h="2212543" w="9863084">
                  <a:moveTo>
                    <a:pt x="0" y="0"/>
                  </a:moveTo>
                  <a:lnTo>
                    <a:pt x="9863084" y="0"/>
                  </a:lnTo>
                  <a:lnTo>
                    <a:pt x="9863084" y="2212543"/>
                  </a:lnTo>
                  <a:lnTo>
                    <a:pt x="0" y="2212543"/>
                  </a:lnTo>
                  <a:close/>
                </a:path>
              </a:pathLst>
            </a:custGeom>
            <a:solidFill>
              <a:srgbClr val="000000">
                <a:alpha val="0"/>
              </a:srgbClr>
            </a:solidFill>
          </p:spPr>
        </p:sp>
        <p:sp>
          <p:nvSpPr>
            <p:cNvPr name="TextBox 10" id="10"/>
            <p:cNvSpPr txBox="true"/>
            <p:nvPr/>
          </p:nvSpPr>
          <p:spPr>
            <a:xfrm>
              <a:off x="0" y="28575"/>
              <a:ext cx="9863084" cy="2183968"/>
            </a:xfrm>
            <a:prstGeom prst="rect">
              <a:avLst/>
            </a:prstGeom>
          </p:spPr>
          <p:txBody>
            <a:bodyPr anchor="t" rtlCol="false" tIns="0" lIns="0" bIns="0" rIns="0"/>
            <a:lstStyle/>
            <a:p>
              <a:pPr algn="ctr">
                <a:lnSpc>
                  <a:spcPts val="7013"/>
                </a:lnSpc>
              </a:pPr>
              <a:r>
                <a:rPr lang="en-US" b="true" sz="6679" spc="332">
                  <a:solidFill>
                    <a:srgbClr val="2B4A9D"/>
                  </a:solidFill>
                  <a:latin typeface="Poppins Bold"/>
                  <a:ea typeface="Poppins Bold"/>
                  <a:cs typeface="Poppins Bold"/>
                  <a:sym typeface="Poppins Bold"/>
                </a:rPr>
                <a:t>ARBOL AVL</a:t>
              </a:r>
            </a:p>
          </p:txBody>
        </p:sp>
      </p:grpSp>
      <p:grpSp>
        <p:nvGrpSpPr>
          <p:cNvPr name="Group 11" id="11"/>
          <p:cNvGrpSpPr/>
          <p:nvPr/>
        </p:nvGrpSpPr>
        <p:grpSpPr>
          <a:xfrm rot="0">
            <a:off x="8659135" y="2296149"/>
            <a:ext cx="9628865" cy="6791666"/>
            <a:chOff x="0" y="0"/>
            <a:chExt cx="12838487" cy="9055555"/>
          </a:xfrm>
        </p:grpSpPr>
        <p:sp>
          <p:nvSpPr>
            <p:cNvPr name="Freeform 12" id="12"/>
            <p:cNvSpPr/>
            <p:nvPr/>
          </p:nvSpPr>
          <p:spPr>
            <a:xfrm flipH="false" flipV="false" rot="0">
              <a:off x="0" y="0"/>
              <a:ext cx="12838487" cy="9055555"/>
            </a:xfrm>
            <a:custGeom>
              <a:avLst/>
              <a:gdLst/>
              <a:ahLst/>
              <a:cxnLst/>
              <a:rect r="r" b="b" t="t" l="l"/>
              <a:pathLst>
                <a:path h="9055555" w="12838487">
                  <a:moveTo>
                    <a:pt x="0" y="0"/>
                  </a:moveTo>
                  <a:lnTo>
                    <a:pt x="12838487" y="0"/>
                  </a:lnTo>
                  <a:lnTo>
                    <a:pt x="12838487" y="9055555"/>
                  </a:lnTo>
                  <a:lnTo>
                    <a:pt x="0" y="9055555"/>
                  </a:lnTo>
                  <a:close/>
                </a:path>
              </a:pathLst>
            </a:custGeom>
            <a:solidFill>
              <a:srgbClr val="000000">
                <a:alpha val="0"/>
              </a:srgbClr>
            </a:solidFill>
          </p:spPr>
        </p:sp>
        <p:sp>
          <p:nvSpPr>
            <p:cNvPr name="TextBox 13" id="13"/>
            <p:cNvSpPr txBox="true"/>
            <p:nvPr/>
          </p:nvSpPr>
          <p:spPr>
            <a:xfrm>
              <a:off x="0" y="-57150"/>
              <a:ext cx="12838487" cy="9112705"/>
            </a:xfrm>
            <a:prstGeom prst="rect">
              <a:avLst/>
            </a:prstGeom>
          </p:spPr>
          <p:txBody>
            <a:bodyPr anchor="t" rtlCol="false" tIns="0" lIns="0" bIns="0" rIns="0"/>
            <a:lstStyle/>
            <a:p>
              <a:pPr algn="l" marL="682662" indent="-227554" lvl="2">
                <a:lnSpc>
                  <a:spcPts val="4180"/>
                </a:lnSpc>
                <a:buFont typeface="Arial"/>
                <a:buChar char="⚬"/>
              </a:pPr>
              <a:r>
                <a:rPr lang="en-US" sz="2986">
                  <a:solidFill>
                    <a:srgbClr val="FFFFFF"/>
                  </a:solidFill>
                  <a:latin typeface="Canva Sans"/>
                  <a:ea typeface="Canva Sans"/>
                  <a:cs typeface="Canva Sans"/>
                  <a:sym typeface="Canva Sans"/>
                </a:rPr>
                <a:t>AVL son las iniciales de Adelson-Velskii y Landis, los hombres que idearon este tipo de árbol.</a:t>
              </a:r>
            </a:p>
            <a:p>
              <a:pPr algn="l" marL="682662" indent="-227554" lvl="2">
                <a:lnSpc>
                  <a:spcPts val="4180"/>
                </a:lnSpc>
              </a:pPr>
            </a:p>
            <a:p>
              <a:pPr algn="l" marL="682662" indent="-227554" lvl="2">
                <a:lnSpc>
                  <a:spcPts val="4180"/>
                </a:lnSpc>
                <a:buFont typeface="Arial"/>
                <a:buChar char="⚬"/>
              </a:pPr>
              <a:r>
                <a:rPr lang="en-US" sz="2986">
                  <a:solidFill>
                    <a:srgbClr val="FFFFFF"/>
                  </a:solidFill>
                  <a:latin typeface="Canva Sans"/>
                  <a:ea typeface="Canva Sans"/>
                  <a:cs typeface="Canva Sans"/>
                  <a:sym typeface="Canva Sans"/>
                </a:rPr>
                <a:t>Básicamente un árbol AVL es un árbol binario de búsqueda al que se le añade una condición de equilibrio. Esta condición es que para todo nodo la altura de sus subárboles izquierdo y derecho pueden diferir a lo sumo en 1.</a:t>
              </a:r>
            </a:p>
            <a:p>
              <a:pPr algn="l" marL="682662" indent="-227554" lvl="2">
                <a:lnSpc>
                  <a:spcPts val="4180"/>
                </a:lnSpc>
              </a:pPr>
            </a:p>
            <a:p>
              <a:pPr algn="l" marL="682662" indent="-227554" lvl="2">
                <a:lnSpc>
                  <a:spcPts val="4180"/>
                </a:lnSpc>
                <a:buFont typeface="Arial"/>
                <a:buChar char="⚬"/>
              </a:pPr>
              <a:r>
                <a:rPr lang="en-US" sz="2986">
                  <a:solidFill>
                    <a:srgbClr val="FFFFFF"/>
                  </a:solidFill>
                  <a:latin typeface="Canva Sans"/>
                  <a:ea typeface="Canva Sans"/>
                  <a:cs typeface="Canva Sans"/>
                  <a:sym typeface="Canva Sans"/>
                </a:rPr>
                <a:t>Gracias a esta forma de equilibrio (o balanceo), la complejidad de una búsqueda en uno de estos árboles se mantiene siempre en orden de complejidad O(log n).</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5021" y="-2492352"/>
            <a:ext cx="5770168" cy="5770168"/>
            <a:chOff x="0" y="0"/>
            <a:chExt cx="7693557" cy="7693557"/>
          </a:xfrm>
        </p:grpSpPr>
        <p:sp>
          <p:nvSpPr>
            <p:cNvPr name="Freeform 3" id="3"/>
            <p:cNvSpPr/>
            <p:nvPr/>
          </p:nvSpPr>
          <p:spPr>
            <a:xfrm flipH="false" flipV="false" rot="0">
              <a:off x="0" y="0"/>
              <a:ext cx="7693660" cy="7693660"/>
            </a:xfrm>
            <a:custGeom>
              <a:avLst/>
              <a:gdLst/>
              <a:ahLst/>
              <a:cxnLst/>
              <a:rect r="r" b="b" t="t" l="l"/>
              <a:pathLst>
                <a:path h="7693660" w="7693660">
                  <a:moveTo>
                    <a:pt x="3846830" y="0"/>
                  </a:moveTo>
                  <a:cubicBezTo>
                    <a:pt x="1722247" y="0"/>
                    <a:pt x="0" y="1722247"/>
                    <a:pt x="0" y="3846830"/>
                  </a:cubicBezTo>
                  <a:cubicBezTo>
                    <a:pt x="0" y="5971413"/>
                    <a:pt x="1722247" y="7693660"/>
                    <a:pt x="3846830" y="7693660"/>
                  </a:cubicBezTo>
                  <a:cubicBezTo>
                    <a:pt x="5971413" y="7693660"/>
                    <a:pt x="7693660" y="5971413"/>
                    <a:pt x="7693660" y="3846830"/>
                  </a:cubicBezTo>
                  <a:cubicBezTo>
                    <a:pt x="7693660" y="1722247"/>
                    <a:pt x="5971286" y="0"/>
                    <a:pt x="3846830" y="0"/>
                  </a:cubicBezTo>
                  <a:close/>
                </a:path>
              </a:pathLst>
            </a:custGeom>
            <a:solidFill>
              <a:srgbClr val="2B4A9D"/>
            </a:solidFill>
          </p:spPr>
        </p:sp>
      </p:grpSp>
      <p:grpSp>
        <p:nvGrpSpPr>
          <p:cNvPr name="Group 4" id="4"/>
          <p:cNvGrpSpPr/>
          <p:nvPr/>
        </p:nvGrpSpPr>
        <p:grpSpPr>
          <a:xfrm rot="0">
            <a:off x="0" y="2716564"/>
            <a:ext cx="8575879" cy="7570436"/>
            <a:chOff x="0" y="0"/>
            <a:chExt cx="11434505" cy="10093915"/>
          </a:xfrm>
        </p:grpSpPr>
        <p:sp>
          <p:nvSpPr>
            <p:cNvPr name="Freeform 5" id="5"/>
            <p:cNvSpPr/>
            <p:nvPr/>
          </p:nvSpPr>
          <p:spPr>
            <a:xfrm flipH="false" flipV="false" rot="0">
              <a:off x="0" y="0"/>
              <a:ext cx="11434445" cy="10093960"/>
            </a:xfrm>
            <a:custGeom>
              <a:avLst/>
              <a:gdLst/>
              <a:ahLst/>
              <a:cxnLst/>
              <a:rect r="r" b="b" t="t" l="l"/>
              <a:pathLst>
                <a:path h="10093960" w="11434445">
                  <a:moveTo>
                    <a:pt x="0" y="0"/>
                  </a:moveTo>
                  <a:lnTo>
                    <a:pt x="11434445" y="0"/>
                  </a:lnTo>
                  <a:lnTo>
                    <a:pt x="11434445" y="10093960"/>
                  </a:lnTo>
                  <a:lnTo>
                    <a:pt x="0" y="10093960"/>
                  </a:lnTo>
                  <a:close/>
                </a:path>
              </a:pathLst>
            </a:custGeom>
            <a:solidFill>
              <a:srgbClr val="2B4A9D"/>
            </a:solidFill>
          </p:spPr>
        </p:sp>
      </p:grpSp>
      <p:grpSp>
        <p:nvGrpSpPr>
          <p:cNvPr name="Group 6" id="6"/>
          <p:cNvGrpSpPr/>
          <p:nvPr/>
        </p:nvGrpSpPr>
        <p:grpSpPr>
          <a:xfrm rot="0">
            <a:off x="3336986" y="-9994"/>
            <a:ext cx="14951017" cy="417760"/>
            <a:chOff x="0" y="0"/>
            <a:chExt cx="19934689" cy="557013"/>
          </a:xfrm>
        </p:grpSpPr>
        <p:sp>
          <p:nvSpPr>
            <p:cNvPr name="Freeform 7" id="7"/>
            <p:cNvSpPr/>
            <p:nvPr/>
          </p:nvSpPr>
          <p:spPr>
            <a:xfrm flipH="false" flipV="false" rot="0">
              <a:off x="0" y="0"/>
              <a:ext cx="19934682" cy="557022"/>
            </a:xfrm>
            <a:custGeom>
              <a:avLst/>
              <a:gdLst/>
              <a:ahLst/>
              <a:cxnLst/>
              <a:rect r="r" b="b" t="t" l="l"/>
              <a:pathLst>
                <a:path h="557022" w="19934682">
                  <a:moveTo>
                    <a:pt x="0" y="0"/>
                  </a:moveTo>
                  <a:lnTo>
                    <a:pt x="19934682" y="0"/>
                  </a:lnTo>
                  <a:lnTo>
                    <a:pt x="19934682" y="557022"/>
                  </a:lnTo>
                  <a:lnTo>
                    <a:pt x="0" y="557022"/>
                  </a:lnTo>
                  <a:close/>
                </a:path>
              </a:pathLst>
            </a:custGeom>
            <a:solidFill>
              <a:srgbClr val="2B4A9D"/>
            </a:solidFill>
          </p:spPr>
        </p:sp>
      </p:grpSp>
      <p:grpSp>
        <p:nvGrpSpPr>
          <p:cNvPr name="Group 8" id="8"/>
          <p:cNvGrpSpPr/>
          <p:nvPr/>
        </p:nvGrpSpPr>
        <p:grpSpPr>
          <a:xfrm rot="0">
            <a:off x="8575879" y="3277816"/>
            <a:ext cx="9785888" cy="4280851"/>
            <a:chOff x="0" y="0"/>
            <a:chExt cx="13047851" cy="5707801"/>
          </a:xfrm>
        </p:grpSpPr>
        <p:sp>
          <p:nvSpPr>
            <p:cNvPr name="Freeform 9" id="9"/>
            <p:cNvSpPr/>
            <p:nvPr/>
          </p:nvSpPr>
          <p:spPr>
            <a:xfrm flipH="false" flipV="false" rot="0">
              <a:off x="0" y="0"/>
              <a:ext cx="13047853" cy="5707761"/>
            </a:xfrm>
            <a:custGeom>
              <a:avLst/>
              <a:gdLst/>
              <a:ahLst/>
              <a:cxnLst/>
              <a:rect r="r" b="b" t="t" l="l"/>
              <a:pathLst>
                <a:path h="5707761" w="13047853">
                  <a:moveTo>
                    <a:pt x="0" y="0"/>
                  </a:moveTo>
                  <a:lnTo>
                    <a:pt x="13047853" y="0"/>
                  </a:lnTo>
                  <a:lnTo>
                    <a:pt x="13047853" y="5707761"/>
                  </a:lnTo>
                  <a:lnTo>
                    <a:pt x="0" y="5707761"/>
                  </a:lnTo>
                  <a:lnTo>
                    <a:pt x="0" y="0"/>
                  </a:lnTo>
                  <a:close/>
                </a:path>
              </a:pathLst>
            </a:custGeom>
            <a:blipFill>
              <a:blip r:embed="rId2"/>
              <a:stretch>
                <a:fillRect l="0" t="0" r="0" b="0"/>
              </a:stretch>
            </a:blipFill>
          </p:spPr>
        </p:sp>
      </p:grpSp>
      <p:grpSp>
        <p:nvGrpSpPr>
          <p:cNvPr name="Group 10" id="10"/>
          <p:cNvGrpSpPr/>
          <p:nvPr/>
        </p:nvGrpSpPr>
        <p:grpSpPr>
          <a:xfrm rot="0">
            <a:off x="8917291" y="836585"/>
            <a:ext cx="8986974" cy="2545232"/>
            <a:chOff x="0" y="0"/>
            <a:chExt cx="11982632" cy="3393643"/>
          </a:xfrm>
        </p:grpSpPr>
        <p:sp>
          <p:nvSpPr>
            <p:cNvPr name="Freeform 11" id="11"/>
            <p:cNvSpPr/>
            <p:nvPr/>
          </p:nvSpPr>
          <p:spPr>
            <a:xfrm flipH="false" flipV="false" rot="0">
              <a:off x="0" y="0"/>
              <a:ext cx="11982632" cy="3393643"/>
            </a:xfrm>
            <a:custGeom>
              <a:avLst/>
              <a:gdLst/>
              <a:ahLst/>
              <a:cxnLst/>
              <a:rect r="r" b="b" t="t" l="l"/>
              <a:pathLst>
                <a:path h="3393643" w="11982632">
                  <a:moveTo>
                    <a:pt x="0" y="0"/>
                  </a:moveTo>
                  <a:lnTo>
                    <a:pt x="11982632" y="0"/>
                  </a:lnTo>
                  <a:lnTo>
                    <a:pt x="11982632" y="3393643"/>
                  </a:lnTo>
                  <a:lnTo>
                    <a:pt x="0" y="3393643"/>
                  </a:lnTo>
                  <a:close/>
                </a:path>
              </a:pathLst>
            </a:custGeom>
            <a:solidFill>
              <a:srgbClr val="000000">
                <a:alpha val="0"/>
              </a:srgbClr>
            </a:solidFill>
          </p:spPr>
        </p:sp>
        <p:sp>
          <p:nvSpPr>
            <p:cNvPr name="TextBox 12" id="12"/>
            <p:cNvSpPr txBox="true"/>
            <p:nvPr/>
          </p:nvSpPr>
          <p:spPr>
            <a:xfrm>
              <a:off x="0" y="28575"/>
              <a:ext cx="11982632" cy="3365068"/>
            </a:xfrm>
            <a:prstGeom prst="rect">
              <a:avLst/>
            </a:prstGeom>
          </p:spPr>
          <p:txBody>
            <a:bodyPr anchor="t" rtlCol="false" tIns="0" lIns="0" bIns="0" rIns="0"/>
            <a:lstStyle/>
            <a:p>
              <a:pPr algn="ctr">
                <a:lnSpc>
                  <a:spcPts val="7013"/>
                </a:lnSpc>
              </a:pPr>
              <a:r>
                <a:rPr lang="en-US" b="true" sz="6679" spc="332">
                  <a:solidFill>
                    <a:srgbClr val="2B4A9D"/>
                  </a:solidFill>
                  <a:latin typeface="Poppins Bold"/>
                  <a:ea typeface="Poppins Bold"/>
                  <a:cs typeface="Poppins Bold"/>
                  <a:sym typeface="Poppins Bold"/>
                </a:rPr>
                <a:t>CARACTERISTICAS DE UN AVL</a:t>
              </a:r>
            </a:p>
          </p:txBody>
        </p:sp>
      </p:grpSp>
      <p:grpSp>
        <p:nvGrpSpPr>
          <p:cNvPr name="Group 13" id="13"/>
          <p:cNvGrpSpPr/>
          <p:nvPr/>
        </p:nvGrpSpPr>
        <p:grpSpPr>
          <a:xfrm rot="0">
            <a:off x="0" y="3049939"/>
            <a:ext cx="8027831" cy="6996423"/>
            <a:chOff x="0" y="0"/>
            <a:chExt cx="10703775" cy="9328564"/>
          </a:xfrm>
        </p:grpSpPr>
        <p:sp>
          <p:nvSpPr>
            <p:cNvPr name="Freeform 14" id="14"/>
            <p:cNvSpPr/>
            <p:nvPr/>
          </p:nvSpPr>
          <p:spPr>
            <a:xfrm flipH="false" flipV="false" rot="0">
              <a:off x="0" y="0"/>
              <a:ext cx="10703775" cy="9328564"/>
            </a:xfrm>
            <a:custGeom>
              <a:avLst/>
              <a:gdLst/>
              <a:ahLst/>
              <a:cxnLst/>
              <a:rect r="r" b="b" t="t" l="l"/>
              <a:pathLst>
                <a:path h="9328564" w="10703775">
                  <a:moveTo>
                    <a:pt x="0" y="0"/>
                  </a:moveTo>
                  <a:lnTo>
                    <a:pt x="10703775" y="0"/>
                  </a:lnTo>
                  <a:lnTo>
                    <a:pt x="10703775" y="9328564"/>
                  </a:lnTo>
                  <a:lnTo>
                    <a:pt x="0" y="9328564"/>
                  </a:lnTo>
                  <a:close/>
                </a:path>
              </a:pathLst>
            </a:custGeom>
            <a:solidFill>
              <a:srgbClr val="000000">
                <a:alpha val="0"/>
              </a:srgbClr>
            </a:solidFill>
          </p:spPr>
        </p:sp>
        <p:sp>
          <p:nvSpPr>
            <p:cNvPr name="TextBox 15" id="15"/>
            <p:cNvSpPr txBox="true"/>
            <p:nvPr/>
          </p:nvSpPr>
          <p:spPr>
            <a:xfrm>
              <a:off x="0" y="-66675"/>
              <a:ext cx="10703775" cy="9395239"/>
            </a:xfrm>
            <a:prstGeom prst="rect">
              <a:avLst/>
            </a:prstGeom>
          </p:spPr>
          <p:txBody>
            <a:bodyPr anchor="t" rtlCol="false" tIns="0" lIns="0" bIns="0" rIns="0"/>
            <a:lstStyle/>
            <a:p>
              <a:pPr algn="l" marL="702505" indent="-234168" lvl="2">
                <a:lnSpc>
                  <a:spcPts val="4302"/>
                </a:lnSpc>
                <a:buFont typeface="Arial"/>
                <a:buChar char="⚬"/>
              </a:pPr>
              <a:r>
                <a:rPr lang="en-US" sz="3072">
                  <a:solidFill>
                    <a:srgbClr val="FFFFFF"/>
                  </a:solidFill>
                  <a:latin typeface="Canva Sans"/>
                  <a:ea typeface="Canva Sans"/>
                  <a:cs typeface="Canva Sans"/>
                  <a:sym typeface="Canva Sans"/>
                </a:rPr>
                <a:t>La diferencia entre las alturas de los subárboles. derecho e izquierdo no debe excederse en más de 1. </a:t>
              </a:r>
            </a:p>
            <a:p>
              <a:pPr algn="l" marL="702505" indent="-234168" lvl="2">
                <a:lnSpc>
                  <a:spcPts val="4302"/>
                </a:lnSpc>
                <a:buFont typeface="Arial"/>
                <a:buChar char="⚬"/>
              </a:pPr>
              <a:r>
                <a:rPr lang="en-US" sz="3072">
                  <a:solidFill>
                    <a:srgbClr val="FFFFFF"/>
                  </a:solidFill>
                  <a:latin typeface="Canva Sans"/>
                  <a:ea typeface="Canva Sans"/>
                  <a:cs typeface="Canva Sans"/>
                  <a:sym typeface="Canva Sans"/>
                </a:rPr>
                <a:t>Cada nodo tiene asignado un peso de acuerdo a las alturas de sus subárboles. </a:t>
              </a:r>
            </a:p>
            <a:p>
              <a:pPr algn="l" marL="702505" indent="-234168" lvl="2">
                <a:lnSpc>
                  <a:spcPts val="4302"/>
                </a:lnSpc>
                <a:buFont typeface="Arial"/>
                <a:buChar char="⚬"/>
              </a:pPr>
              <a:r>
                <a:rPr lang="en-US" sz="3072">
                  <a:solidFill>
                    <a:srgbClr val="FFFFFF"/>
                  </a:solidFill>
                  <a:latin typeface="Canva Sans"/>
                  <a:ea typeface="Canva Sans"/>
                  <a:cs typeface="Canva Sans"/>
                  <a:sym typeface="Canva Sans"/>
                </a:rPr>
                <a:t>Un nodo tiene un peso de 1 si su subárbol derecho es más alto, -1 si su subárbol izquierdo es más alto y 0 si las alturas son las mismas. </a:t>
              </a:r>
            </a:p>
            <a:p>
              <a:pPr algn="l" marL="702505" indent="-234168" lvl="2">
                <a:lnSpc>
                  <a:spcPts val="4302"/>
                </a:lnSpc>
                <a:buFont typeface="Arial"/>
                <a:buChar char="⚬"/>
              </a:pPr>
              <a:r>
                <a:rPr lang="en-US" sz="3072">
                  <a:solidFill>
                    <a:srgbClr val="FFFFFF"/>
                  </a:solidFill>
                  <a:latin typeface="Canva Sans"/>
                  <a:ea typeface="Canva Sans"/>
                  <a:cs typeface="Canva Sans"/>
                  <a:sym typeface="Canva Sans"/>
                </a:rPr>
                <a:t>La inserción y eliminación en un árbol AVL es la misma que en un ABB. </a:t>
              </a:r>
            </a:p>
            <a:p>
              <a:pPr algn="l" marL="702505" indent="-234168" lvl="2">
                <a:lnSpc>
                  <a:spcPts val="4302"/>
                </a:lnSpc>
              </a:pPr>
            </a:p>
          </p:txBody>
        </p:sp>
      </p:grpSp>
      <p:grpSp>
        <p:nvGrpSpPr>
          <p:cNvPr name="Group 16" id="16"/>
          <p:cNvGrpSpPr/>
          <p:nvPr/>
        </p:nvGrpSpPr>
        <p:grpSpPr>
          <a:xfrm rot="0">
            <a:off x="8917291" y="8598823"/>
            <a:ext cx="9189829" cy="659477"/>
            <a:chOff x="0" y="0"/>
            <a:chExt cx="12253105" cy="879303"/>
          </a:xfrm>
        </p:grpSpPr>
        <p:sp>
          <p:nvSpPr>
            <p:cNvPr name="Freeform 17" id="17"/>
            <p:cNvSpPr/>
            <p:nvPr/>
          </p:nvSpPr>
          <p:spPr>
            <a:xfrm flipH="false" flipV="false" rot="0">
              <a:off x="0" y="0"/>
              <a:ext cx="12253106" cy="879303"/>
            </a:xfrm>
            <a:custGeom>
              <a:avLst/>
              <a:gdLst/>
              <a:ahLst/>
              <a:cxnLst/>
              <a:rect r="r" b="b" t="t" l="l"/>
              <a:pathLst>
                <a:path h="879303" w="12253106">
                  <a:moveTo>
                    <a:pt x="0" y="0"/>
                  </a:moveTo>
                  <a:lnTo>
                    <a:pt x="12253106" y="0"/>
                  </a:lnTo>
                  <a:lnTo>
                    <a:pt x="12253106" y="879303"/>
                  </a:lnTo>
                  <a:lnTo>
                    <a:pt x="0" y="879303"/>
                  </a:lnTo>
                  <a:close/>
                </a:path>
              </a:pathLst>
            </a:custGeom>
            <a:solidFill>
              <a:srgbClr val="000000">
                <a:alpha val="0"/>
              </a:srgbClr>
            </a:solidFill>
          </p:spPr>
        </p:sp>
        <p:sp>
          <p:nvSpPr>
            <p:cNvPr name="TextBox 18" id="18"/>
            <p:cNvSpPr txBox="true"/>
            <p:nvPr/>
          </p:nvSpPr>
          <p:spPr>
            <a:xfrm>
              <a:off x="0" y="9525"/>
              <a:ext cx="12253105" cy="869778"/>
            </a:xfrm>
            <a:prstGeom prst="rect">
              <a:avLst/>
            </a:prstGeom>
          </p:spPr>
          <p:txBody>
            <a:bodyPr anchor="t" rtlCol="false" tIns="0" lIns="0" bIns="0" rIns="0"/>
            <a:lstStyle/>
            <a:p>
              <a:pPr algn="ctr">
                <a:lnSpc>
                  <a:spcPts val="2368"/>
                </a:lnSpc>
              </a:pPr>
              <a:r>
                <a:rPr lang="en-US" b="true" sz="2255" spc="111">
                  <a:solidFill>
                    <a:srgbClr val="000000"/>
                  </a:solidFill>
                  <a:latin typeface="Poppins Bold"/>
                  <a:ea typeface="Poppins Bold"/>
                  <a:cs typeface="Poppins Bold"/>
                  <a:sym typeface="Poppins Bold"/>
                </a:rPr>
                <a:t>EQUILIBRIO = (ALTURA DERECHA )– (ALTURA IZQUIERDA)</a:t>
              </a:r>
            </a:p>
          </p:txBody>
        </p:sp>
      </p:grpSp>
      <p:grpSp>
        <p:nvGrpSpPr>
          <p:cNvPr name="Group 19" id="19"/>
          <p:cNvGrpSpPr/>
          <p:nvPr/>
        </p:nvGrpSpPr>
        <p:grpSpPr>
          <a:xfrm rot="0">
            <a:off x="10511790" y="4229100"/>
            <a:ext cx="206693" cy="60960"/>
            <a:chOff x="0" y="0"/>
            <a:chExt cx="275590" cy="81280"/>
          </a:xfrm>
        </p:grpSpPr>
        <p:sp>
          <p:nvSpPr>
            <p:cNvPr name="Freeform 20" id="20"/>
            <p:cNvSpPr/>
            <p:nvPr/>
          </p:nvSpPr>
          <p:spPr>
            <a:xfrm flipH="false" flipV="false" rot="0">
              <a:off x="0" y="0"/>
              <a:ext cx="275590" cy="81280"/>
            </a:xfrm>
            <a:custGeom>
              <a:avLst/>
              <a:gdLst/>
              <a:ahLst/>
              <a:cxnLst/>
              <a:rect r="r" b="b" t="t" l="l"/>
              <a:pathLst>
                <a:path h="81280" w="275590">
                  <a:moveTo>
                    <a:pt x="25400" y="0"/>
                  </a:moveTo>
                  <a:cubicBezTo>
                    <a:pt x="271780" y="24130"/>
                    <a:pt x="275590" y="36830"/>
                    <a:pt x="273050" y="44450"/>
                  </a:cubicBezTo>
                  <a:cubicBezTo>
                    <a:pt x="271780" y="52070"/>
                    <a:pt x="257810" y="64770"/>
                    <a:pt x="250190" y="64770"/>
                  </a:cubicBezTo>
                  <a:cubicBezTo>
                    <a:pt x="241300" y="63500"/>
                    <a:pt x="223520" y="46990"/>
                    <a:pt x="223520" y="38100"/>
                  </a:cubicBezTo>
                  <a:cubicBezTo>
                    <a:pt x="223520" y="30480"/>
                    <a:pt x="241300" y="13970"/>
                    <a:pt x="250190" y="13970"/>
                  </a:cubicBezTo>
                  <a:cubicBezTo>
                    <a:pt x="257810" y="13970"/>
                    <a:pt x="273050" y="25400"/>
                    <a:pt x="274320" y="33020"/>
                  </a:cubicBezTo>
                  <a:cubicBezTo>
                    <a:pt x="274320" y="41910"/>
                    <a:pt x="266700" y="57150"/>
                    <a:pt x="252730" y="63500"/>
                  </a:cubicBezTo>
                  <a:cubicBezTo>
                    <a:pt x="218440" y="81280"/>
                    <a:pt x="53340" y="68580"/>
                    <a:pt x="19050" y="49530"/>
                  </a:cubicBezTo>
                  <a:cubicBezTo>
                    <a:pt x="6350" y="43180"/>
                    <a:pt x="0" y="30480"/>
                    <a:pt x="0" y="22860"/>
                  </a:cubicBezTo>
                  <a:cubicBezTo>
                    <a:pt x="1270" y="13970"/>
                    <a:pt x="25400" y="0"/>
                    <a:pt x="25400" y="0"/>
                  </a:cubicBezTo>
                </a:path>
              </a:pathLst>
            </a:custGeom>
            <a:solidFill>
              <a:srgbClr val="0571D3"/>
            </a:solidFill>
          </p:spPr>
        </p:sp>
      </p:grpSp>
      <p:sp>
        <p:nvSpPr>
          <p:cNvPr name="Freeform 21" id="21"/>
          <p:cNvSpPr/>
          <p:nvPr/>
        </p:nvSpPr>
        <p:spPr>
          <a:xfrm flipH="false" flipV="false" rot="0">
            <a:off x="10785157" y="4033837"/>
            <a:ext cx="285750" cy="260032"/>
          </a:xfrm>
          <a:custGeom>
            <a:avLst/>
            <a:gdLst/>
            <a:ahLst/>
            <a:cxnLst/>
            <a:rect r="r" b="b" t="t" l="l"/>
            <a:pathLst>
              <a:path h="260032" w="285750">
                <a:moveTo>
                  <a:pt x="0" y="0"/>
                </a:moveTo>
                <a:lnTo>
                  <a:pt x="285750" y="0"/>
                </a:lnTo>
                <a:lnTo>
                  <a:pt x="285750" y="260033"/>
                </a:lnTo>
                <a:lnTo>
                  <a:pt x="0" y="2600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false" flipV="false" rot="0">
            <a:off x="11980545" y="3951923"/>
            <a:ext cx="284798" cy="383858"/>
          </a:xfrm>
          <a:custGeom>
            <a:avLst/>
            <a:gdLst/>
            <a:ahLst/>
            <a:cxnLst/>
            <a:rect r="r" b="b" t="t" l="l"/>
            <a:pathLst>
              <a:path h="383858" w="284798">
                <a:moveTo>
                  <a:pt x="0" y="0"/>
                </a:moveTo>
                <a:lnTo>
                  <a:pt x="284797" y="0"/>
                </a:lnTo>
                <a:lnTo>
                  <a:pt x="284797" y="383858"/>
                </a:lnTo>
                <a:lnTo>
                  <a:pt x="0" y="3838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3" id="23"/>
          <p:cNvGrpSpPr/>
          <p:nvPr/>
        </p:nvGrpSpPr>
        <p:grpSpPr>
          <a:xfrm rot="0">
            <a:off x="9093518" y="5112068"/>
            <a:ext cx="234315" cy="59055"/>
            <a:chOff x="0" y="0"/>
            <a:chExt cx="312419" cy="78740"/>
          </a:xfrm>
        </p:grpSpPr>
        <p:sp>
          <p:nvSpPr>
            <p:cNvPr name="Freeform 24" id="24"/>
            <p:cNvSpPr/>
            <p:nvPr/>
          </p:nvSpPr>
          <p:spPr>
            <a:xfrm flipH="false" flipV="false" rot="0">
              <a:off x="0" y="0"/>
              <a:ext cx="312420" cy="78740"/>
            </a:xfrm>
            <a:custGeom>
              <a:avLst/>
              <a:gdLst/>
              <a:ahLst/>
              <a:cxnLst/>
              <a:rect r="r" b="b" t="t" l="l"/>
              <a:pathLst>
                <a:path h="78740" w="312420">
                  <a:moveTo>
                    <a:pt x="24130" y="0"/>
                  </a:moveTo>
                  <a:cubicBezTo>
                    <a:pt x="307340" y="16510"/>
                    <a:pt x="312420" y="27940"/>
                    <a:pt x="311150" y="35560"/>
                  </a:cubicBezTo>
                  <a:cubicBezTo>
                    <a:pt x="311150" y="43180"/>
                    <a:pt x="298450" y="57150"/>
                    <a:pt x="290830" y="58420"/>
                  </a:cubicBezTo>
                  <a:cubicBezTo>
                    <a:pt x="281940" y="58420"/>
                    <a:pt x="261620" y="44450"/>
                    <a:pt x="261620" y="35560"/>
                  </a:cubicBezTo>
                  <a:cubicBezTo>
                    <a:pt x="260350" y="27940"/>
                    <a:pt x="275590" y="8890"/>
                    <a:pt x="284480" y="7620"/>
                  </a:cubicBezTo>
                  <a:cubicBezTo>
                    <a:pt x="293370" y="6350"/>
                    <a:pt x="308610" y="16510"/>
                    <a:pt x="309880" y="25400"/>
                  </a:cubicBezTo>
                  <a:cubicBezTo>
                    <a:pt x="312420" y="33020"/>
                    <a:pt x="306070" y="49530"/>
                    <a:pt x="293370" y="57150"/>
                  </a:cubicBezTo>
                  <a:cubicBezTo>
                    <a:pt x="257810" y="78740"/>
                    <a:pt x="59690" y="69850"/>
                    <a:pt x="21590" y="50800"/>
                  </a:cubicBezTo>
                  <a:cubicBezTo>
                    <a:pt x="7620" y="44450"/>
                    <a:pt x="0" y="33020"/>
                    <a:pt x="0" y="24130"/>
                  </a:cubicBezTo>
                  <a:cubicBezTo>
                    <a:pt x="1270" y="15240"/>
                    <a:pt x="24130" y="0"/>
                    <a:pt x="24130" y="0"/>
                  </a:cubicBezTo>
                </a:path>
              </a:pathLst>
            </a:custGeom>
            <a:solidFill>
              <a:srgbClr val="0571D3"/>
            </a:solidFill>
          </p:spPr>
        </p:sp>
      </p:grpSp>
      <p:grpSp>
        <p:nvGrpSpPr>
          <p:cNvPr name="Group 25" id="25"/>
          <p:cNvGrpSpPr/>
          <p:nvPr/>
        </p:nvGrpSpPr>
        <p:grpSpPr>
          <a:xfrm rot="0">
            <a:off x="9381172" y="5006340"/>
            <a:ext cx="74295" cy="284797"/>
            <a:chOff x="0" y="0"/>
            <a:chExt cx="99060" cy="379730"/>
          </a:xfrm>
        </p:grpSpPr>
        <p:sp>
          <p:nvSpPr>
            <p:cNvPr name="Freeform 26" id="26"/>
            <p:cNvSpPr/>
            <p:nvPr/>
          </p:nvSpPr>
          <p:spPr>
            <a:xfrm flipH="false" flipV="false" rot="0">
              <a:off x="0" y="0"/>
              <a:ext cx="99060" cy="379730"/>
            </a:xfrm>
            <a:custGeom>
              <a:avLst/>
              <a:gdLst/>
              <a:ahLst/>
              <a:cxnLst/>
              <a:rect r="r" b="b" t="t" l="l"/>
              <a:pathLst>
                <a:path h="379730" w="99060">
                  <a:moveTo>
                    <a:pt x="69850" y="25400"/>
                  </a:moveTo>
                  <a:cubicBezTo>
                    <a:pt x="93980" y="365760"/>
                    <a:pt x="83820" y="375920"/>
                    <a:pt x="74930" y="378460"/>
                  </a:cubicBezTo>
                  <a:cubicBezTo>
                    <a:pt x="68580" y="379730"/>
                    <a:pt x="57150" y="373380"/>
                    <a:pt x="53340" y="368300"/>
                  </a:cubicBezTo>
                  <a:cubicBezTo>
                    <a:pt x="49530" y="360680"/>
                    <a:pt x="48260" y="344170"/>
                    <a:pt x="53340" y="337820"/>
                  </a:cubicBezTo>
                  <a:cubicBezTo>
                    <a:pt x="58420" y="330200"/>
                    <a:pt x="76200" y="326390"/>
                    <a:pt x="83820" y="328930"/>
                  </a:cubicBezTo>
                  <a:cubicBezTo>
                    <a:pt x="90170" y="331470"/>
                    <a:pt x="97790" y="340360"/>
                    <a:pt x="99060" y="346710"/>
                  </a:cubicBezTo>
                  <a:cubicBezTo>
                    <a:pt x="99060" y="355600"/>
                    <a:pt x="86360" y="375920"/>
                    <a:pt x="77470" y="377190"/>
                  </a:cubicBezTo>
                  <a:cubicBezTo>
                    <a:pt x="69850" y="378460"/>
                    <a:pt x="57150" y="369570"/>
                    <a:pt x="48260" y="355600"/>
                  </a:cubicBezTo>
                  <a:cubicBezTo>
                    <a:pt x="24130" y="311150"/>
                    <a:pt x="0" y="71120"/>
                    <a:pt x="19050" y="25400"/>
                  </a:cubicBezTo>
                  <a:cubicBezTo>
                    <a:pt x="25400" y="8890"/>
                    <a:pt x="38100" y="0"/>
                    <a:pt x="46990" y="0"/>
                  </a:cubicBezTo>
                  <a:cubicBezTo>
                    <a:pt x="55880" y="0"/>
                    <a:pt x="69850" y="25400"/>
                    <a:pt x="69850" y="25400"/>
                  </a:cubicBezTo>
                </a:path>
              </a:pathLst>
            </a:custGeom>
            <a:solidFill>
              <a:srgbClr val="0571D3"/>
            </a:solidFill>
          </p:spPr>
        </p:sp>
      </p:grpSp>
      <p:sp>
        <p:nvSpPr>
          <p:cNvPr name="Freeform 27" id="27"/>
          <p:cNvSpPr/>
          <p:nvPr/>
        </p:nvSpPr>
        <p:spPr>
          <a:xfrm flipH="false" flipV="false" rot="0">
            <a:off x="10578466" y="4875847"/>
            <a:ext cx="279083" cy="325755"/>
          </a:xfrm>
          <a:custGeom>
            <a:avLst/>
            <a:gdLst/>
            <a:ahLst/>
            <a:cxnLst/>
            <a:rect r="r" b="b" t="t" l="l"/>
            <a:pathLst>
              <a:path h="325755" w="279083">
                <a:moveTo>
                  <a:pt x="0" y="0"/>
                </a:moveTo>
                <a:lnTo>
                  <a:pt x="279082" y="0"/>
                </a:lnTo>
                <a:lnTo>
                  <a:pt x="279082" y="325755"/>
                </a:lnTo>
                <a:lnTo>
                  <a:pt x="0" y="32575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8" id="28"/>
          <p:cNvGrpSpPr/>
          <p:nvPr/>
        </p:nvGrpSpPr>
        <p:grpSpPr>
          <a:xfrm rot="0">
            <a:off x="15649574" y="4008119"/>
            <a:ext cx="210502" cy="51435"/>
            <a:chOff x="0" y="0"/>
            <a:chExt cx="280670" cy="68580"/>
          </a:xfrm>
        </p:grpSpPr>
        <p:sp>
          <p:nvSpPr>
            <p:cNvPr name="Freeform 29" id="29"/>
            <p:cNvSpPr/>
            <p:nvPr/>
          </p:nvSpPr>
          <p:spPr>
            <a:xfrm flipH="false" flipV="false" rot="0">
              <a:off x="0" y="0"/>
              <a:ext cx="280670" cy="68580"/>
            </a:xfrm>
            <a:custGeom>
              <a:avLst/>
              <a:gdLst/>
              <a:ahLst/>
              <a:cxnLst/>
              <a:rect r="r" b="b" t="t" l="l"/>
              <a:pathLst>
                <a:path h="68580" w="280670">
                  <a:moveTo>
                    <a:pt x="25400" y="1270"/>
                  </a:moveTo>
                  <a:cubicBezTo>
                    <a:pt x="274320" y="11430"/>
                    <a:pt x="280670" y="27940"/>
                    <a:pt x="278130" y="36830"/>
                  </a:cubicBezTo>
                  <a:cubicBezTo>
                    <a:pt x="275590" y="44450"/>
                    <a:pt x="259080" y="53340"/>
                    <a:pt x="251460" y="52070"/>
                  </a:cubicBezTo>
                  <a:cubicBezTo>
                    <a:pt x="243840" y="50800"/>
                    <a:pt x="231140" y="39370"/>
                    <a:pt x="228600" y="30480"/>
                  </a:cubicBezTo>
                  <a:cubicBezTo>
                    <a:pt x="227330" y="24130"/>
                    <a:pt x="231140" y="13970"/>
                    <a:pt x="236220" y="8890"/>
                  </a:cubicBezTo>
                  <a:cubicBezTo>
                    <a:pt x="241300" y="3810"/>
                    <a:pt x="252730" y="0"/>
                    <a:pt x="260350" y="2540"/>
                  </a:cubicBezTo>
                  <a:cubicBezTo>
                    <a:pt x="267970" y="5080"/>
                    <a:pt x="279400" y="17780"/>
                    <a:pt x="279400" y="25400"/>
                  </a:cubicBezTo>
                  <a:cubicBezTo>
                    <a:pt x="279400" y="34290"/>
                    <a:pt x="269240" y="45720"/>
                    <a:pt x="254000" y="52070"/>
                  </a:cubicBezTo>
                  <a:cubicBezTo>
                    <a:pt x="217170" y="68580"/>
                    <a:pt x="62230" y="68580"/>
                    <a:pt x="25400" y="52070"/>
                  </a:cubicBezTo>
                  <a:cubicBezTo>
                    <a:pt x="11430" y="45720"/>
                    <a:pt x="0" y="33020"/>
                    <a:pt x="1270" y="24130"/>
                  </a:cubicBezTo>
                  <a:cubicBezTo>
                    <a:pt x="1270" y="15240"/>
                    <a:pt x="25400" y="1270"/>
                    <a:pt x="25400" y="1270"/>
                  </a:cubicBezTo>
                </a:path>
              </a:pathLst>
            </a:custGeom>
            <a:solidFill>
              <a:srgbClr val="0571D3"/>
            </a:solidFill>
          </p:spPr>
        </p:sp>
      </p:grpSp>
      <p:sp>
        <p:nvSpPr>
          <p:cNvPr name="Freeform 30" id="30"/>
          <p:cNvSpPr/>
          <p:nvPr/>
        </p:nvSpPr>
        <p:spPr>
          <a:xfrm flipH="false" flipV="false" rot="0">
            <a:off x="16039148" y="3790950"/>
            <a:ext cx="200025" cy="360997"/>
          </a:xfrm>
          <a:custGeom>
            <a:avLst/>
            <a:gdLst/>
            <a:ahLst/>
            <a:cxnLst/>
            <a:rect r="r" b="b" t="t" l="l"/>
            <a:pathLst>
              <a:path h="360997" w="200025">
                <a:moveTo>
                  <a:pt x="0" y="0"/>
                </a:moveTo>
                <a:lnTo>
                  <a:pt x="200025" y="0"/>
                </a:lnTo>
                <a:lnTo>
                  <a:pt x="200025" y="360997"/>
                </a:lnTo>
                <a:lnTo>
                  <a:pt x="0" y="3609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31" id="31"/>
          <p:cNvGrpSpPr/>
          <p:nvPr/>
        </p:nvGrpSpPr>
        <p:grpSpPr>
          <a:xfrm rot="0">
            <a:off x="17084993" y="3761422"/>
            <a:ext cx="68580" cy="262890"/>
            <a:chOff x="0" y="0"/>
            <a:chExt cx="91440" cy="350520"/>
          </a:xfrm>
        </p:grpSpPr>
        <p:sp>
          <p:nvSpPr>
            <p:cNvPr name="Freeform 32" id="32"/>
            <p:cNvSpPr/>
            <p:nvPr/>
          </p:nvSpPr>
          <p:spPr>
            <a:xfrm flipH="false" flipV="false" rot="0">
              <a:off x="0" y="0"/>
              <a:ext cx="91440" cy="350520"/>
            </a:xfrm>
            <a:custGeom>
              <a:avLst/>
              <a:gdLst/>
              <a:ahLst/>
              <a:cxnLst/>
              <a:rect r="r" b="b" t="t" l="l"/>
              <a:pathLst>
                <a:path h="350520" w="91440">
                  <a:moveTo>
                    <a:pt x="66040" y="21590"/>
                  </a:moveTo>
                  <a:cubicBezTo>
                    <a:pt x="86360" y="337820"/>
                    <a:pt x="80010" y="346710"/>
                    <a:pt x="72390" y="349250"/>
                  </a:cubicBezTo>
                  <a:cubicBezTo>
                    <a:pt x="63500" y="350520"/>
                    <a:pt x="41910" y="339090"/>
                    <a:pt x="40640" y="330200"/>
                  </a:cubicBezTo>
                  <a:cubicBezTo>
                    <a:pt x="38100" y="322580"/>
                    <a:pt x="52070" y="300990"/>
                    <a:pt x="60960" y="299720"/>
                  </a:cubicBezTo>
                  <a:cubicBezTo>
                    <a:pt x="68580" y="298450"/>
                    <a:pt x="88900" y="312420"/>
                    <a:pt x="90170" y="321310"/>
                  </a:cubicBezTo>
                  <a:cubicBezTo>
                    <a:pt x="91440" y="330200"/>
                    <a:pt x="74930" y="347980"/>
                    <a:pt x="67310" y="349250"/>
                  </a:cubicBezTo>
                  <a:cubicBezTo>
                    <a:pt x="58420" y="350520"/>
                    <a:pt x="48260" y="345440"/>
                    <a:pt x="40640" y="332740"/>
                  </a:cubicBezTo>
                  <a:cubicBezTo>
                    <a:pt x="17780" y="294640"/>
                    <a:pt x="0" y="66040"/>
                    <a:pt x="16510" y="22860"/>
                  </a:cubicBezTo>
                  <a:cubicBezTo>
                    <a:pt x="21590" y="8890"/>
                    <a:pt x="31750" y="0"/>
                    <a:pt x="40640" y="0"/>
                  </a:cubicBezTo>
                  <a:cubicBezTo>
                    <a:pt x="49530" y="0"/>
                    <a:pt x="66040" y="21590"/>
                    <a:pt x="66040" y="21590"/>
                  </a:cubicBezTo>
                </a:path>
              </a:pathLst>
            </a:custGeom>
            <a:solidFill>
              <a:srgbClr val="0571D3"/>
            </a:solidFill>
          </p:spPr>
        </p:sp>
      </p:gr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305021" y="-2492352"/>
            <a:ext cx="5770168" cy="5770168"/>
            <a:chOff x="0" y="0"/>
            <a:chExt cx="7693557" cy="7693557"/>
          </a:xfrm>
        </p:grpSpPr>
        <p:sp>
          <p:nvSpPr>
            <p:cNvPr name="Freeform 3" id="3"/>
            <p:cNvSpPr/>
            <p:nvPr/>
          </p:nvSpPr>
          <p:spPr>
            <a:xfrm flipH="false" flipV="false" rot="0">
              <a:off x="0" y="0"/>
              <a:ext cx="7693660" cy="7693660"/>
            </a:xfrm>
            <a:custGeom>
              <a:avLst/>
              <a:gdLst/>
              <a:ahLst/>
              <a:cxnLst/>
              <a:rect r="r" b="b" t="t" l="l"/>
              <a:pathLst>
                <a:path h="7693660" w="7693660">
                  <a:moveTo>
                    <a:pt x="3846830" y="0"/>
                  </a:moveTo>
                  <a:cubicBezTo>
                    <a:pt x="1722247" y="0"/>
                    <a:pt x="0" y="1722247"/>
                    <a:pt x="0" y="3846830"/>
                  </a:cubicBezTo>
                  <a:cubicBezTo>
                    <a:pt x="0" y="5971413"/>
                    <a:pt x="1722247" y="7693660"/>
                    <a:pt x="3846830" y="7693660"/>
                  </a:cubicBezTo>
                  <a:cubicBezTo>
                    <a:pt x="5971413" y="7693660"/>
                    <a:pt x="7693660" y="5971413"/>
                    <a:pt x="7693660" y="3846830"/>
                  </a:cubicBezTo>
                  <a:cubicBezTo>
                    <a:pt x="7693660" y="1722247"/>
                    <a:pt x="5971286" y="0"/>
                    <a:pt x="3846830" y="0"/>
                  </a:cubicBezTo>
                  <a:close/>
                </a:path>
              </a:pathLst>
            </a:custGeom>
            <a:solidFill>
              <a:srgbClr val="2B4A9D"/>
            </a:solidFill>
          </p:spPr>
        </p:sp>
      </p:grpSp>
      <p:grpSp>
        <p:nvGrpSpPr>
          <p:cNvPr name="Group 4" id="4"/>
          <p:cNvGrpSpPr/>
          <p:nvPr/>
        </p:nvGrpSpPr>
        <p:grpSpPr>
          <a:xfrm rot="0">
            <a:off x="0" y="3511394"/>
            <a:ext cx="9688639" cy="6775606"/>
            <a:chOff x="0" y="0"/>
            <a:chExt cx="12918186" cy="9034141"/>
          </a:xfrm>
        </p:grpSpPr>
        <p:sp>
          <p:nvSpPr>
            <p:cNvPr name="Freeform 5" id="5"/>
            <p:cNvSpPr/>
            <p:nvPr/>
          </p:nvSpPr>
          <p:spPr>
            <a:xfrm flipH="false" flipV="false" rot="0">
              <a:off x="0" y="0"/>
              <a:ext cx="12918186" cy="9034145"/>
            </a:xfrm>
            <a:custGeom>
              <a:avLst/>
              <a:gdLst/>
              <a:ahLst/>
              <a:cxnLst/>
              <a:rect r="r" b="b" t="t" l="l"/>
              <a:pathLst>
                <a:path h="9034145" w="12918186">
                  <a:moveTo>
                    <a:pt x="0" y="0"/>
                  </a:moveTo>
                  <a:lnTo>
                    <a:pt x="12918186" y="0"/>
                  </a:lnTo>
                  <a:lnTo>
                    <a:pt x="12918186" y="9034145"/>
                  </a:lnTo>
                  <a:lnTo>
                    <a:pt x="0" y="9034145"/>
                  </a:lnTo>
                  <a:close/>
                </a:path>
              </a:pathLst>
            </a:custGeom>
            <a:solidFill>
              <a:srgbClr val="2B4A9D"/>
            </a:solidFill>
          </p:spPr>
        </p:sp>
      </p:grpSp>
      <p:grpSp>
        <p:nvGrpSpPr>
          <p:cNvPr name="Group 6" id="6"/>
          <p:cNvGrpSpPr/>
          <p:nvPr/>
        </p:nvGrpSpPr>
        <p:grpSpPr>
          <a:xfrm rot="0">
            <a:off x="3336986" y="-9994"/>
            <a:ext cx="14951017" cy="417760"/>
            <a:chOff x="0" y="0"/>
            <a:chExt cx="19934689" cy="557013"/>
          </a:xfrm>
        </p:grpSpPr>
        <p:sp>
          <p:nvSpPr>
            <p:cNvPr name="Freeform 7" id="7"/>
            <p:cNvSpPr/>
            <p:nvPr/>
          </p:nvSpPr>
          <p:spPr>
            <a:xfrm flipH="false" flipV="false" rot="0">
              <a:off x="0" y="0"/>
              <a:ext cx="19934682" cy="557022"/>
            </a:xfrm>
            <a:custGeom>
              <a:avLst/>
              <a:gdLst/>
              <a:ahLst/>
              <a:cxnLst/>
              <a:rect r="r" b="b" t="t" l="l"/>
              <a:pathLst>
                <a:path h="557022" w="19934682">
                  <a:moveTo>
                    <a:pt x="0" y="0"/>
                  </a:moveTo>
                  <a:lnTo>
                    <a:pt x="19934682" y="0"/>
                  </a:lnTo>
                  <a:lnTo>
                    <a:pt x="19934682" y="557022"/>
                  </a:lnTo>
                  <a:lnTo>
                    <a:pt x="0" y="557022"/>
                  </a:lnTo>
                  <a:close/>
                </a:path>
              </a:pathLst>
            </a:custGeom>
            <a:solidFill>
              <a:srgbClr val="2B4A9D"/>
            </a:solidFill>
          </p:spPr>
        </p:sp>
      </p:grpSp>
      <p:grpSp>
        <p:nvGrpSpPr>
          <p:cNvPr name="Group 8" id="8"/>
          <p:cNvGrpSpPr/>
          <p:nvPr/>
        </p:nvGrpSpPr>
        <p:grpSpPr>
          <a:xfrm rot="0">
            <a:off x="9324431" y="3972725"/>
            <a:ext cx="8986974" cy="1659407"/>
            <a:chOff x="0" y="0"/>
            <a:chExt cx="11982632" cy="2212543"/>
          </a:xfrm>
        </p:grpSpPr>
        <p:sp>
          <p:nvSpPr>
            <p:cNvPr name="Freeform 9" id="9"/>
            <p:cNvSpPr/>
            <p:nvPr/>
          </p:nvSpPr>
          <p:spPr>
            <a:xfrm flipH="false" flipV="false" rot="0">
              <a:off x="0" y="0"/>
              <a:ext cx="11982632" cy="2212543"/>
            </a:xfrm>
            <a:custGeom>
              <a:avLst/>
              <a:gdLst/>
              <a:ahLst/>
              <a:cxnLst/>
              <a:rect r="r" b="b" t="t" l="l"/>
              <a:pathLst>
                <a:path h="2212543" w="11982632">
                  <a:moveTo>
                    <a:pt x="0" y="0"/>
                  </a:moveTo>
                  <a:lnTo>
                    <a:pt x="11982632" y="0"/>
                  </a:lnTo>
                  <a:lnTo>
                    <a:pt x="11982632" y="2212543"/>
                  </a:lnTo>
                  <a:lnTo>
                    <a:pt x="0" y="2212543"/>
                  </a:lnTo>
                  <a:close/>
                </a:path>
              </a:pathLst>
            </a:custGeom>
            <a:solidFill>
              <a:srgbClr val="000000">
                <a:alpha val="0"/>
              </a:srgbClr>
            </a:solidFill>
          </p:spPr>
        </p:sp>
        <p:sp>
          <p:nvSpPr>
            <p:cNvPr name="TextBox 10" id="10"/>
            <p:cNvSpPr txBox="true"/>
            <p:nvPr/>
          </p:nvSpPr>
          <p:spPr>
            <a:xfrm>
              <a:off x="0" y="28575"/>
              <a:ext cx="11982632" cy="2183968"/>
            </a:xfrm>
            <a:prstGeom prst="rect">
              <a:avLst/>
            </a:prstGeom>
          </p:spPr>
          <p:txBody>
            <a:bodyPr anchor="t" rtlCol="false" tIns="0" lIns="0" bIns="0" rIns="0"/>
            <a:lstStyle/>
            <a:p>
              <a:pPr algn="ctr">
                <a:lnSpc>
                  <a:spcPts val="7013"/>
                </a:lnSpc>
              </a:pPr>
              <a:r>
                <a:rPr lang="en-US" b="true" sz="6679" spc="332">
                  <a:solidFill>
                    <a:srgbClr val="2B4A9D"/>
                  </a:solidFill>
                  <a:latin typeface="Poppins Bold"/>
                  <a:ea typeface="Poppins Bold"/>
                  <a:cs typeface="Poppins Bold"/>
                  <a:sym typeface="Poppins Bold"/>
                </a:rPr>
                <a:t>ROTACIONES</a:t>
              </a:r>
            </a:p>
          </p:txBody>
        </p:sp>
      </p:grpSp>
      <p:grpSp>
        <p:nvGrpSpPr>
          <p:cNvPr name="Group 11" id="11"/>
          <p:cNvGrpSpPr/>
          <p:nvPr/>
        </p:nvGrpSpPr>
        <p:grpSpPr>
          <a:xfrm rot="0">
            <a:off x="568060" y="4753723"/>
            <a:ext cx="8413567" cy="4504577"/>
            <a:chOff x="0" y="0"/>
            <a:chExt cx="11218089" cy="6006103"/>
          </a:xfrm>
        </p:grpSpPr>
        <p:sp>
          <p:nvSpPr>
            <p:cNvPr name="Freeform 12" id="12"/>
            <p:cNvSpPr/>
            <p:nvPr/>
          </p:nvSpPr>
          <p:spPr>
            <a:xfrm flipH="false" flipV="false" rot="0">
              <a:off x="0" y="0"/>
              <a:ext cx="11218090" cy="6006103"/>
            </a:xfrm>
            <a:custGeom>
              <a:avLst/>
              <a:gdLst/>
              <a:ahLst/>
              <a:cxnLst/>
              <a:rect r="r" b="b" t="t" l="l"/>
              <a:pathLst>
                <a:path h="6006103" w="11218090">
                  <a:moveTo>
                    <a:pt x="0" y="0"/>
                  </a:moveTo>
                  <a:lnTo>
                    <a:pt x="11218090" y="0"/>
                  </a:lnTo>
                  <a:lnTo>
                    <a:pt x="11218090" y="6006103"/>
                  </a:lnTo>
                  <a:lnTo>
                    <a:pt x="0" y="6006103"/>
                  </a:lnTo>
                  <a:close/>
                </a:path>
              </a:pathLst>
            </a:custGeom>
            <a:solidFill>
              <a:srgbClr val="000000">
                <a:alpha val="0"/>
              </a:srgbClr>
            </a:solidFill>
          </p:spPr>
        </p:sp>
        <p:sp>
          <p:nvSpPr>
            <p:cNvPr name="TextBox 13" id="13"/>
            <p:cNvSpPr txBox="true"/>
            <p:nvPr/>
          </p:nvSpPr>
          <p:spPr>
            <a:xfrm>
              <a:off x="0" y="-66675"/>
              <a:ext cx="11218089" cy="6072778"/>
            </a:xfrm>
            <a:prstGeom prst="rect">
              <a:avLst/>
            </a:prstGeom>
          </p:spPr>
          <p:txBody>
            <a:bodyPr anchor="t" rtlCol="false" tIns="0" lIns="0" bIns="0" rIns="0"/>
            <a:lstStyle/>
            <a:p>
              <a:pPr algn="l" marL="736182" indent="-245394" lvl="2">
                <a:lnSpc>
                  <a:spcPts val="4509"/>
                </a:lnSpc>
                <a:buFont typeface="Arial"/>
                <a:buChar char="⚬"/>
              </a:pPr>
              <a:r>
                <a:rPr lang="en-US" sz="3220">
                  <a:solidFill>
                    <a:srgbClr val="FFFFFF"/>
                  </a:solidFill>
                  <a:latin typeface="Canva Sans"/>
                  <a:ea typeface="Canva Sans"/>
                  <a:cs typeface="Canva Sans"/>
                  <a:sym typeface="Canva Sans"/>
                </a:rPr>
                <a:t>Caso 1 Rotación izquierda RI</a:t>
              </a:r>
            </a:p>
            <a:p>
              <a:pPr algn="l" marL="736182" indent="-245394" lvl="2">
                <a:lnSpc>
                  <a:spcPts val="4509"/>
                </a:lnSpc>
              </a:pPr>
            </a:p>
            <a:p>
              <a:pPr algn="l" marL="736182" indent="-245394" lvl="2">
                <a:lnSpc>
                  <a:spcPts val="4509"/>
                </a:lnSpc>
                <a:buFont typeface="Arial"/>
                <a:buChar char="⚬"/>
              </a:pPr>
              <a:r>
                <a:rPr lang="en-US" sz="3220">
                  <a:solidFill>
                    <a:srgbClr val="FFFFFF"/>
                  </a:solidFill>
                  <a:latin typeface="Canva Sans"/>
                  <a:ea typeface="Canva Sans"/>
                  <a:cs typeface="Canva Sans"/>
                  <a:sym typeface="Canva Sans"/>
                </a:rPr>
                <a:t>Caso 2 Rotación derecha RD</a:t>
              </a:r>
            </a:p>
            <a:p>
              <a:pPr algn="l" marL="736182" indent="-245394" lvl="2">
                <a:lnSpc>
                  <a:spcPts val="4509"/>
                </a:lnSpc>
              </a:pPr>
            </a:p>
            <a:p>
              <a:pPr algn="l" marL="736182" indent="-245394" lvl="2">
                <a:lnSpc>
                  <a:spcPts val="4509"/>
                </a:lnSpc>
                <a:buFont typeface="Arial"/>
                <a:buChar char="⚬"/>
              </a:pPr>
              <a:r>
                <a:rPr lang="en-US" sz="3220">
                  <a:solidFill>
                    <a:srgbClr val="FFFFFF"/>
                  </a:solidFill>
                  <a:latin typeface="Canva Sans"/>
                  <a:ea typeface="Canva Sans"/>
                  <a:cs typeface="Canva Sans"/>
                  <a:sym typeface="Canva Sans"/>
                </a:rPr>
                <a:t>Caso 3 Rotación izquierda derecha RID</a:t>
              </a:r>
            </a:p>
            <a:p>
              <a:pPr algn="l" marL="736182" indent="-245394" lvl="2">
                <a:lnSpc>
                  <a:spcPts val="4509"/>
                </a:lnSpc>
              </a:pPr>
            </a:p>
            <a:p>
              <a:pPr algn="l" marL="736182" indent="-245394" lvl="2">
                <a:lnSpc>
                  <a:spcPts val="4509"/>
                </a:lnSpc>
                <a:buFont typeface="Arial"/>
                <a:buChar char="⚬"/>
              </a:pPr>
              <a:r>
                <a:rPr lang="en-US" sz="3220">
                  <a:solidFill>
                    <a:srgbClr val="FFFFFF"/>
                  </a:solidFill>
                  <a:latin typeface="Canva Sans"/>
                  <a:ea typeface="Canva Sans"/>
                  <a:cs typeface="Canva Sans"/>
                  <a:sym typeface="Canva Sans"/>
                </a:rPr>
                <a:t>Caso 4 Rotación derecha izquierda RDI</a:t>
              </a:r>
            </a:p>
            <a:p>
              <a:pPr algn="l" marL="736182" indent="-245394" lvl="2">
                <a:lnSpc>
                  <a:spcPts val="4509"/>
                </a:lnSpc>
              </a:pP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5021" y="-2492352"/>
            <a:ext cx="5770168" cy="5770168"/>
            <a:chOff x="0" y="0"/>
            <a:chExt cx="7693557" cy="7693557"/>
          </a:xfrm>
        </p:grpSpPr>
        <p:sp>
          <p:nvSpPr>
            <p:cNvPr name="Freeform 3" id="3"/>
            <p:cNvSpPr/>
            <p:nvPr/>
          </p:nvSpPr>
          <p:spPr>
            <a:xfrm flipH="false" flipV="false" rot="0">
              <a:off x="0" y="0"/>
              <a:ext cx="7693660" cy="7693660"/>
            </a:xfrm>
            <a:custGeom>
              <a:avLst/>
              <a:gdLst/>
              <a:ahLst/>
              <a:cxnLst/>
              <a:rect r="r" b="b" t="t" l="l"/>
              <a:pathLst>
                <a:path h="7693660" w="7693660">
                  <a:moveTo>
                    <a:pt x="3846830" y="0"/>
                  </a:moveTo>
                  <a:cubicBezTo>
                    <a:pt x="1722247" y="0"/>
                    <a:pt x="0" y="1722247"/>
                    <a:pt x="0" y="3846830"/>
                  </a:cubicBezTo>
                  <a:cubicBezTo>
                    <a:pt x="0" y="5971413"/>
                    <a:pt x="1722247" y="7693660"/>
                    <a:pt x="3846830" y="7693660"/>
                  </a:cubicBezTo>
                  <a:cubicBezTo>
                    <a:pt x="5971413" y="7693660"/>
                    <a:pt x="7693660" y="5971413"/>
                    <a:pt x="7693660" y="3846830"/>
                  </a:cubicBezTo>
                  <a:cubicBezTo>
                    <a:pt x="7693660" y="1722247"/>
                    <a:pt x="5971286" y="0"/>
                    <a:pt x="3846830" y="0"/>
                  </a:cubicBezTo>
                  <a:close/>
                </a:path>
              </a:pathLst>
            </a:custGeom>
            <a:solidFill>
              <a:srgbClr val="2B4A9D"/>
            </a:solidFill>
          </p:spPr>
        </p:sp>
      </p:grpSp>
      <p:grpSp>
        <p:nvGrpSpPr>
          <p:cNvPr name="Group 4" id="4"/>
          <p:cNvGrpSpPr/>
          <p:nvPr/>
        </p:nvGrpSpPr>
        <p:grpSpPr>
          <a:xfrm rot="0">
            <a:off x="0" y="6580938"/>
            <a:ext cx="8917291" cy="3706062"/>
            <a:chOff x="0" y="0"/>
            <a:chExt cx="11889721" cy="4941416"/>
          </a:xfrm>
        </p:grpSpPr>
        <p:sp>
          <p:nvSpPr>
            <p:cNvPr name="Freeform 5" id="5"/>
            <p:cNvSpPr/>
            <p:nvPr/>
          </p:nvSpPr>
          <p:spPr>
            <a:xfrm flipH="false" flipV="false" rot="0">
              <a:off x="0" y="0"/>
              <a:ext cx="11889711" cy="4941443"/>
            </a:xfrm>
            <a:custGeom>
              <a:avLst/>
              <a:gdLst/>
              <a:ahLst/>
              <a:cxnLst/>
              <a:rect r="r" b="b" t="t" l="l"/>
              <a:pathLst>
                <a:path h="4941443" w="11889711">
                  <a:moveTo>
                    <a:pt x="0" y="0"/>
                  </a:moveTo>
                  <a:lnTo>
                    <a:pt x="11889711" y="0"/>
                  </a:lnTo>
                  <a:lnTo>
                    <a:pt x="11889711" y="4941443"/>
                  </a:lnTo>
                  <a:lnTo>
                    <a:pt x="0" y="4941443"/>
                  </a:lnTo>
                  <a:close/>
                </a:path>
              </a:pathLst>
            </a:custGeom>
            <a:solidFill>
              <a:srgbClr val="2B4A9D"/>
            </a:solidFill>
          </p:spPr>
        </p:sp>
      </p:grpSp>
      <p:grpSp>
        <p:nvGrpSpPr>
          <p:cNvPr name="Group 6" id="6"/>
          <p:cNvGrpSpPr/>
          <p:nvPr/>
        </p:nvGrpSpPr>
        <p:grpSpPr>
          <a:xfrm rot="0">
            <a:off x="3336986" y="-9994"/>
            <a:ext cx="14951017" cy="417760"/>
            <a:chOff x="0" y="0"/>
            <a:chExt cx="19934689" cy="557013"/>
          </a:xfrm>
        </p:grpSpPr>
        <p:sp>
          <p:nvSpPr>
            <p:cNvPr name="Freeform 7" id="7"/>
            <p:cNvSpPr/>
            <p:nvPr/>
          </p:nvSpPr>
          <p:spPr>
            <a:xfrm flipH="false" flipV="false" rot="0">
              <a:off x="0" y="0"/>
              <a:ext cx="19934682" cy="557022"/>
            </a:xfrm>
            <a:custGeom>
              <a:avLst/>
              <a:gdLst/>
              <a:ahLst/>
              <a:cxnLst/>
              <a:rect r="r" b="b" t="t" l="l"/>
              <a:pathLst>
                <a:path h="557022" w="19934682">
                  <a:moveTo>
                    <a:pt x="0" y="0"/>
                  </a:moveTo>
                  <a:lnTo>
                    <a:pt x="19934682" y="0"/>
                  </a:lnTo>
                  <a:lnTo>
                    <a:pt x="19934682" y="557022"/>
                  </a:lnTo>
                  <a:lnTo>
                    <a:pt x="0" y="557022"/>
                  </a:lnTo>
                  <a:close/>
                </a:path>
              </a:pathLst>
            </a:custGeom>
            <a:solidFill>
              <a:srgbClr val="2B4A9D"/>
            </a:solidFill>
          </p:spPr>
        </p:sp>
      </p:grpSp>
      <p:grpSp>
        <p:nvGrpSpPr>
          <p:cNvPr name="Group 8" id="8"/>
          <p:cNvGrpSpPr/>
          <p:nvPr/>
        </p:nvGrpSpPr>
        <p:grpSpPr>
          <a:xfrm rot="0">
            <a:off x="2290848" y="2073186"/>
            <a:ext cx="9124340" cy="4273337"/>
            <a:chOff x="0" y="0"/>
            <a:chExt cx="12165787" cy="5697783"/>
          </a:xfrm>
        </p:grpSpPr>
        <p:sp>
          <p:nvSpPr>
            <p:cNvPr name="Freeform 9" id="9"/>
            <p:cNvSpPr/>
            <p:nvPr/>
          </p:nvSpPr>
          <p:spPr>
            <a:xfrm flipH="false" flipV="false" rot="0">
              <a:off x="0" y="0"/>
              <a:ext cx="12165838" cy="5697728"/>
            </a:xfrm>
            <a:custGeom>
              <a:avLst/>
              <a:gdLst/>
              <a:ahLst/>
              <a:cxnLst/>
              <a:rect r="r" b="b" t="t" l="l"/>
              <a:pathLst>
                <a:path h="5697728" w="12165838">
                  <a:moveTo>
                    <a:pt x="0" y="0"/>
                  </a:moveTo>
                  <a:lnTo>
                    <a:pt x="12165838" y="0"/>
                  </a:lnTo>
                  <a:lnTo>
                    <a:pt x="12165838" y="5697728"/>
                  </a:lnTo>
                  <a:lnTo>
                    <a:pt x="0" y="5697728"/>
                  </a:lnTo>
                  <a:lnTo>
                    <a:pt x="0" y="0"/>
                  </a:lnTo>
                  <a:close/>
                </a:path>
              </a:pathLst>
            </a:custGeom>
            <a:blipFill>
              <a:blip r:embed="rId2"/>
              <a:stretch>
                <a:fillRect l="0" t="-31" r="0" b="-32"/>
              </a:stretch>
            </a:blipFill>
          </p:spPr>
        </p:sp>
      </p:grpSp>
      <p:grpSp>
        <p:nvGrpSpPr>
          <p:cNvPr name="Group 10" id="10"/>
          <p:cNvGrpSpPr/>
          <p:nvPr/>
        </p:nvGrpSpPr>
        <p:grpSpPr>
          <a:xfrm rot="0">
            <a:off x="8917291" y="836585"/>
            <a:ext cx="8986974" cy="1659407"/>
            <a:chOff x="0" y="0"/>
            <a:chExt cx="11982632" cy="2212543"/>
          </a:xfrm>
        </p:grpSpPr>
        <p:sp>
          <p:nvSpPr>
            <p:cNvPr name="Freeform 11" id="11"/>
            <p:cNvSpPr/>
            <p:nvPr/>
          </p:nvSpPr>
          <p:spPr>
            <a:xfrm flipH="false" flipV="false" rot="0">
              <a:off x="0" y="0"/>
              <a:ext cx="11982632" cy="2212543"/>
            </a:xfrm>
            <a:custGeom>
              <a:avLst/>
              <a:gdLst/>
              <a:ahLst/>
              <a:cxnLst/>
              <a:rect r="r" b="b" t="t" l="l"/>
              <a:pathLst>
                <a:path h="2212543" w="11982632">
                  <a:moveTo>
                    <a:pt x="0" y="0"/>
                  </a:moveTo>
                  <a:lnTo>
                    <a:pt x="11982632" y="0"/>
                  </a:lnTo>
                  <a:lnTo>
                    <a:pt x="11982632" y="2212543"/>
                  </a:lnTo>
                  <a:lnTo>
                    <a:pt x="0" y="2212543"/>
                  </a:lnTo>
                  <a:close/>
                </a:path>
              </a:pathLst>
            </a:custGeom>
            <a:solidFill>
              <a:srgbClr val="000000">
                <a:alpha val="0"/>
              </a:srgbClr>
            </a:solidFill>
          </p:spPr>
        </p:sp>
        <p:sp>
          <p:nvSpPr>
            <p:cNvPr name="TextBox 12" id="12"/>
            <p:cNvSpPr txBox="true"/>
            <p:nvPr/>
          </p:nvSpPr>
          <p:spPr>
            <a:xfrm>
              <a:off x="0" y="28575"/>
              <a:ext cx="11982632" cy="2183968"/>
            </a:xfrm>
            <a:prstGeom prst="rect">
              <a:avLst/>
            </a:prstGeom>
          </p:spPr>
          <p:txBody>
            <a:bodyPr anchor="t" rtlCol="false" tIns="0" lIns="0" bIns="0" rIns="0"/>
            <a:lstStyle/>
            <a:p>
              <a:pPr algn="ctr">
                <a:lnSpc>
                  <a:spcPts val="7013"/>
                </a:lnSpc>
              </a:pPr>
              <a:r>
                <a:rPr lang="en-US" b="true" sz="6679" spc="332">
                  <a:solidFill>
                    <a:srgbClr val="2B4A9D"/>
                  </a:solidFill>
                  <a:latin typeface="Poppins Bold"/>
                  <a:ea typeface="Poppins Bold"/>
                  <a:cs typeface="Poppins Bold"/>
                  <a:sym typeface="Poppins Bold"/>
                </a:rPr>
                <a:t>RI</a:t>
              </a:r>
            </a:p>
          </p:txBody>
        </p:sp>
      </p:grpSp>
      <p:grpSp>
        <p:nvGrpSpPr>
          <p:cNvPr name="Group 13" id="13"/>
          <p:cNvGrpSpPr/>
          <p:nvPr/>
        </p:nvGrpSpPr>
        <p:grpSpPr>
          <a:xfrm rot="0">
            <a:off x="289589" y="7155157"/>
            <a:ext cx="8256126" cy="2873069"/>
            <a:chOff x="0" y="0"/>
            <a:chExt cx="11008168" cy="3830759"/>
          </a:xfrm>
        </p:grpSpPr>
        <p:sp>
          <p:nvSpPr>
            <p:cNvPr name="Freeform 14" id="14"/>
            <p:cNvSpPr/>
            <p:nvPr/>
          </p:nvSpPr>
          <p:spPr>
            <a:xfrm flipH="false" flipV="false" rot="0">
              <a:off x="0" y="0"/>
              <a:ext cx="11008168" cy="3830759"/>
            </a:xfrm>
            <a:custGeom>
              <a:avLst/>
              <a:gdLst/>
              <a:ahLst/>
              <a:cxnLst/>
              <a:rect r="r" b="b" t="t" l="l"/>
              <a:pathLst>
                <a:path h="3830759" w="11008168">
                  <a:moveTo>
                    <a:pt x="0" y="0"/>
                  </a:moveTo>
                  <a:lnTo>
                    <a:pt x="11008168" y="0"/>
                  </a:lnTo>
                  <a:lnTo>
                    <a:pt x="11008168" y="3830759"/>
                  </a:lnTo>
                  <a:lnTo>
                    <a:pt x="0" y="3830759"/>
                  </a:lnTo>
                  <a:close/>
                </a:path>
              </a:pathLst>
            </a:custGeom>
            <a:solidFill>
              <a:srgbClr val="000000">
                <a:alpha val="0"/>
              </a:srgbClr>
            </a:solidFill>
          </p:spPr>
        </p:sp>
        <p:sp>
          <p:nvSpPr>
            <p:cNvPr name="TextBox 15" id="15"/>
            <p:cNvSpPr txBox="true"/>
            <p:nvPr/>
          </p:nvSpPr>
          <p:spPr>
            <a:xfrm>
              <a:off x="0" y="-47625"/>
              <a:ext cx="11008168" cy="3878384"/>
            </a:xfrm>
            <a:prstGeom prst="rect">
              <a:avLst/>
            </a:prstGeom>
          </p:spPr>
          <p:txBody>
            <a:bodyPr anchor="t" rtlCol="false" tIns="0" lIns="0" bIns="0" rIns="0"/>
            <a:lstStyle/>
            <a:p>
              <a:pPr algn="l" marL="628880" indent="-209627" lvl="2">
                <a:lnSpc>
                  <a:spcPts val="3851"/>
                </a:lnSpc>
                <a:buFont typeface="Arial"/>
                <a:buChar char="⚬"/>
              </a:pPr>
              <a:r>
                <a:rPr lang="en-US" sz="2751">
                  <a:solidFill>
                    <a:srgbClr val="FFFFFF"/>
                  </a:solidFill>
                  <a:latin typeface="Canva Sans"/>
                  <a:ea typeface="Canva Sans"/>
                  <a:cs typeface="Canva Sans"/>
                  <a:sym typeface="Canva Sans"/>
                </a:rPr>
                <a:t>Si esta desequilibrado a la izquierda (Factor &gt; +1) y su hijo derecho tiene el mismo signo (+) hacemos rotación sencilla izquierda. </a:t>
              </a:r>
            </a:p>
            <a:p>
              <a:pPr algn="l" marL="628880" indent="-209627" lvl="2">
                <a:lnSpc>
                  <a:spcPts val="3851"/>
                </a:lnSpc>
                <a:buFont typeface="Arial"/>
                <a:buChar char="⚬"/>
              </a:pPr>
              <a:r>
                <a:rPr lang="en-US" sz="2751">
                  <a:solidFill>
                    <a:srgbClr val="FFFFFF"/>
                  </a:solidFill>
                  <a:latin typeface="Canva Sans"/>
                  <a:ea typeface="Canva Sans"/>
                  <a:cs typeface="Canva Sans"/>
                  <a:sym typeface="Canva Sans"/>
                </a:rPr>
                <a:t>Solo hay dos movimientos de nodos</a:t>
              </a:r>
            </a:p>
            <a:p>
              <a:pPr algn="l" marL="628880" indent="-209627" lvl="2">
                <a:lnSpc>
                  <a:spcPts val="3851"/>
                </a:lnSpc>
                <a:buFont typeface="Arial"/>
                <a:buChar char="⚬"/>
              </a:pPr>
              <a:r>
                <a:rPr lang="en-US" sz="2751">
                  <a:solidFill>
                    <a:srgbClr val="FFFFFF"/>
                  </a:solidFill>
                  <a:latin typeface="Canva Sans"/>
                  <a:ea typeface="Canva Sans"/>
                  <a:cs typeface="Canva Sans"/>
                  <a:sym typeface="Canva Sans"/>
                </a:rPr>
                <a:t>El nodo raíz siempre es el nodo descendiente</a:t>
              </a:r>
            </a:p>
            <a:p>
              <a:pPr algn="l" marL="628880" indent="-209627" lvl="2">
                <a:lnSpc>
                  <a:spcPts val="3851"/>
                </a:lnSpc>
              </a:pPr>
            </a:p>
          </p:txBody>
        </p:sp>
      </p:grpSp>
      <p:sp>
        <p:nvSpPr>
          <p:cNvPr name="Freeform 16" id="16"/>
          <p:cNvSpPr/>
          <p:nvPr/>
        </p:nvSpPr>
        <p:spPr>
          <a:xfrm flipH="false" flipV="false" rot="0">
            <a:off x="11771471" y="2434758"/>
            <a:ext cx="2072057" cy="2549328"/>
          </a:xfrm>
          <a:custGeom>
            <a:avLst/>
            <a:gdLst/>
            <a:ahLst/>
            <a:cxnLst/>
            <a:rect r="r" b="b" t="t" l="l"/>
            <a:pathLst>
              <a:path h="2549328" w="2072057">
                <a:moveTo>
                  <a:pt x="0" y="0"/>
                </a:moveTo>
                <a:lnTo>
                  <a:pt x="2072057" y="0"/>
                </a:lnTo>
                <a:lnTo>
                  <a:pt x="2072057" y="2549328"/>
                </a:lnTo>
                <a:lnTo>
                  <a:pt x="0" y="2549328"/>
                </a:lnTo>
                <a:lnTo>
                  <a:pt x="0" y="0"/>
                </a:lnTo>
                <a:close/>
              </a:path>
            </a:pathLst>
          </a:custGeom>
          <a:blipFill>
            <a:blip r:embed="rId3"/>
            <a:stretch>
              <a:fillRect l="0" t="0" r="0" b="0"/>
            </a:stretch>
          </a:blipFill>
        </p:spPr>
      </p:sp>
      <p:sp>
        <p:nvSpPr>
          <p:cNvPr name="Freeform 17" id="17"/>
          <p:cNvSpPr/>
          <p:nvPr/>
        </p:nvSpPr>
        <p:spPr>
          <a:xfrm flipH="false" flipV="false" rot="0">
            <a:off x="15078916" y="2623166"/>
            <a:ext cx="2051291" cy="2360920"/>
          </a:xfrm>
          <a:custGeom>
            <a:avLst/>
            <a:gdLst/>
            <a:ahLst/>
            <a:cxnLst/>
            <a:rect r="r" b="b" t="t" l="l"/>
            <a:pathLst>
              <a:path h="2360920" w="2051291">
                <a:moveTo>
                  <a:pt x="0" y="0"/>
                </a:moveTo>
                <a:lnTo>
                  <a:pt x="2051291" y="0"/>
                </a:lnTo>
                <a:lnTo>
                  <a:pt x="2051291" y="2360920"/>
                </a:lnTo>
                <a:lnTo>
                  <a:pt x="0" y="2360920"/>
                </a:lnTo>
                <a:lnTo>
                  <a:pt x="0" y="0"/>
                </a:lnTo>
                <a:close/>
              </a:path>
            </a:pathLst>
          </a:custGeom>
          <a:blipFill>
            <a:blip r:embed="rId4"/>
            <a:stretch>
              <a:fillRect l="0" t="0" r="0" b="0"/>
            </a:stretch>
          </a:blipFill>
        </p:spPr>
      </p:sp>
      <p:sp>
        <p:nvSpPr>
          <p:cNvPr name="Freeform 18" id="18"/>
          <p:cNvSpPr/>
          <p:nvPr/>
        </p:nvSpPr>
        <p:spPr>
          <a:xfrm flipH="false" flipV="false" rot="0">
            <a:off x="9144000" y="7155157"/>
            <a:ext cx="9009690" cy="2195639"/>
          </a:xfrm>
          <a:custGeom>
            <a:avLst/>
            <a:gdLst/>
            <a:ahLst/>
            <a:cxnLst/>
            <a:rect r="r" b="b" t="t" l="l"/>
            <a:pathLst>
              <a:path h="2195639" w="9009690">
                <a:moveTo>
                  <a:pt x="0" y="0"/>
                </a:moveTo>
                <a:lnTo>
                  <a:pt x="9009690" y="0"/>
                </a:lnTo>
                <a:lnTo>
                  <a:pt x="9009690" y="2195639"/>
                </a:lnTo>
                <a:lnTo>
                  <a:pt x="0" y="2195639"/>
                </a:lnTo>
                <a:lnTo>
                  <a:pt x="0" y="0"/>
                </a:lnTo>
                <a:close/>
              </a:path>
            </a:pathLst>
          </a:custGeom>
          <a:blipFill>
            <a:blip r:embed="rId5"/>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5021" y="-2492352"/>
            <a:ext cx="5770168" cy="5770168"/>
            <a:chOff x="0" y="0"/>
            <a:chExt cx="7693557" cy="7693557"/>
          </a:xfrm>
        </p:grpSpPr>
        <p:sp>
          <p:nvSpPr>
            <p:cNvPr name="Freeform 3" id="3"/>
            <p:cNvSpPr/>
            <p:nvPr/>
          </p:nvSpPr>
          <p:spPr>
            <a:xfrm flipH="false" flipV="false" rot="0">
              <a:off x="0" y="0"/>
              <a:ext cx="7693660" cy="7693660"/>
            </a:xfrm>
            <a:custGeom>
              <a:avLst/>
              <a:gdLst/>
              <a:ahLst/>
              <a:cxnLst/>
              <a:rect r="r" b="b" t="t" l="l"/>
              <a:pathLst>
                <a:path h="7693660" w="7693660">
                  <a:moveTo>
                    <a:pt x="3846830" y="0"/>
                  </a:moveTo>
                  <a:cubicBezTo>
                    <a:pt x="1722247" y="0"/>
                    <a:pt x="0" y="1722247"/>
                    <a:pt x="0" y="3846830"/>
                  </a:cubicBezTo>
                  <a:cubicBezTo>
                    <a:pt x="0" y="5971413"/>
                    <a:pt x="1722247" y="7693660"/>
                    <a:pt x="3846830" y="7693660"/>
                  </a:cubicBezTo>
                  <a:cubicBezTo>
                    <a:pt x="5971413" y="7693660"/>
                    <a:pt x="7693660" y="5971413"/>
                    <a:pt x="7693660" y="3846830"/>
                  </a:cubicBezTo>
                  <a:cubicBezTo>
                    <a:pt x="7693660" y="1722247"/>
                    <a:pt x="5971286" y="0"/>
                    <a:pt x="3846830" y="0"/>
                  </a:cubicBezTo>
                  <a:close/>
                </a:path>
              </a:pathLst>
            </a:custGeom>
            <a:solidFill>
              <a:srgbClr val="2B4A9D"/>
            </a:solidFill>
          </p:spPr>
        </p:sp>
      </p:grpSp>
      <p:grpSp>
        <p:nvGrpSpPr>
          <p:cNvPr name="Group 4" id="4"/>
          <p:cNvGrpSpPr/>
          <p:nvPr/>
        </p:nvGrpSpPr>
        <p:grpSpPr>
          <a:xfrm rot="0">
            <a:off x="0" y="5886077"/>
            <a:ext cx="9144000" cy="4400923"/>
            <a:chOff x="0" y="0"/>
            <a:chExt cx="12192000" cy="5867897"/>
          </a:xfrm>
        </p:grpSpPr>
        <p:sp>
          <p:nvSpPr>
            <p:cNvPr name="Freeform 5" id="5"/>
            <p:cNvSpPr/>
            <p:nvPr/>
          </p:nvSpPr>
          <p:spPr>
            <a:xfrm flipH="false" flipV="false" rot="0">
              <a:off x="0" y="0"/>
              <a:ext cx="12192008" cy="5867908"/>
            </a:xfrm>
            <a:custGeom>
              <a:avLst/>
              <a:gdLst/>
              <a:ahLst/>
              <a:cxnLst/>
              <a:rect r="r" b="b" t="t" l="l"/>
              <a:pathLst>
                <a:path h="5867908" w="12192008">
                  <a:moveTo>
                    <a:pt x="0" y="0"/>
                  </a:moveTo>
                  <a:lnTo>
                    <a:pt x="12192008" y="0"/>
                  </a:lnTo>
                  <a:lnTo>
                    <a:pt x="12192008" y="5867908"/>
                  </a:lnTo>
                  <a:lnTo>
                    <a:pt x="0" y="5867908"/>
                  </a:lnTo>
                  <a:close/>
                </a:path>
              </a:pathLst>
            </a:custGeom>
            <a:solidFill>
              <a:srgbClr val="2B4A9D"/>
            </a:solidFill>
          </p:spPr>
        </p:sp>
      </p:grpSp>
      <p:grpSp>
        <p:nvGrpSpPr>
          <p:cNvPr name="Group 6" id="6"/>
          <p:cNvGrpSpPr/>
          <p:nvPr/>
        </p:nvGrpSpPr>
        <p:grpSpPr>
          <a:xfrm rot="0">
            <a:off x="3336986" y="-9994"/>
            <a:ext cx="14951017" cy="417760"/>
            <a:chOff x="0" y="0"/>
            <a:chExt cx="19934689" cy="557013"/>
          </a:xfrm>
        </p:grpSpPr>
        <p:sp>
          <p:nvSpPr>
            <p:cNvPr name="Freeform 7" id="7"/>
            <p:cNvSpPr/>
            <p:nvPr/>
          </p:nvSpPr>
          <p:spPr>
            <a:xfrm flipH="false" flipV="false" rot="0">
              <a:off x="0" y="0"/>
              <a:ext cx="19934682" cy="557022"/>
            </a:xfrm>
            <a:custGeom>
              <a:avLst/>
              <a:gdLst/>
              <a:ahLst/>
              <a:cxnLst/>
              <a:rect r="r" b="b" t="t" l="l"/>
              <a:pathLst>
                <a:path h="557022" w="19934682">
                  <a:moveTo>
                    <a:pt x="0" y="0"/>
                  </a:moveTo>
                  <a:lnTo>
                    <a:pt x="19934682" y="0"/>
                  </a:lnTo>
                  <a:lnTo>
                    <a:pt x="19934682" y="557022"/>
                  </a:lnTo>
                  <a:lnTo>
                    <a:pt x="0" y="557022"/>
                  </a:lnTo>
                  <a:close/>
                </a:path>
              </a:pathLst>
            </a:custGeom>
            <a:solidFill>
              <a:srgbClr val="2B4A9D"/>
            </a:solidFill>
          </p:spPr>
        </p:sp>
      </p:grpSp>
      <p:grpSp>
        <p:nvGrpSpPr>
          <p:cNvPr name="Group 8" id="8"/>
          <p:cNvGrpSpPr/>
          <p:nvPr/>
        </p:nvGrpSpPr>
        <p:grpSpPr>
          <a:xfrm rot="0">
            <a:off x="823552" y="1386814"/>
            <a:ext cx="9074121" cy="3756686"/>
            <a:chOff x="0" y="0"/>
            <a:chExt cx="12098828" cy="5008915"/>
          </a:xfrm>
        </p:grpSpPr>
        <p:sp>
          <p:nvSpPr>
            <p:cNvPr name="Freeform 9" id="9"/>
            <p:cNvSpPr/>
            <p:nvPr/>
          </p:nvSpPr>
          <p:spPr>
            <a:xfrm flipH="false" flipV="false" rot="0">
              <a:off x="0" y="0"/>
              <a:ext cx="12098782" cy="5008880"/>
            </a:xfrm>
            <a:custGeom>
              <a:avLst/>
              <a:gdLst/>
              <a:ahLst/>
              <a:cxnLst/>
              <a:rect r="r" b="b" t="t" l="l"/>
              <a:pathLst>
                <a:path h="5008880" w="12098782">
                  <a:moveTo>
                    <a:pt x="0" y="0"/>
                  </a:moveTo>
                  <a:lnTo>
                    <a:pt x="12098782" y="0"/>
                  </a:lnTo>
                  <a:lnTo>
                    <a:pt x="12098782" y="5008880"/>
                  </a:lnTo>
                  <a:lnTo>
                    <a:pt x="0" y="5008880"/>
                  </a:lnTo>
                  <a:lnTo>
                    <a:pt x="0" y="0"/>
                  </a:lnTo>
                  <a:close/>
                </a:path>
              </a:pathLst>
            </a:custGeom>
            <a:blipFill>
              <a:blip r:embed="rId2"/>
              <a:stretch>
                <a:fillRect l="0" t="-20" r="0" b="-20"/>
              </a:stretch>
            </a:blipFill>
          </p:spPr>
        </p:sp>
      </p:grpSp>
      <p:grpSp>
        <p:nvGrpSpPr>
          <p:cNvPr name="Group 10" id="10"/>
          <p:cNvGrpSpPr/>
          <p:nvPr/>
        </p:nvGrpSpPr>
        <p:grpSpPr>
          <a:xfrm rot="0">
            <a:off x="9144000" y="501241"/>
            <a:ext cx="8986974" cy="1659407"/>
            <a:chOff x="0" y="0"/>
            <a:chExt cx="11982632" cy="2212543"/>
          </a:xfrm>
        </p:grpSpPr>
        <p:sp>
          <p:nvSpPr>
            <p:cNvPr name="Freeform 11" id="11"/>
            <p:cNvSpPr/>
            <p:nvPr/>
          </p:nvSpPr>
          <p:spPr>
            <a:xfrm flipH="false" flipV="false" rot="0">
              <a:off x="0" y="0"/>
              <a:ext cx="11982632" cy="2212543"/>
            </a:xfrm>
            <a:custGeom>
              <a:avLst/>
              <a:gdLst/>
              <a:ahLst/>
              <a:cxnLst/>
              <a:rect r="r" b="b" t="t" l="l"/>
              <a:pathLst>
                <a:path h="2212543" w="11982632">
                  <a:moveTo>
                    <a:pt x="0" y="0"/>
                  </a:moveTo>
                  <a:lnTo>
                    <a:pt x="11982632" y="0"/>
                  </a:lnTo>
                  <a:lnTo>
                    <a:pt x="11982632" y="2212543"/>
                  </a:lnTo>
                  <a:lnTo>
                    <a:pt x="0" y="2212543"/>
                  </a:lnTo>
                  <a:close/>
                </a:path>
              </a:pathLst>
            </a:custGeom>
            <a:solidFill>
              <a:srgbClr val="000000">
                <a:alpha val="0"/>
              </a:srgbClr>
            </a:solidFill>
          </p:spPr>
        </p:sp>
        <p:sp>
          <p:nvSpPr>
            <p:cNvPr name="TextBox 12" id="12"/>
            <p:cNvSpPr txBox="true"/>
            <p:nvPr/>
          </p:nvSpPr>
          <p:spPr>
            <a:xfrm>
              <a:off x="0" y="28575"/>
              <a:ext cx="11982632" cy="2183968"/>
            </a:xfrm>
            <a:prstGeom prst="rect">
              <a:avLst/>
            </a:prstGeom>
          </p:spPr>
          <p:txBody>
            <a:bodyPr anchor="t" rtlCol="false" tIns="0" lIns="0" bIns="0" rIns="0"/>
            <a:lstStyle/>
            <a:p>
              <a:pPr algn="ctr">
                <a:lnSpc>
                  <a:spcPts val="7013"/>
                </a:lnSpc>
              </a:pPr>
              <a:r>
                <a:rPr lang="en-US" b="true" sz="6679" spc="332">
                  <a:solidFill>
                    <a:srgbClr val="2B4A9D"/>
                  </a:solidFill>
                  <a:latin typeface="Poppins Bold"/>
                  <a:ea typeface="Poppins Bold"/>
                  <a:cs typeface="Poppins Bold"/>
                  <a:sym typeface="Poppins Bold"/>
                </a:rPr>
                <a:t>RD</a:t>
              </a:r>
            </a:p>
          </p:txBody>
        </p:sp>
      </p:grpSp>
      <p:grpSp>
        <p:nvGrpSpPr>
          <p:cNvPr name="Group 13" id="13"/>
          <p:cNvGrpSpPr/>
          <p:nvPr/>
        </p:nvGrpSpPr>
        <p:grpSpPr>
          <a:xfrm rot="0">
            <a:off x="0" y="6571678"/>
            <a:ext cx="8774069" cy="3029722"/>
            <a:chOff x="0" y="0"/>
            <a:chExt cx="11698759" cy="4039629"/>
          </a:xfrm>
        </p:grpSpPr>
        <p:sp>
          <p:nvSpPr>
            <p:cNvPr name="Freeform 14" id="14"/>
            <p:cNvSpPr/>
            <p:nvPr/>
          </p:nvSpPr>
          <p:spPr>
            <a:xfrm flipH="false" flipV="false" rot="0">
              <a:off x="0" y="0"/>
              <a:ext cx="11698760" cy="4039629"/>
            </a:xfrm>
            <a:custGeom>
              <a:avLst/>
              <a:gdLst/>
              <a:ahLst/>
              <a:cxnLst/>
              <a:rect r="r" b="b" t="t" l="l"/>
              <a:pathLst>
                <a:path h="4039629" w="11698760">
                  <a:moveTo>
                    <a:pt x="0" y="0"/>
                  </a:moveTo>
                  <a:lnTo>
                    <a:pt x="11698760" y="0"/>
                  </a:lnTo>
                  <a:lnTo>
                    <a:pt x="11698760" y="4039629"/>
                  </a:lnTo>
                  <a:lnTo>
                    <a:pt x="0" y="4039629"/>
                  </a:lnTo>
                  <a:close/>
                </a:path>
              </a:pathLst>
            </a:custGeom>
            <a:solidFill>
              <a:srgbClr val="000000">
                <a:alpha val="0"/>
              </a:srgbClr>
            </a:solidFill>
          </p:spPr>
        </p:sp>
        <p:sp>
          <p:nvSpPr>
            <p:cNvPr name="TextBox 15" id="15"/>
            <p:cNvSpPr txBox="true"/>
            <p:nvPr/>
          </p:nvSpPr>
          <p:spPr>
            <a:xfrm>
              <a:off x="0" y="-47625"/>
              <a:ext cx="11698759" cy="4087254"/>
            </a:xfrm>
            <a:prstGeom prst="rect">
              <a:avLst/>
            </a:prstGeom>
          </p:spPr>
          <p:txBody>
            <a:bodyPr anchor="t" rtlCol="false" tIns="0" lIns="0" bIns="0" rIns="0"/>
            <a:lstStyle/>
            <a:p>
              <a:pPr algn="l" marL="643782" indent="-214594" lvl="2">
                <a:lnSpc>
                  <a:spcPts val="3942"/>
                </a:lnSpc>
                <a:buFont typeface="Arial"/>
                <a:buChar char="⚬"/>
              </a:pPr>
              <a:r>
                <a:rPr lang="en-US" sz="2816">
                  <a:solidFill>
                    <a:srgbClr val="FFFFFF"/>
                  </a:solidFill>
                  <a:latin typeface="Canva Sans"/>
                  <a:ea typeface="Canva Sans"/>
                  <a:cs typeface="Canva Sans"/>
                  <a:sym typeface="Canva Sans"/>
                </a:rPr>
                <a:t>Si esta desequilibrado a la derecha (Factor &lt; -1) y su hijo izquierdo tiene el mismo signo (-) hacemos rotación sencilla derecha. </a:t>
              </a:r>
            </a:p>
            <a:p>
              <a:pPr algn="l" marL="643782" indent="-214594" lvl="2">
                <a:lnSpc>
                  <a:spcPts val="3942"/>
                </a:lnSpc>
                <a:buFont typeface="Arial"/>
                <a:buChar char="⚬"/>
              </a:pPr>
              <a:r>
                <a:rPr lang="en-US" sz="2816">
                  <a:solidFill>
                    <a:srgbClr val="FFFFFF"/>
                  </a:solidFill>
                  <a:latin typeface="Canva Sans"/>
                  <a:ea typeface="Canva Sans"/>
                  <a:cs typeface="Canva Sans"/>
                  <a:sym typeface="Canva Sans"/>
                </a:rPr>
                <a:t>Solo hay dos movimientos de nodos</a:t>
              </a:r>
            </a:p>
            <a:p>
              <a:pPr algn="l" marL="643782" indent="-214594" lvl="2">
                <a:lnSpc>
                  <a:spcPts val="3942"/>
                </a:lnSpc>
                <a:buFont typeface="Arial"/>
                <a:buChar char="⚬"/>
              </a:pPr>
              <a:r>
                <a:rPr lang="en-US" sz="2816">
                  <a:solidFill>
                    <a:srgbClr val="FFFFFF"/>
                  </a:solidFill>
                  <a:latin typeface="Canva Sans"/>
                  <a:ea typeface="Canva Sans"/>
                  <a:cs typeface="Canva Sans"/>
                  <a:sym typeface="Canva Sans"/>
                </a:rPr>
                <a:t>El nodo raíz siempre es el nodo descendiente</a:t>
              </a:r>
            </a:p>
            <a:p>
              <a:pPr algn="l" marL="643782" indent="-214594" lvl="2">
                <a:lnSpc>
                  <a:spcPts val="3942"/>
                </a:lnSpc>
              </a:pPr>
            </a:p>
          </p:txBody>
        </p:sp>
      </p:grpSp>
      <p:sp>
        <p:nvSpPr>
          <p:cNvPr name="Freeform 16" id="16"/>
          <p:cNvSpPr/>
          <p:nvPr/>
        </p:nvSpPr>
        <p:spPr>
          <a:xfrm flipH="false" flipV="false" rot="0">
            <a:off x="11203316" y="2062927"/>
            <a:ext cx="1583339" cy="2429778"/>
          </a:xfrm>
          <a:custGeom>
            <a:avLst/>
            <a:gdLst/>
            <a:ahLst/>
            <a:cxnLst/>
            <a:rect r="r" b="b" t="t" l="l"/>
            <a:pathLst>
              <a:path h="2429778" w="1583339">
                <a:moveTo>
                  <a:pt x="0" y="0"/>
                </a:moveTo>
                <a:lnTo>
                  <a:pt x="1583339" y="0"/>
                </a:lnTo>
                <a:lnTo>
                  <a:pt x="1583339" y="2429778"/>
                </a:lnTo>
                <a:lnTo>
                  <a:pt x="0" y="2429778"/>
                </a:lnTo>
                <a:lnTo>
                  <a:pt x="0" y="0"/>
                </a:lnTo>
                <a:close/>
              </a:path>
            </a:pathLst>
          </a:custGeom>
          <a:blipFill>
            <a:blip r:embed="rId3"/>
            <a:stretch>
              <a:fillRect l="0" t="0" r="0" b="0"/>
            </a:stretch>
          </a:blipFill>
        </p:spPr>
      </p:sp>
      <p:sp>
        <p:nvSpPr>
          <p:cNvPr name="Freeform 17" id="17"/>
          <p:cNvSpPr/>
          <p:nvPr/>
        </p:nvSpPr>
        <p:spPr>
          <a:xfrm flipH="false" flipV="false" rot="0">
            <a:off x="14091580" y="2254122"/>
            <a:ext cx="2456427" cy="2380611"/>
          </a:xfrm>
          <a:custGeom>
            <a:avLst/>
            <a:gdLst/>
            <a:ahLst/>
            <a:cxnLst/>
            <a:rect r="r" b="b" t="t" l="l"/>
            <a:pathLst>
              <a:path h="2380611" w="2456427">
                <a:moveTo>
                  <a:pt x="0" y="0"/>
                </a:moveTo>
                <a:lnTo>
                  <a:pt x="2456427" y="0"/>
                </a:lnTo>
                <a:lnTo>
                  <a:pt x="2456427" y="2380611"/>
                </a:lnTo>
                <a:lnTo>
                  <a:pt x="0" y="2380611"/>
                </a:lnTo>
                <a:lnTo>
                  <a:pt x="0" y="0"/>
                </a:lnTo>
                <a:close/>
              </a:path>
            </a:pathLst>
          </a:custGeom>
          <a:blipFill>
            <a:blip r:embed="rId4"/>
            <a:stretch>
              <a:fillRect l="0" t="0" r="0" b="0"/>
            </a:stretch>
          </a:blipFill>
        </p:spPr>
      </p:sp>
      <p:sp>
        <p:nvSpPr>
          <p:cNvPr name="Freeform 18" id="18"/>
          <p:cNvSpPr/>
          <p:nvPr/>
        </p:nvSpPr>
        <p:spPr>
          <a:xfrm flipH="false" flipV="false" rot="0">
            <a:off x="9144000" y="7064823"/>
            <a:ext cx="8983382" cy="2043430"/>
          </a:xfrm>
          <a:custGeom>
            <a:avLst/>
            <a:gdLst/>
            <a:ahLst/>
            <a:cxnLst/>
            <a:rect r="r" b="b" t="t" l="l"/>
            <a:pathLst>
              <a:path h="2043430" w="8983382">
                <a:moveTo>
                  <a:pt x="0" y="0"/>
                </a:moveTo>
                <a:lnTo>
                  <a:pt x="8983382" y="0"/>
                </a:lnTo>
                <a:lnTo>
                  <a:pt x="8983382" y="2043431"/>
                </a:lnTo>
                <a:lnTo>
                  <a:pt x="0" y="2043431"/>
                </a:lnTo>
                <a:lnTo>
                  <a:pt x="0" y="0"/>
                </a:lnTo>
                <a:close/>
              </a:path>
            </a:pathLst>
          </a:custGeom>
          <a:blipFill>
            <a:blip r:embed="rId5"/>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5021" y="-2492352"/>
            <a:ext cx="5098777" cy="5098777"/>
            <a:chOff x="0" y="0"/>
            <a:chExt cx="6798369" cy="6798369"/>
          </a:xfrm>
        </p:grpSpPr>
        <p:sp>
          <p:nvSpPr>
            <p:cNvPr name="Freeform 3" id="3"/>
            <p:cNvSpPr/>
            <p:nvPr/>
          </p:nvSpPr>
          <p:spPr>
            <a:xfrm flipH="false" flipV="false" rot="0">
              <a:off x="0" y="0"/>
              <a:ext cx="6798310" cy="6798310"/>
            </a:xfrm>
            <a:custGeom>
              <a:avLst/>
              <a:gdLst/>
              <a:ahLst/>
              <a:cxnLst/>
              <a:rect r="r" b="b" t="t" l="l"/>
              <a:pathLst>
                <a:path h="6798310" w="6798310">
                  <a:moveTo>
                    <a:pt x="3399155" y="0"/>
                  </a:moveTo>
                  <a:cubicBezTo>
                    <a:pt x="1521841" y="0"/>
                    <a:pt x="0" y="1521841"/>
                    <a:pt x="0" y="3399155"/>
                  </a:cubicBezTo>
                  <a:cubicBezTo>
                    <a:pt x="0" y="5276469"/>
                    <a:pt x="1521841" y="6798310"/>
                    <a:pt x="3399155" y="6798310"/>
                  </a:cubicBezTo>
                  <a:cubicBezTo>
                    <a:pt x="5276469" y="6798310"/>
                    <a:pt x="6798310" y="5276469"/>
                    <a:pt x="6798310" y="3399155"/>
                  </a:cubicBezTo>
                  <a:cubicBezTo>
                    <a:pt x="6798310" y="1521841"/>
                    <a:pt x="5276469" y="0"/>
                    <a:pt x="3399155" y="0"/>
                  </a:cubicBezTo>
                  <a:close/>
                </a:path>
              </a:pathLst>
            </a:custGeom>
            <a:solidFill>
              <a:srgbClr val="2B4A9D"/>
            </a:solidFill>
          </p:spPr>
        </p:sp>
      </p:grpSp>
      <p:grpSp>
        <p:nvGrpSpPr>
          <p:cNvPr name="Group 4" id="4"/>
          <p:cNvGrpSpPr/>
          <p:nvPr/>
        </p:nvGrpSpPr>
        <p:grpSpPr>
          <a:xfrm rot="0">
            <a:off x="12963307" y="4557648"/>
            <a:ext cx="5324693" cy="5729352"/>
            <a:chOff x="0" y="0"/>
            <a:chExt cx="7099591" cy="7639136"/>
          </a:xfrm>
        </p:grpSpPr>
        <p:sp>
          <p:nvSpPr>
            <p:cNvPr name="Freeform 5" id="5"/>
            <p:cNvSpPr/>
            <p:nvPr/>
          </p:nvSpPr>
          <p:spPr>
            <a:xfrm flipH="false" flipV="false" rot="0">
              <a:off x="0" y="0"/>
              <a:ext cx="7099554" cy="7639177"/>
            </a:xfrm>
            <a:custGeom>
              <a:avLst/>
              <a:gdLst/>
              <a:ahLst/>
              <a:cxnLst/>
              <a:rect r="r" b="b" t="t" l="l"/>
              <a:pathLst>
                <a:path h="7639177" w="7099554">
                  <a:moveTo>
                    <a:pt x="0" y="0"/>
                  </a:moveTo>
                  <a:lnTo>
                    <a:pt x="7099554" y="0"/>
                  </a:lnTo>
                  <a:lnTo>
                    <a:pt x="7099554" y="7639177"/>
                  </a:lnTo>
                  <a:lnTo>
                    <a:pt x="0" y="7639177"/>
                  </a:lnTo>
                  <a:close/>
                </a:path>
              </a:pathLst>
            </a:custGeom>
            <a:solidFill>
              <a:srgbClr val="2B4A9D"/>
            </a:solidFill>
          </p:spPr>
        </p:sp>
      </p:grpSp>
      <p:grpSp>
        <p:nvGrpSpPr>
          <p:cNvPr name="Group 6" id="6"/>
          <p:cNvGrpSpPr/>
          <p:nvPr/>
        </p:nvGrpSpPr>
        <p:grpSpPr>
          <a:xfrm rot="0">
            <a:off x="2793756" y="-9994"/>
            <a:ext cx="15494244" cy="417760"/>
            <a:chOff x="0" y="0"/>
            <a:chExt cx="20658992" cy="557013"/>
          </a:xfrm>
        </p:grpSpPr>
        <p:sp>
          <p:nvSpPr>
            <p:cNvPr name="Freeform 7" id="7"/>
            <p:cNvSpPr/>
            <p:nvPr/>
          </p:nvSpPr>
          <p:spPr>
            <a:xfrm flipH="false" flipV="false" rot="0">
              <a:off x="0" y="0"/>
              <a:ext cx="20658962" cy="557022"/>
            </a:xfrm>
            <a:custGeom>
              <a:avLst/>
              <a:gdLst/>
              <a:ahLst/>
              <a:cxnLst/>
              <a:rect r="r" b="b" t="t" l="l"/>
              <a:pathLst>
                <a:path h="557022" w="20658962">
                  <a:moveTo>
                    <a:pt x="0" y="0"/>
                  </a:moveTo>
                  <a:lnTo>
                    <a:pt x="20658962" y="0"/>
                  </a:lnTo>
                  <a:lnTo>
                    <a:pt x="20658962" y="557022"/>
                  </a:lnTo>
                  <a:lnTo>
                    <a:pt x="0" y="557022"/>
                  </a:lnTo>
                  <a:close/>
                </a:path>
              </a:pathLst>
            </a:custGeom>
            <a:solidFill>
              <a:srgbClr val="2B4A9D"/>
            </a:solidFill>
          </p:spPr>
        </p:sp>
      </p:grpSp>
      <p:grpSp>
        <p:nvGrpSpPr>
          <p:cNvPr name="Group 8" id="8"/>
          <p:cNvGrpSpPr/>
          <p:nvPr/>
        </p:nvGrpSpPr>
        <p:grpSpPr>
          <a:xfrm rot="0">
            <a:off x="3640455" y="5069205"/>
            <a:ext cx="19050" cy="19050"/>
            <a:chOff x="0" y="0"/>
            <a:chExt cx="25400" cy="25400"/>
          </a:xfrm>
        </p:grpSpPr>
        <p:sp>
          <p:nvSpPr>
            <p:cNvPr name="Freeform 9" id="9"/>
            <p:cNvSpPr/>
            <p:nvPr/>
          </p:nvSpPr>
          <p:spPr>
            <a:xfrm flipH="false" flipV="false" rot="0">
              <a:off x="0" y="0"/>
              <a:ext cx="25400" cy="25400"/>
            </a:xfrm>
            <a:custGeom>
              <a:avLst/>
              <a:gdLst/>
              <a:ahLst/>
              <a:cxnLst/>
              <a:rect r="r" b="b" t="t" l="l"/>
              <a:pathLst>
                <a:path h="25400" w="25400">
                  <a:moveTo>
                    <a:pt x="25400" y="8890"/>
                  </a:moveTo>
                  <a:cubicBezTo>
                    <a:pt x="15240" y="25400"/>
                    <a:pt x="5080" y="22860"/>
                    <a:pt x="2540" y="19050"/>
                  </a:cubicBezTo>
                  <a:cubicBezTo>
                    <a:pt x="0" y="15240"/>
                    <a:pt x="2540" y="5080"/>
                    <a:pt x="5080" y="2540"/>
                  </a:cubicBezTo>
                  <a:cubicBezTo>
                    <a:pt x="8890" y="0"/>
                    <a:pt x="22860" y="3810"/>
                    <a:pt x="22860" y="3810"/>
                  </a:cubicBezTo>
                </a:path>
              </a:pathLst>
            </a:custGeom>
            <a:solidFill>
              <a:srgbClr val="E7191F"/>
            </a:solidFill>
          </p:spPr>
        </p:sp>
      </p:grpSp>
      <p:grpSp>
        <p:nvGrpSpPr>
          <p:cNvPr name="Group 10" id="10"/>
          <p:cNvGrpSpPr/>
          <p:nvPr/>
        </p:nvGrpSpPr>
        <p:grpSpPr>
          <a:xfrm rot="0">
            <a:off x="4349135" y="418236"/>
            <a:ext cx="11779744" cy="1659407"/>
            <a:chOff x="0" y="0"/>
            <a:chExt cx="15706326" cy="2212543"/>
          </a:xfrm>
        </p:grpSpPr>
        <p:sp>
          <p:nvSpPr>
            <p:cNvPr name="Freeform 11" id="11"/>
            <p:cNvSpPr/>
            <p:nvPr/>
          </p:nvSpPr>
          <p:spPr>
            <a:xfrm flipH="false" flipV="false" rot="0">
              <a:off x="0" y="0"/>
              <a:ext cx="15706327" cy="2212543"/>
            </a:xfrm>
            <a:custGeom>
              <a:avLst/>
              <a:gdLst/>
              <a:ahLst/>
              <a:cxnLst/>
              <a:rect r="r" b="b" t="t" l="l"/>
              <a:pathLst>
                <a:path h="2212543" w="15706327">
                  <a:moveTo>
                    <a:pt x="0" y="0"/>
                  </a:moveTo>
                  <a:lnTo>
                    <a:pt x="15706327" y="0"/>
                  </a:lnTo>
                  <a:lnTo>
                    <a:pt x="15706327" y="2212543"/>
                  </a:lnTo>
                  <a:lnTo>
                    <a:pt x="0" y="2212543"/>
                  </a:lnTo>
                  <a:close/>
                </a:path>
              </a:pathLst>
            </a:custGeom>
            <a:solidFill>
              <a:srgbClr val="000000">
                <a:alpha val="0"/>
              </a:srgbClr>
            </a:solidFill>
          </p:spPr>
        </p:sp>
        <p:sp>
          <p:nvSpPr>
            <p:cNvPr name="TextBox 12" id="12"/>
            <p:cNvSpPr txBox="true"/>
            <p:nvPr/>
          </p:nvSpPr>
          <p:spPr>
            <a:xfrm>
              <a:off x="0" y="28575"/>
              <a:ext cx="15706326" cy="2183968"/>
            </a:xfrm>
            <a:prstGeom prst="rect">
              <a:avLst/>
            </a:prstGeom>
          </p:spPr>
          <p:txBody>
            <a:bodyPr anchor="t" rtlCol="false" tIns="0" lIns="0" bIns="0" rIns="0"/>
            <a:lstStyle/>
            <a:p>
              <a:pPr algn="ctr">
                <a:lnSpc>
                  <a:spcPts val="7013"/>
                </a:lnSpc>
              </a:pPr>
              <a:r>
                <a:rPr lang="en-US" b="true" sz="6679" spc="332">
                  <a:solidFill>
                    <a:srgbClr val="2B4A9D"/>
                  </a:solidFill>
                  <a:latin typeface="Poppins Bold"/>
                  <a:ea typeface="Poppins Bold"/>
                  <a:cs typeface="Poppins Bold"/>
                  <a:sym typeface="Poppins Bold"/>
                </a:rPr>
                <a:t>RID (izquierda-derecha</a:t>
              </a:r>
            </a:p>
          </p:txBody>
        </p:sp>
      </p:grpSp>
      <p:grpSp>
        <p:nvGrpSpPr>
          <p:cNvPr name="Group 13" id="13"/>
          <p:cNvGrpSpPr/>
          <p:nvPr/>
        </p:nvGrpSpPr>
        <p:grpSpPr>
          <a:xfrm rot="0">
            <a:off x="13379707" y="4985385"/>
            <a:ext cx="4524558" cy="5345475"/>
            <a:chOff x="0" y="0"/>
            <a:chExt cx="6032744" cy="7127300"/>
          </a:xfrm>
        </p:grpSpPr>
        <p:sp>
          <p:nvSpPr>
            <p:cNvPr name="Freeform 14" id="14"/>
            <p:cNvSpPr/>
            <p:nvPr/>
          </p:nvSpPr>
          <p:spPr>
            <a:xfrm flipH="false" flipV="false" rot="0">
              <a:off x="0" y="0"/>
              <a:ext cx="6032744" cy="7127300"/>
            </a:xfrm>
            <a:custGeom>
              <a:avLst/>
              <a:gdLst/>
              <a:ahLst/>
              <a:cxnLst/>
              <a:rect r="r" b="b" t="t" l="l"/>
              <a:pathLst>
                <a:path h="7127300" w="6032744">
                  <a:moveTo>
                    <a:pt x="0" y="0"/>
                  </a:moveTo>
                  <a:lnTo>
                    <a:pt x="6032744" y="0"/>
                  </a:lnTo>
                  <a:lnTo>
                    <a:pt x="6032744" y="7127300"/>
                  </a:lnTo>
                  <a:lnTo>
                    <a:pt x="0" y="7127300"/>
                  </a:lnTo>
                  <a:close/>
                </a:path>
              </a:pathLst>
            </a:custGeom>
            <a:solidFill>
              <a:srgbClr val="000000">
                <a:alpha val="0"/>
              </a:srgbClr>
            </a:solidFill>
          </p:spPr>
        </p:sp>
        <p:sp>
          <p:nvSpPr>
            <p:cNvPr name="TextBox 15" id="15"/>
            <p:cNvSpPr txBox="true"/>
            <p:nvPr/>
          </p:nvSpPr>
          <p:spPr>
            <a:xfrm>
              <a:off x="0" y="-47625"/>
              <a:ext cx="6032744" cy="7174925"/>
            </a:xfrm>
            <a:prstGeom prst="rect">
              <a:avLst/>
            </a:prstGeom>
          </p:spPr>
          <p:txBody>
            <a:bodyPr anchor="t" rtlCol="false" tIns="0" lIns="0" bIns="0" rIns="0"/>
            <a:lstStyle/>
            <a:p>
              <a:pPr algn="l" marL="582313" indent="-194104" lvl="2">
                <a:lnSpc>
                  <a:spcPts val="3565"/>
                </a:lnSpc>
                <a:buFont typeface="Arial"/>
                <a:buChar char="⚬"/>
              </a:pPr>
              <a:r>
                <a:rPr lang="en-US" sz="2546">
                  <a:solidFill>
                    <a:srgbClr val="FFFFFF"/>
                  </a:solidFill>
                  <a:latin typeface="Canva Sans"/>
                  <a:ea typeface="Canva Sans"/>
                  <a:cs typeface="Canva Sans"/>
                  <a:sym typeface="Canva Sans"/>
                </a:rPr>
                <a:t>Si está desequilibrado a la derecha (Factor &lt; –1), y su hijo izquierdo tiene distinto signo (+) hacemos rotación doble izquierda-derecha.</a:t>
              </a:r>
            </a:p>
            <a:p>
              <a:pPr algn="l" marL="582313" indent="-194104" lvl="2">
                <a:lnSpc>
                  <a:spcPts val="3565"/>
                </a:lnSpc>
                <a:buFont typeface="Arial"/>
                <a:buChar char="⚬"/>
              </a:pPr>
              <a:r>
                <a:rPr lang="en-US" sz="2546">
                  <a:solidFill>
                    <a:srgbClr val="FFFFFF"/>
                  </a:solidFill>
                  <a:latin typeface="Canva Sans"/>
                  <a:ea typeface="Canva Sans"/>
                  <a:cs typeface="Canva Sans"/>
                  <a:sym typeface="Canva Sans"/>
                </a:rPr>
                <a:t>Hay movimientos de los 3 nodos</a:t>
              </a:r>
            </a:p>
            <a:p>
              <a:pPr algn="l" marL="582313" indent="-194104" lvl="2">
                <a:lnSpc>
                  <a:spcPts val="3565"/>
                </a:lnSpc>
                <a:buFont typeface="Arial"/>
                <a:buChar char="⚬"/>
              </a:pPr>
              <a:r>
                <a:rPr lang="en-US" sz="2546">
                  <a:solidFill>
                    <a:srgbClr val="FFFFFF"/>
                  </a:solidFill>
                  <a:latin typeface="Canva Sans"/>
                  <a:ea typeface="Canva Sans"/>
                  <a:cs typeface="Canva Sans"/>
                  <a:sym typeface="Canva Sans"/>
                </a:rPr>
                <a:t>El nodo raíz siempre es el nodo descendiente del nodo descendiente</a:t>
              </a:r>
            </a:p>
            <a:p>
              <a:pPr algn="l" marL="582313" indent="-194104" lvl="2">
                <a:lnSpc>
                  <a:spcPts val="3565"/>
                </a:lnSpc>
              </a:pPr>
            </a:p>
          </p:txBody>
        </p:sp>
      </p:grpSp>
      <p:grpSp>
        <p:nvGrpSpPr>
          <p:cNvPr name="Group 16" id="16"/>
          <p:cNvGrpSpPr/>
          <p:nvPr/>
        </p:nvGrpSpPr>
        <p:grpSpPr>
          <a:xfrm rot="0">
            <a:off x="1221106" y="8272462"/>
            <a:ext cx="218123" cy="30480"/>
            <a:chOff x="0" y="0"/>
            <a:chExt cx="290830" cy="40640"/>
          </a:xfrm>
        </p:grpSpPr>
        <p:sp>
          <p:nvSpPr>
            <p:cNvPr name="Freeform 17" id="17"/>
            <p:cNvSpPr/>
            <p:nvPr/>
          </p:nvSpPr>
          <p:spPr>
            <a:xfrm flipH="false" flipV="false" rot="0">
              <a:off x="0" y="0"/>
              <a:ext cx="290830" cy="40640"/>
            </a:xfrm>
            <a:custGeom>
              <a:avLst/>
              <a:gdLst/>
              <a:ahLst/>
              <a:cxnLst/>
              <a:rect r="r" b="b" t="t" l="l"/>
              <a:pathLst>
                <a:path h="40640" w="290830">
                  <a:moveTo>
                    <a:pt x="12700" y="0"/>
                  </a:moveTo>
                  <a:cubicBezTo>
                    <a:pt x="259080" y="5080"/>
                    <a:pt x="284480" y="10160"/>
                    <a:pt x="288290" y="19050"/>
                  </a:cubicBezTo>
                  <a:cubicBezTo>
                    <a:pt x="290830" y="24130"/>
                    <a:pt x="284480" y="35560"/>
                    <a:pt x="280670" y="35560"/>
                  </a:cubicBezTo>
                  <a:cubicBezTo>
                    <a:pt x="278130" y="35560"/>
                    <a:pt x="270510" y="27940"/>
                    <a:pt x="270510" y="24130"/>
                  </a:cubicBezTo>
                  <a:cubicBezTo>
                    <a:pt x="270510" y="21590"/>
                    <a:pt x="279400" y="13970"/>
                    <a:pt x="281940" y="15240"/>
                  </a:cubicBezTo>
                  <a:cubicBezTo>
                    <a:pt x="284480" y="16510"/>
                    <a:pt x="285750" y="33020"/>
                    <a:pt x="281940" y="35560"/>
                  </a:cubicBezTo>
                  <a:cubicBezTo>
                    <a:pt x="275590" y="40640"/>
                    <a:pt x="256540" y="24130"/>
                    <a:pt x="234950" y="21590"/>
                  </a:cubicBezTo>
                  <a:cubicBezTo>
                    <a:pt x="187960" y="13970"/>
                    <a:pt x="33020" y="34290"/>
                    <a:pt x="8890" y="21590"/>
                  </a:cubicBezTo>
                  <a:cubicBezTo>
                    <a:pt x="3810" y="19050"/>
                    <a:pt x="0" y="13970"/>
                    <a:pt x="1270" y="10160"/>
                  </a:cubicBezTo>
                  <a:cubicBezTo>
                    <a:pt x="1270" y="6350"/>
                    <a:pt x="12700" y="0"/>
                    <a:pt x="12700" y="0"/>
                  </a:cubicBezTo>
                </a:path>
              </a:pathLst>
            </a:custGeom>
            <a:solidFill>
              <a:srgbClr val="E7191F"/>
            </a:solidFill>
          </p:spPr>
        </p:sp>
      </p:grpSp>
      <p:sp>
        <p:nvSpPr>
          <p:cNvPr name="Freeform 18" id="18"/>
          <p:cNvSpPr/>
          <p:nvPr/>
        </p:nvSpPr>
        <p:spPr>
          <a:xfrm flipH="false" flipV="false" rot="0">
            <a:off x="3017795" y="2525690"/>
            <a:ext cx="6856064" cy="2400640"/>
          </a:xfrm>
          <a:custGeom>
            <a:avLst/>
            <a:gdLst/>
            <a:ahLst/>
            <a:cxnLst/>
            <a:rect r="r" b="b" t="t" l="l"/>
            <a:pathLst>
              <a:path h="2400640" w="6856064">
                <a:moveTo>
                  <a:pt x="0" y="0"/>
                </a:moveTo>
                <a:lnTo>
                  <a:pt x="6856064" y="0"/>
                </a:lnTo>
                <a:lnTo>
                  <a:pt x="6856064" y="2400640"/>
                </a:lnTo>
                <a:lnTo>
                  <a:pt x="0" y="2400640"/>
                </a:lnTo>
                <a:lnTo>
                  <a:pt x="0" y="0"/>
                </a:lnTo>
                <a:close/>
              </a:path>
            </a:pathLst>
          </a:custGeom>
          <a:blipFill>
            <a:blip r:embed="rId2"/>
            <a:stretch>
              <a:fillRect l="0" t="0" r="0" b="0"/>
            </a:stretch>
          </a:blipFill>
        </p:spPr>
      </p:sp>
      <p:sp>
        <p:nvSpPr>
          <p:cNvPr name="Freeform 19" id="19"/>
          <p:cNvSpPr/>
          <p:nvPr/>
        </p:nvSpPr>
        <p:spPr>
          <a:xfrm flipH="false" flipV="false" rot="0">
            <a:off x="1914675" y="5380144"/>
            <a:ext cx="9009690" cy="2195639"/>
          </a:xfrm>
          <a:custGeom>
            <a:avLst/>
            <a:gdLst/>
            <a:ahLst/>
            <a:cxnLst/>
            <a:rect r="r" b="b" t="t" l="l"/>
            <a:pathLst>
              <a:path h="2195639" w="9009690">
                <a:moveTo>
                  <a:pt x="0" y="0"/>
                </a:moveTo>
                <a:lnTo>
                  <a:pt x="9009690" y="0"/>
                </a:lnTo>
                <a:lnTo>
                  <a:pt x="9009690" y="2195639"/>
                </a:lnTo>
                <a:lnTo>
                  <a:pt x="0" y="2195639"/>
                </a:lnTo>
                <a:lnTo>
                  <a:pt x="0" y="0"/>
                </a:lnTo>
                <a:close/>
              </a:path>
            </a:pathLst>
          </a:custGeom>
          <a:blipFill>
            <a:blip r:embed="rId3"/>
            <a:stretch>
              <a:fillRect l="0" t="0" r="0" b="0"/>
            </a:stretch>
          </a:blipFill>
        </p:spPr>
      </p:sp>
      <p:sp>
        <p:nvSpPr>
          <p:cNvPr name="Freeform 20" id="20"/>
          <p:cNvSpPr/>
          <p:nvPr/>
        </p:nvSpPr>
        <p:spPr>
          <a:xfrm flipH="false" flipV="false" rot="0">
            <a:off x="1940983" y="8029598"/>
            <a:ext cx="8983382" cy="2043430"/>
          </a:xfrm>
          <a:custGeom>
            <a:avLst/>
            <a:gdLst/>
            <a:ahLst/>
            <a:cxnLst/>
            <a:rect r="r" b="b" t="t" l="l"/>
            <a:pathLst>
              <a:path h="2043430" w="8983382">
                <a:moveTo>
                  <a:pt x="0" y="0"/>
                </a:moveTo>
                <a:lnTo>
                  <a:pt x="8983382" y="0"/>
                </a:lnTo>
                <a:lnTo>
                  <a:pt x="8983382" y="2043430"/>
                </a:lnTo>
                <a:lnTo>
                  <a:pt x="0" y="2043430"/>
                </a:lnTo>
                <a:lnTo>
                  <a:pt x="0" y="0"/>
                </a:lnTo>
                <a:close/>
              </a:path>
            </a:pathLst>
          </a:custGeom>
          <a:blipFill>
            <a:blip r:embed="rId4"/>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05021" y="-2492352"/>
            <a:ext cx="5770168" cy="5770168"/>
            <a:chOff x="0" y="0"/>
            <a:chExt cx="7693557" cy="7693557"/>
          </a:xfrm>
        </p:grpSpPr>
        <p:sp>
          <p:nvSpPr>
            <p:cNvPr name="Freeform 3" id="3"/>
            <p:cNvSpPr/>
            <p:nvPr/>
          </p:nvSpPr>
          <p:spPr>
            <a:xfrm flipH="false" flipV="false" rot="0">
              <a:off x="0" y="0"/>
              <a:ext cx="7693660" cy="7693660"/>
            </a:xfrm>
            <a:custGeom>
              <a:avLst/>
              <a:gdLst/>
              <a:ahLst/>
              <a:cxnLst/>
              <a:rect r="r" b="b" t="t" l="l"/>
              <a:pathLst>
                <a:path h="7693660" w="7693660">
                  <a:moveTo>
                    <a:pt x="3846830" y="0"/>
                  </a:moveTo>
                  <a:cubicBezTo>
                    <a:pt x="1722247" y="0"/>
                    <a:pt x="0" y="1722247"/>
                    <a:pt x="0" y="3846830"/>
                  </a:cubicBezTo>
                  <a:cubicBezTo>
                    <a:pt x="0" y="5971413"/>
                    <a:pt x="1722247" y="7693660"/>
                    <a:pt x="3846830" y="7693660"/>
                  </a:cubicBezTo>
                  <a:cubicBezTo>
                    <a:pt x="5971413" y="7693660"/>
                    <a:pt x="7693660" y="5971413"/>
                    <a:pt x="7693660" y="3846830"/>
                  </a:cubicBezTo>
                  <a:cubicBezTo>
                    <a:pt x="7693660" y="1722247"/>
                    <a:pt x="5971286" y="0"/>
                    <a:pt x="3846830" y="0"/>
                  </a:cubicBezTo>
                  <a:close/>
                </a:path>
              </a:pathLst>
            </a:custGeom>
            <a:solidFill>
              <a:srgbClr val="2B4A9D"/>
            </a:solidFill>
          </p:spPr>
        </p:sp>
      </p:grpSp>
      <p:grpSp>
        <p:nvGrpSpPr>
          <p:cNvPr name="Group 4" id="4"/>
          <p:cNvGrpSpPr/>
          <p:nvPr/>
        </p:nvGrpSpPr>
        <p:grpSpPr>
          <a:xfrm rot="0">
            <a:off x="13298548" y="4157275"/>
            <a:ext cx="4989452" cy="6129725"/>
            <a:chOff x="0" y="0"/>
            <a:chExt cx="6652603" cy="8172967"/>
          </a:xfrm>
        </p:grpSpPr>
        <p:sp>
          <p:nvSpPr>
            <p:cNvPr name="Freeform 5" id="5"/>
            <p:cNvSpPr/>
            <p:nvPr/>
          </p:nvSpPr>
          <p:spPr>
            <a:xfrm flipH="false" flipV="false" rot="0">
              <a:off x="0" y="0"/>
              <a:ext cx="6652641" cy="8172958"/>
            </a:xfrm>
            <a:custGeom>
              <a:avLst/>
              <a:gdLst/>
              <a:ahLst/>
              <a:cxnLst/>
              <a:rect r="r" b="b" t="t" l="l"/>
              <a:pathLst>
                <a:path h="8172958" w="6652641">
                  <a:moveTo>
                    <a:pt x="0" y="0"/>
                  </a:moveTo>
                  <a:lnTo>
                    <a:pt x="6652641" y="0"/>
                  </a:lnTo>
                  <a:lnTo>
                    <a:pt x="6652641" y="8172958"/>
                  </a:lnTo>
                  <a:lnTo>
                    <a:pt x="0" y="8172958"/>
                  </a:lnTo>
                  <a:close/>
                </a:path>
              </a:pathLst>
            </a:custGeom>
            <a:solidFill>
              <a:srgbClr val="2B4A9D"/>
            </a:solidFill>
          </p:spPr>
        </p:sp>
      </p:grpSp>
      <p:grpSp>
        <p:nvGrpSpPr>
          <p:cNvPr name="Group 6" id="6"/>
          <p:cNvGrpSpPr/>
          <p:nvPr/>
        </p:nvGrpSpPr>
        <p:grpSpPr>
          <a:xfrm rot="0">
            <a:off x="3336986" y="-9994"/>
            <a:ext cx="14951017" cy="417760"/>
            <a:chOff x="0" y="0"/>
            <a:chExt cx="19934689" cy="557013"/>
          </a:xfrm>
        </p:grpSpPr>
        <p:sp>
          <p:nvSpPr>
            <p:cNvPr name="Freeform 7" id="7"/>
            <p:cNvSpPr/>
            <p:nvPr/>
          </p:nvSpPr>
          <p:spPr>
            <a:xfrm flipH="false" flipV="false" rot="0">
              <a:off x="0" y="0"/>
              <a:ext cx="19934682" cy="557022"/>
            </a:xfrm>
            <a:custGeom>
              <a:avLst/>
              <a:gdLst/>
              <a:ahLst/>
              <a:cxnLst/>
              <a:rect r="r" b="b" t="t" l="l"/>
              <a:pathLst>
                <a:path h="557022" w="19934682">
                  <a:moveTo>
                    <a:pt x="0" y="0"/>
                  </a:moveTo>
                  <a:lnTo>
                    <a:pt x="19934682" y="0"/>
                  </a:lnTo>
                  <a:lnTo>
                    <a:pt x="19934682" y="557022"/>
                  </a:lnTo>
                  <a:lnTo>
                    <a:pt x="0" y="557022"/>
                  </a:lnTo>
                  <a:close/>
                </a:path>
              </a:pathLst>
            </a:custGeom>
            <a:solidFill>
              <a:srgbClr val="2B4A9D"/>
            </a:solidFill>
          </p:spPr>
        </p:sp>
      </p:grpSp>
      <p:grpSp>
        <p:nvGrpSpPr>
          <p:cNvPr name="Group 8" id="8"/>
          <p:cNvGrpSpPr/>
          <p:nvPr/>
        </p:nvGrpSpPr>
        <p:grpSpPr>
          <a:xfrm rot="0">
            <a:off x="4950458" y="2347575"/>
            <a:ext cx="7268733" cy="1860483"/>
            <a:chOff x="0" y="0"/>
            <a:chExt cx="9691644" cy="2480644"/>
          </a:xfrm>
        </p:grpSpPr>
        <p:sp>
          <p:nvSpPr>
            <p:cNvPr name="Freeform 9" id="9"/>
            <p:cNvSpPr/>
            <p:nvPr/>
          </p:nvSpPr>
          <p:spPr>
            <a:xfrm flipH="false" flipV="false" rot="0">
              <a:off x="0" y="0"/>
              <a:ext cx="9691624" cy="2480691"/>
            </a:xfrm>
            <a:custGeom>
              <a:avLst/>
              <a:gdLst/>
              <a:ahLst/>
              <a:cxnLst/>
              <a:rect r="r" b="b" t="t" l="l"/>
              <a:pathLst>
                <a:path h="2480691" w="9691624">
                  <a:moveTo>
                    <a:pt x="0" y="0"/>
                  </a:moveTo>
                  <a:lnTo>
                    <a:pt x="9691624" y="0"/>
                  </a:lnTo>
                  <a:lnTo>
                    <a:pt x="9691624" y="2480691"/>
                  </a:lnTo>
                  <a:lnTo>
                    <a:pt x="0" y="2480691"/>
                  </a:lnTo>
                  <a:lnTo>
                    <a:pt x="0" y="0"/>
                  </a:lnTo>
                  <a:close/>
                </a:path>
              </a:pathLst>
            </a:custGeom>
            <a:blipFill>
              <a:blip r:embed="rId2"/>
              <a:stretch>
                <a:fillRect l="0" t="-176" r="0" b="-174"/>
              </a:stretch>
            </a:blipFill>
          </p:spPr>
        </p:sp>
      </p:grpSp>
      <p:grpSp>
        <p:nvGrpSpPr>
          <p:cNvPr name="Group 10" id="10"/>
          <p:cNvGrpSpPr/>
          <p:nvPr/>
        </p:nvGrpSpPr>
        <p:grpSpPr>
          <a:xfrm rot="0">
            <a:off x="955357" y="9015413"/>
            <a:ext cx="19050" cy="19050"/>
            <a:chOff x="0" y="0"/>
            <a:chExt cx="25400" cy="25400"/>
          </a:xfrm>
        </p:grpSpPr>
        <p:sp>
          <p:nvSpPr>
            <p:cNvPr name="Freeform 11" id="11"/>
            <p:cNvSpPr/>
            <p:nvPr/>
          </p:nvSpPr>
          <p:spPr>
            <a:xfrm flipH="false" flipV="false" rot="0">
              <a:off x="0" y="0"/>
              <a:ext cx="25400" cy="25400"/>
            </a:xfrm>
            <a:custGeom>
              <a:avLst/>
              <a:gdLst/>
              <a:ahLst/>
              <a:cxnLst/>
              <a:rect r="r" b="b" t="t" l="l"/>
              <a:pathLst>
                <a:path h="25400" w="25400">
                  <a:moveTo>
                    <a:pt x="25400" y="8890"/>
                  </a:moveTo>
                  <a:cubicBezTo>
                    <a:pt x="15240" y="25400"/>
                    <a:pt x="5080" y="22860"/>
                    <a:pt x="2540" y="19050"/>
                  </a:cubicBezTo>
                  <a:cubicBezTo>
                    <a:pt x="0" y="15240"/>
                    <a:pt x="2540" y="5080"/>
                    <a:pt x="5080" y="2540"/>
                  </a:cubicBezTo>
                  <a:cubicBezTo>
                    <a:pt x="8890" y="0"/>
                    <a:pt x="21590" y="3810"/>
                    <a:pt x="21590" y="3810"/>
                  </a:cubicBezTo>
                </a:path>
              </a:pathLst>
            </a:custGeom>
            <a:solidFill>
              <a:srgbClr val="E7191F"/>
            </a:solidFill>
          </p:spPr>
        </p:sp>
      </p:grpSp>
      <p:grpSp>
        <p:nvGrpSpPr>
          <p:cNvPr name="Group 12" id="12"/>
          <p:cNvGrpSpPr/>
          <p:nvPr/>
        </p:nvGrpSpPr>
        <p:grpSpPr>
          <a:xfrm rot="0">
            <a:off x="3153728" y="5262563"/>
            <a:ext cx="19050" cy="19050"/>
            <a:chOff x="0" y="0"/>
            <a:chExt cx="25400" cy="25400"/>
          </a:xfrm>
        </p:grpSpPr>
        <p:sp>
          <p:nvSpPr>
            <p:cNvPr name="Freeform 13" id="13"/>
            <p:cNvSpPr/>
            <p:nvPr/>
          </p:nvSpPr>
          <p:spPr>
            <a:xfrm flipH="false" flipV="false" rot="0">
              <a:off x="0" y="0"/>
              <a:ext cx="25400" cy="25400"/>
            </a:xfrm>
            <a:custGeom>
              <a:avLst/>
              <a:gdLst/>
              <a:ahLst/>
              <a:cxnLst/>
              <a:rect r="r" b="b" t="t" l="l"/>
              <a:pathLst>
                <a:path h="25400" w="25400">
                  <a:moveTo>
                    <a:pt x="25400" y="8890"/>
                  </a:moveTo>
                  <a:cubicBezTo>
                    <a:pt x="15240" y="25400"/>
                    <a:pt x="5080" y="21590"/>
                    <a:pt x="2540" y="19050"/>
                  </a:cubicBezTo>
                  <a:cubicBezTo>
                    <a:pt x="0" y="15240"/>
                    <a:pt x="2540" y="5080"/>
                    <a:pt x="5080" y="2540"/>
                  </a:cubicBezTo>
                  <a:cubicBezTo>
                    <a:pt x="8890" y="0"/>
                    <a:pt x="22860" y="2540"/>
                    <a:pt x="22860" y="2540"/>
                  </a:cubicBezTo>
                </a:path>
              </a:pathLst>
            </a:custGeom>
            <a:solidFill>
              <a:srgbClr val="E7191F"/>
            </a:solidFill>
          </p:spPr>
        </p:sp>
      </p:grpSp>
      <p:grpSp>
        <p:nvGrpSpPr>
          <p:cNvPr name="Group 14" id="14"/>
          <p:cNvGrpSpPr/>
          <p:nvPr/>
        </p:nvGrpSpPr>
        <p:grpSpPr>
          <a:xfrm rot="0">
            <a:off x="3153728" y="5262563"/>
            <a:ext cx="19050" cy="19050"/>
            <a:chOff x="0" y="0"/>
            <a:chExt cx="25400" cy="25400"/>
          </a:xfrm>
        </p:grpSpPr>
        <p:sp>
          <p:nvSpPr>
            <p:cNvPr name="Freeform 15" id="15"/>
            <p:cNvSpPr/>
            <p:nvPr/>
          </p:nvSpPr>
          <p:spPr>
            <a:xfrm flipH="false" flipV="false" rot="0">
              <a:off x="0" y="0"/>
              <a:ext cx="25400" cy="25400"/>
            </a:xfrm>
            <a:custGeom>
              <a:avLst/>
              <a:gdLst/>
              <a:ahLst/>
              <a:cxnLst/>
              <a:rect r="r" b="b" t="t" l="l"/>
              <a:pathLst>
                <a:path h="25400" w="25400">
                  <a:moveTo>
                    <a:pt x="25400" y="8890"/>
                  </a:moveTo>
                  <a:cubicBezTo>
                    <a:pt x="15240" y="25400"/>
                    <a:pt x="5080" y="21590"/>
                    <a:pt x="2540" y="19050"/>
                  </a:cubicBezTo>
                  <a:cubicBezTo>
                    <a:pt x="0" y="15240"/>
                    <a:pt x="2540" y="5080"/>
                    <a:pt x="5080" y="2540"/>
                  </a:cubicBezTo>
                  <a:cubicBezTo>
                    <a:pt x="8890" y="0"/>
                    <a:pt x="22860" y="2540"/>
                    <a:pt x="22860" y="2540"/>
                  </a:cubicBezTo>
                </a:path>
              </a:pathLst>
            </a:custGeom>
            <a:solidFill>
              <a:srgbClr val="E7191F"/>
            </a:solidFill>
          </p:spPr>
        </p:sp>
      </p:grpSp>
      <p:grpSp>
        <p:nvGrpSpPr>
          <p:cNvPr name="Group 16" id="16"/>
          <p:cNvGrpSpPr/>
          <p:nvPr/>
        </p:nvGrpSpPr>
        <p:grpSpPr>
          <a:xfrm rot="0">
            <a:off x="3153728" y="5262563"/>
            <a:ext cx="19050" cy="19050"/>
            <a:chOff x="0" y="0"/>
            <a:chExt cx="25400" cy="25400"/>
          </a:xfrm>
        </p:grpSpPr>
        <p:sp>
          <p:nvSpPr>
            <p:cNvPr name="Freeform 17" id="17"/>
            <p:cNvSpPr/>
            <p:nvPr/>
          </p:nvSpPr>
          <p:spPr>
            <a:xfrm flipH="false" flipV="false" rot="0">
              <a:off x="0" y="0"/>
              <a:ext cx="25400" cy="25400"/>
            </a:xfrm>
            <a:custGeom>
              <a:avLst/>
              <a:gdLst/>
              <a:ahLst/>
              <a:cxnLst/>
              <a:rect r="r" b="b" t="t" l="l"/>
              <a:pathLst>
                <a:path h="25400" w="25400">
                  <a:moveTo>
                    <a:pt x="25400" y="8890"/>
                  </a:moveTo>
                  <a:cubicBezTo>
                    <a:pt x="15240" y="25400"/>
                    <a:pt x="5080" y="21590"/>
                    <a:pt x="2540" y="19050"/>
                  </a:cubicBezTo>
                  <a:cubicBezTo>
                    <a:pt x="0" y="15240"/>
                    <a:pt x="2540" y="5080"/>
                    <a:pt x="5080" y="2540"/>
                  </a:cubicBezTo>
                  <a:cubicBezTo>
                    <a:pt x="8890" y="0"/>
                    <a:pt x="22860" y="2540"/>
                    <a:pt x="22860" y="2540"/>
                  </a:cubicBezTo>
                </a:path>
              </a:pathLst>
            </a:custGeom>
            <a:solidFill>
              <a:srgbClr val="E7191F"/>
            </a:solidFill>
          </p:spPr>
        </p:sp>
      </p:grpSp>
      <p:grpSp>
        <p:nvGrpSpPr>
          <p:cNvPr name="Group 18" id="18"/>
          <p:cNvGrpSpPr/>
          <p:nvPr/>
        </p:nvGrpSpPr>
        <p:grpSpPr>
          <a:xfrm rot="0">
            <a:off x="3336986" y="639111"/>
            <a:ext cx="13628197" cy="1664970"/>
            <a:chOff x="0" y="0"/>
            <a:chExt cx="18170929" cy="2219960"/>
          </a:xfrm>
        </p:grpSpPr>
        <p:sp>
          <p:nvSpPr>
            <p:cNvPr name="Freeform 19" id="19"/>
            <p:cNvSpPr/>
            <p:nvPr/>
          </p:nvSpPr>
          <p:spPr>
            <a:xfrm flipH="false" flipV="false" rot="0">
              <a:off x="0" y="0"/>
              <a:ext cx="18170930" cy="2219960"/>
            </a:xfrm>
            <a:custGeom>
              <a:avLst/>
              <a:gdLst/>
              <a:ahLst/>
              <a:cxnLst/>
              <a:rect r="r" b="b" t="t" l="l"/>
              <a:pathLst>
                <a:path h="2219960" w="18170930">
                  <a:moveTo>
                    <a:pt x="0" y="0"/>
                  </a:moveTo>
                  <a:lnTo>
                    <a:pt x="18170930" y="0"/>
                  </a:lnTo>
                  <a:lnTo>
                    <a:pt x="18170930" y="2219960"/>
                  </a:lnTo>
                  <a:lnTo>
                    <a:pt x="0" y="2219960"/>
                  </a:lnTo>
                  <a:close/>
                </a:path>
              </a:pathLst>
            </a:custGeom>
            <a:solidFill>
              <a:srgbClr val="000000">
                <a:alpha val="0"/>
              </a:srgbClr>
            </a:solidFill>
          </p:spPr>
        </p:sp>
        <p:sp>
          <p:nvSpPr>
            <p:cNvPr name="TextBox 20" id="20"/>
            <p:cNvSpPr txBox="true"/>
            <p:nvPr/>
          </p:nvSpPr>
          <p:spPr>
            <a:xfrm>
              <a:off x="0" y="28575"/>
              <a:ext cx="18170929" cy="2191385"/>
            </a:xfrm>
            <a:prstGeom prst="rect">
              <a:avLst/>
            </a:prstGeom>
          </p:spPr>
          <p:txBody>
            <a:bodyPr anchor="t" rtlCol="false" tIns="0" lIns="0" bIns="0" rIns="0"/>
            <a:lstStyle/>
            <a:p>
              <a:pPr algn="ctr">
                <a:lnSpc>
                  <a:spcPts val="7013"/>
                </a:lnSpc>
              </a:pPr>
              <a:r>
                <a:rPr lang="en-US" b="true" sz="6679" spc="332">
                  <a:solidFill>
                    <a:srgbClr val="2B4A9D"/>
                  </a:solidFill>
                  <a:latin typeface="Poppins Bold"/>
                  <a:ea typeface="Poppins Bold"/>
                  <a:cs typeface="Poppins Bold"/>
                  <a:sym typeface="Poppins Bold"/>
                </a:rPr>
                <a:t>RDI (derecha - izquierda</a:t>
              </a:r>
            </a:p>
          </p:txBody>
        </p:sp>
      </p:grpSp>
      <p:grpSp>
        <p:nvGrpSpPr>
          <p:cNvPr name="Group 21" id="21"/>
          <p:cNvGrpSpPr/>
          <p:nvPr/>
        </p:nvGrpSpPr>
        <p:grpSpPr>
          <a:xfrm rot="0">
            <a:off x="13461146" y="4512600"/>
            <a:ext cx="4342980" cy="5123339"/>
            <a:chOff x="0" y="0"/>
            <a:chExt cx="5790640" cy="6831119"/>
          </a:xfrm>
        </p:grpSpPr>
        <p:sp>
          <p:nvSpPr>
            <p:cNvPr name="Freeform 22" id="22"/>
            <p:cNvSpPr/>
            <p:nvPr/>
          </p:nvSpPr>
          <p:spPr>
            <a:xfrm flipH="false" flipV="false" rot="0">
              <a:off x="0" y="0"/>
              <a:ext cx="5790640" cy="6831119"/>
            </a:xfrm>
            <a:custGeom>
              <a:avLst/>
              <a:gdLst/>
              <a:ahLst/>
              <a:cxnLst/>
              <a:rect r="r" b="b" t="t" l="l"/>
              <a:pathLst>
                <a:path h="6831119" w="5790640">
                  <a:moveTo>
                    <a:pt x="0" y="0"/>
                  </a:moveTo>
                  <a:lnTo>
                    <a:pt x="5790640" y="0"/>
                  </a:lnTo>
                  <a:lnTo>
                    <a:pt x="5790640" y="6831119"/>
                  </a:lnTo>
                  <a:lnTo>
                    <a:pt x="0" y="6831119"/>
                  </a:lnTo>
                  <a:close/>
                </a:path>
              </a:pathLst>
            </a:custGeom>
            <a:solidFill>
              <a:srgbClr val="000000">
                <a:alpha val="0"/>
              </a:srgbClr>
            </a:solidFill>
          </p:spPr>
        </p:sp>
        <p:sp>
          <p:nvSpPr>
            <p:cNvPr name="TextBox 23" id="23"/>
            <p:cNvSpPr txBox="true"/>
            <p:nvPr/>
          </p:nvSpPr>
          <p:spPr>
            <a:xfrm>
              <a:off x="0" y="-38100"/>
              <a:ext cx="5790640" cy="6869219"/>
            </a:xfrm>
            <a:prstGeom prst="rect">
              <a:avLst/>
            </a:prstGeom>
          </p:spPr>
          <p:txBody>
            <a:bodyPr anchor="t" rtlCol="false" tIns="0" lIns="0" bIns="0" rIns="0"/>
            <a:lstStyle/>
            <a:p>
              <a:pPr algn="l" marL="558969" indent="-186323" lvl="2">
                <a:lnSpc>
                  <a:spcPts val="3423"/>
                </a:lnSpc>
                <a:buFont typeface="Arial"/>
                <a:buChar char="⚬"/>
              </a:pPr>
              <a:r>
                <a:rPr lang="en-US" sz="2444">
                  <a:solidFill>
                    <a:srgbClr val="FFFFFF"/>
                  </a:solidFill>
                  <a:latin typeface="Canva Sans"/>
                  <a:ea typeface="Canva Sans"/>
                  <a:cs typeface="Canva Sans"/>
                  <a:sym typeface="Canva Sans"/>
                </a:rPr>
                <a:t>Si esta desequilibrado a la izquierda (Factor &gt; +1), y su hijo derecho tiene distinto signo (–) hacemos rotación doble derecha-izquierda.</a:t>
              </a:r>
            </a:p>
            <a:p>
              <a:pPr algn="l" marL="558969" indent="-186323" lvl="2">
                <a:lnSpc>
                  <a:spcPts val="3423"/>
                </a:lnSpc>
                <a:buFont typeface="Arial"/>
                <a:buChar char="⚬"/>
              </a:pPr>
              <a:r>
                <a:rPr lang="en-US" sz="2444">
                  <a:solidFill>
                    <a:srgbClr val="FFFFFF"/>
                  </a:solidFill>
                  <a:latin typeface="Canva Sans"/>
                  <a:ea typeface="Canva Sans"/>
                  <a:cs typeface="Canva Sans"/>
                  <a:sym typeface="Canva Sans"/>
                </a:rPr>
                <a:t>Hay movimientos de los 3 nodos</a:t>
              </a:r>
            </a:p>
            <a:p>
              <a:pPr algn="l" marL="558969" indent="-186323" lvl="2">
                <a:lnSpc>
                  <a:spcPts val="3423"/>
                </a:lnSpc>
                <a:buFont typeface="Arial"/>
                <a:buChar char="⚬"/>
              </a:pPr>
              <a:r>
                <a:rPr lang="en-US" sz="2444">
                  <a:solidFill>
                    <a:srgbClr val="FFFFFF"/>
                  </a:solidFill>
                  <a:latin typeface="Canva Sans"/>
                  <a:ea typeface="Canva Sans"/>
                  <a:cs typeface="Canva Sans"/>
                  <a:sym typeface="Canva Sans"/>
                </a:rPr>
                <a:t>El nodo raíz siempre es el nodo descendiente del nodo descendiente</a:t>
              </a:r>
            </a:p>
            <a:p>
              <a:pPr algn="l" marL="558969" indent="-186323" lvl="2">
                <a:lnSpc>
                  <a:spcPts val="3423"/>
                </a:lnSpc>
              </a:pPr>
            </a:p>
          </p:txBody>
        </p:sp>
      </p:grpSp>
      <p:sp>
        <p:nvSpPr>
          <p:cNvPr name="Freeform 24" id="24"/>
          <p:cNvSpPr/>
          <p:nvPr/>
        </p:nvSpPr>
        <p:spPr>
          <a:xfrm flipH="false" flipV="false" rot="0">
            <a:off x="580063" y="4610917"/>
            <a:ext cx="8983382" cy="2043430"/>
          </a:xfrm>
          <a:custGeom>
            <a:avLst/>
            <a:gdLst/>
            <a:ahLst/>
            <a:cxnLst/>
            <a:rect r="r" b="b" t="t" l="l"/>
            <a:pathLst>
              <a:path h="2043430" w="8983382">
                <a:moveTo>
                  <a:pt x="0" y="0"/>
                </a:moveTo>
                <a:lnTo>
                  <a:pt x="8983382" y="0"/>
                </a:lnTo>
                <a:lnTo>
                  <a:pt x="8983382" y="2043431"/>
                </a:lnTo>
                <a:lnTo>
                  <a:pt x="0" y="2043431"/>
                </a:lnTo>
                <a:lnTo>
                  <a:pt x="0" y="0"/>
                </a:lnTo>
                <a:close/>
              </a:path>
            </a:pathLst>
          </a:custGeom>
          <a:blipFill>
            <a:blip r:embed="rId3"/>
            <a:stretch>
              <a:fillRect l="0" t="0" r="0" b="0"/>
            </a:stretch>
          </a:blipFill>
        </p:spPr>
      </p:sp>
      <p:sp>
        <p:nvSpPr>
          <p:cNvPr name="Freeform 25" id="25"/>
          <p:cNvSpPr/>
          <p:nvPr/>
        </p:nvSpPr>
        <p:spPr>
          <a:xfrm flipH="false" flipV="false" rot="0">
            <a:off x="580063" y="7440300"/>
            <a:ext cx="9009690" cy="2195639"/>
          </a:xfrm>
          <a:custGeom>
            <a:avLst/>
            <a:gdLst/>
            <a:ahLst/>
            <a:cxnLst/>
            <a:rect r="r" b="b" t="t" l="l"/>
            <a:pathLst>
              <a:path h="2195639" w="9009690">
                <a:moveTo>
                  <a:pt x="0" y="0"/>
                </a:moveTo>
                <a:lnTo>
                  <a:pt x="9009690" y="0"/>
                </a:lnTo>
                <a:lnTo>
                  <a:pt x="9009690" y="2195639"/>
                </a:lnTo>
                <a:lnTo>
                  <a:pt x="0" y="2195639"/>
                </a:lnTo>
                <a:lnTo>
                  <a:pt x="0" y="0"/>
                </a:lnTo>
                <a:close/>
              </a:path>
            </a:pathLst>
          </a:custGeom>
          <a:blipFill>
            <a:blip r:embed="rId4"/>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07390" y="762000"/>
            <a:ext cx="13503300" cy="1300125"/>
          </a:xfrm>
          <a:prstGeom prst="rect">
            <a:avLst/>
          </a:prstGeom>
        </p:spPr>
        <p:txBody>
          <a:bodyPr anchor="t" rtlCol="false" tIns="0" lIns="0" bIns="0" rIns="0">
            <a:spAutoFit/>
          </a:bodyPr>
          <a:lstStyle/>
          <a:p>
            <a:pPr algn="ctr">
              <a:lnSpc>
                <a:spcPts val="9356"/>
              </a:lnSpc>
            </a:pPr>
            <a:r>
              <a:rPr lang="en-US" sz="6900">
                <a:solidFill>
                  <a:srgbClr val="131416"/>
                </a:solidFill>
                <a:latin typeface="Impact"/>
                <a:ea typeface="Impact"/>
                <a:cs typeface="Impact"/>
                <a:sym typeface="Impact"/>
              </a:rPr>
              <a:t>CONCEPTOS CLAVE APRENDIDOS </a:t>
            </a:r>
          </a:p>
        </p:txBody>
      </p:sp>
      <p:sp>
        <p:nvSpPr>
          <p:cNvPr name="TextBox 3" id="3"/>
          <p:cNvSpPr txBox="true"/>
          <p:nvPr/>
        </p:nvSpPr>
        <p:spPr>
          <a:xfrm rot="0">
            <a:off x="6072716" y="3794395"/>
            <a:ext cx="5812805" cy="2916476"/>
          </a:xfrm>
          <a:prstGeom prst="rect">
            <a:avLst/>
          </a:prstGeom>
        </p:spPr>
        <p:txBody>
          <a:bodyPr anchor="t" rtlCol="false" tIns="0" lIns="0" bIns="0" rIns="0">
            <a:spAutoFit/>
          </a:bodyPr>
          <a:lstStyle/>
          <a:p>
            <a:pPr algn="just" marL="777925" indent="-259308" lvl="2">
              <a:lnSpc>
                <a:spcPts val="5717"/>
              </a:lnSpc>
              <a:buFont typeface="Arial"/>
              <a:buChar char="⚬"/>
            </a:pPr>
            <a:r>
              <a:rPr lang="en-US" sz="3402">
                <a:solidFill>
                  <a:srgbClr val="131416"/>
                </a:solidFill>
                <a:latin typeface="Arial MT Pro"/>
                <a:ea typeface="Arial MT Pro"/>
                <a:cs typeface="Arial MT Pro"/>
                <a:sym typeface="Arial MT Pro"/>
              </a:rPr>
              <a:t>Arbol</a:t>
            </a:r>
          </a:p>
          <a:p>
            <a:pPr algn="just" marL="777925" indent="-259308" lvl="2">
              <a:lnSpc>
                <a:spcPts val="5717"/>
              </a:lnSpc>
              <a:buFont typeface="Arial"/>
              <a:buChar char="⚬"/>
            </a:pPr>
            <a:r>
              <a:rPr lang="en-US" sz="3402">
                <a:solidFill>
                  <a:srgbClr val="131416"/>
                </a:solidFill>
                <a:latin typeface="Arial MT Pro"/>
                <a:ea typeface="Arial MT Pro"/>
                <a:cs typeface="Arial MT Pro"/>
                <a:sym typeface="Arial MT Pro"/>
              </a:rPr>
              <a:t>Recorridos de arbol</a:t>
            </a:r>
          </a:p>
          <a:p>
            <a:pPr algn="just" marL="777925" indent="-259308" lvl="2">
              <a:lnSpc>
                <a:spcPts val="5717"/>
              </a:lnSpc>
              <a:buFont typeface="Arial"/>
              <a:buChar char="⚬"/>
            </a:pPr>
            <a:r>
              <a:rPr lang="en-US" sz="3402">
                <a:solidFill>
                  <a:srgbClr val="131416"/>
                </a:solidFill>
                <a:latin typeface="Arial MT Pro"/>
                <a:ea typeface="Arial MT Pro"/>
                <a:cs typeface="Arial MT Pro"/>
                <a:sym typeface="Arial MT Pro"/>
              </a:rPr>
              <a:t>Arbol AVL</a:t>
            </a:r>
          </a:p>
          <a:p>
            <a:pPr algn="just" marL="777998" indent="-259333" lvl="2">
              <a:lnSpc>
                <a:spcPts val="5718"/>
              </a:lnSpc>
              <a:buFont typeface="Arial"/>
              <a:buChar char="⚬"/>
            </a:pPr>
            <a:r>
              <a:rPr lang="en-US" sz="3403">
                <a:solidFill>
                  <a:srgbClr val="131416"/>
                </a:solidFill>
                <a:latin typeface="Arial MT Pro"/>
                <a:ea typeface="Arial MT Pro"/>
                <a:cs typeface="Arial MT Pro"/>
                <a:sym typeface="Arial MT Pro"/>
              </a:rPr>
              <a:t>Recorridos de arbol</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919291" y="2562863"/>
            <a:ext cx="6695437" cy="6695437"/>
          </a:xfrm>
          <a:custGeom>
            <a:avLst/>
            <a:gdLst/>
            <a:ahLst/>
            <a:cxnLst/>
            <a:rect r="r" b="b" t="t" l="l"/>
            <a:pathLst>
              <a:path h="6695437" w="6695437">
                <a:moveTo>
                  <a:pt x="0" y="0"/>
                </a:moveTo>
                <a:lnTo>
                  <a:pt x="6695437" y="0"/>
                </a:lnTo>
                <a:lnTo>
                  <a:pt x="6695437" y="6695437"/>
                </a:lnTo>
                <a:lnTo>
                  <a:pt x="0" y="6695437"/>
                </a:lnTo>
                <a:lnTo>
                  <a:pt x="0" y="0"/>
                </a:lnTo>
                <a:close/>
              </a:path>
            </a:pathLst>
          </a:custGeom>
          <a:blipFill>
            <a:blip r:embed="rId3"/>
            <a:stretch>
              <a:fillRect l="0" t="0" r="0" b="0"/>
            </a:stretch>
          </a:blipFill>
        </p:spPr>
      </p:sp>
      <p:sp>
        <p:nvSpPr>
          <p:cNvPr name="TextBox 3" id="3"/>
          <p:cNvSpPr txBox="true"/>
          <p:nvPr/>
        </p:nvSpPr>
        <p:spPr>
          <a:xfrm rot="0">
            <a:off x="2507390" y="762000"/>
            <a:ext cx="13503300" cy="1300125"/>
          </a:xfrm>
          <a:prstGeom prst="rect">
            <a:avLst/>
          </a:prstGeom>
        </p:spPr>
        <p:txBody>
          <a:bodyPr anchor="t" rtlCol="false" tIns="0" lIns="0" bIns="0" rIns="0">
            <a:spAutoFit/>
          </a:bodyPr>
          <a:lstStyle/>
          <a:p>
            <a:pPr algn="ctr">
              <a:lnSpc>
                <a:spcPts val="9356"/>
              </a:lnSpc>
            </a:pPr>
            <a:r>
              <a:rPr lang="en-US" sz="6900">
                <a:solidFill>
                  <a:srgbClr val="131416"/>
                </a:solidFill>
                <a:latin typeface="Impact"/>
                <a:ea typeface="Impact"/>
                <a:cs typeface="Impact"/>
                <a:sym typeface="Impact"/>
              </a:rPr>
              <a:t>NOMBRE DEL VALOR</a:t>
            </a:r>
          </a:p>
        </p:txBody>
      </p:sp>
      <p:sp>
        <p:nvSpPr>
          <p:cNvPr name="TextBox 4" id="4"/>
          <p:cNvSpPr txBox="true"/>
          <p:nvPr/>
        </p:nvSpPr>
        <p:spPr>
          <a:xfrm rot="0">
            <a:off x="626469" y="2146227"/>
            <a:ext cx="7874701" cy="1606565"/>
          </a:xfrm>
          <a:prstGeom prst="rect">
            <a:avLst/>
          </a:prstGeom>
        </p:spPr>
        <p:txBody>
          <a:bodyPr anchor="t" rtlCol="false" tIns="0" lIns="0" bIns="0" rIns="0">
            <a:spAutoFit/>
          </a:bodyPr>
          <a:lstStyle/>
          <a:p>
            <a:pPr algn="ctr">
              <a:lnSpc>
                <a:spcPts val="13400"/>
              </a:lnSpc>
            </a:pPr>
            <a:r>
              <a:rPr lang="en-US" sz="7975">
                <a:solidFill>
                  <a:srgbClr val="3A53BF"/>
                </a:solidFill>
                <a:latin typeface="Arial"/>
                <a:ea typeface="Arial"/>
                <a:cs typeface="Arial"/>
                <a:sym typeface="Arial"/>
              </a:rPr>
              <a:t>Eficiencia</a:t>
            </a:r>
          </a:p>
        </p:txBody>
      </p:sp>
      <p:sp>
        <p:nvSpPr>
          <p:cNvPr name="TextBox 5" id="5"/>
          <p:cNvSpPr txBox="true"/>
          <p:nvPr/>
        </p:nvSpPr>
        <p:spPr>
          <a:xfrm rot="0">
            <a:off x="1028700" y="4838193"/>
            <a:ext cx="7487699" cy="1780459"/>
          </a:xfrm>
          <a:prstGeom prst="rect">
            <a:avLst/>
          </a:prstGeom>
        </p:spPr>
        <p:txBody>
          <a:bodyPr anchor="t" rtlCol="false" tIns="0" lIns="0" bIns="0" rIns="0">
            <a:spAutoFit/>
          </a:bodyPr>
          <a:lstStyle/>
          <a:p>
            <a:pPr algn="ctr">
              <a:lnSpc>
                <a:spcPts val="4759"/>
              </a:lnSpc>
            </a:pPr>
            <a:r>
              <a:rPr lang="en-US" sz="3399">
                <a:solidFill>
                  <a:srgbClr val="000000"/>
                </a:solidFill>
                <a:latin typeface="Open Sans 2"/>
                <a:ea typeface="Open Sans 2"/>
                <a:cs typeface="Open Sans 2"/>
                <a:sym typeface="Open Sans 2"/>
              </a:rPr>
              <a:t>Siempre hay que hacer las cosas bien en nuestras actividades (tareas, proyectos, practicas)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507390" y="762000"/>
            <a:ext cx="13503300" cy="1300125"/>
          </a:xfrm>
          <a:prstGeom prst="rect">
            <a:avLst/>
          </a:prstGeom>
        </p:spPr>
        <p:txBody>
          <a:bodyPr anchor="t" rtlCol="false" tIns="0" lIns="0" bIns="0" rIns="0">
            <a:spAutoFit/>
          </a:bodyPr>
          <a:lstStyle/>
          <a:p>
            <a:pPr algn="ctr">
              <a:lnSpc>
                <a:spcPts val="9356"/>
              </a:lnSpc>
            </a:pPr>
            <a:r>
              <a:rPr lang="en-US" sz="6900">
                <a:solidFill>
                  <a:srgbClr val="131416"/>
                </a:solidFill>
                <a:latin typeface="Impact"/>
                <a:ea typeface="Impact"/>
                <a:cs typeface="Impact"/>
                <a:sym typeface="Impact"/>
              </a:rPr>
              <a:t>REFERENCIAS </a:t>
            </a:r>
          </a:p>
        </p:txBody>
      </p:sp>
      <p:grpSp>
        <p:nvGrpSpPr>
          <p:cNvPr name="Group 3" id="3"/>
          <p:cNvGrpSpPr>
            <a:grpSpLocks noChangeAspect="true"/>
          </p:cNvGrpSpPr>
          <p:nvPr/>
        </p:nvGrpSpPr>
        <p:grpSpPr>
          <a:xfrm rot="0">
            <a:off x="0" y="0"/>
            <a:ext cx="7000174" cy="4361449"/>
            <a:chOff x="0" y="0"/>
            <a:chExt cx="9333565" cy="5815265"/>
          </a:xfrm>
        </p:grpSpPr>
        <p:sp>
          <p:nvSpPr>
            <p:cNvPr name="Freeform 4" id="4"/>
            <p:cNvSpPr/>
            <p:nvPr/>
          </p:nvSpPr>
          <p:spPr>
            <a:xfrm flipH="false" flipV="false" rot="0">
              <a:off x="0" y="0"/>
              <a:ext cx="9333611" cy="5815203"/>
            </a:xfrm>
            <a:custGeom>
              <a:avLst/>
              <a:gdLst/>
              <a:ahLst/>
              <a:cxnLst/>
              <a:rect r="r" b="b" t="t" l="l"/>
              <a:pathLst>
                <a:path h="5815203" w="9333611">
                  <a:moveTo>
                    <a:pt x="0" y="0"/>
                  </a:moveTo>
                  <a:lnTo>
                    <a:pt x="9333611" y="0"/>
                  </a:lnTo>
                  <a:lnTo>
                    <a:pt x="9333611" y="5815203"/>
                  </a:lnTo>
                  <a:lnTo>
                    <a:pt x="0" y="5815203"/>
                  </a:lnTo>
                  <a:lnTo>
                    <a:pt x="0" y="0"/>
                  </a:lnTo>
                  <a:close/>
                </a:path>
              </a:pathLst>
            </a:custGeom>
            <a:blipFill>
              <a:blip r:embed="rId3"/>
              <a:stretch>
                <a:fillRect l="0" t="0" r="0" b="-1"/>
              </a:stretch>
            </a:blipFill>
          </p:spPr>
        </p:sp>
      </p:grpSp>
      <p:sp>
        <p:nvSpPr>
          <p:cNvPr name="TextBox 5" id="5"/>
          <p:cNvSpPr txBox="true"/>
          <p:nvPr/>
        </p:nvSpPr>
        <p:spPr>
          <a:xfrm rot="0">
            <a:off x="6264717" y="4037930"/>
            <a:ext cx="5758566" cy="580363"/>
          </a:xfrm>
          <a:prstGeom prst="rect">
            <a:avLst/>
          </a:prstGeom>
        </p:spPr>
        <p:txBody>
          <a:bodyPr anchor="t" rtlCol="false" tIns="0" lIns="0" bIns="0" rIns="0">
            <a:spAutoFit/>
          </a:bodyPr>
          <a:lstStyle/>
          <a:p>
            <a:pPr algn="ctr">
              <a:lnSpc>
                <a:spcPts val="4759"/>
              </a:lnSpc>
            </a:pPr>
            <a:r>
              <a:rPr lang="en-US" sz="3399" u="sng">
                <a:solidFill>
                  <a:srgbClr val="131416"/>
                </a:solidFill>
                <a:latin typeface="Open Sans 2"/>
                <a:ea typeface="Open Sans 2"/>
                <a:cs typeface="Open Sans 2"/>
                <a:sym typeface="Open Sans 2"/>
                <a:hlinkClick r:id="rId4" tooltip="https://www.cs.usfca.edu/~galles/visualization/BST.html"/>
              </a:rPr>
              <a:t>Visualizador de árbol binario</a:t>
            </a:r>
          </a:p>
        </p:txBody>
      </p:sp>
      <p:sp>
        <p:nvSpPr>
          <p:cNvPr name="TextBox 6" id="6"/>
          <p:cNvSpPr txBox="true"/>
          <p:nvPr/>
        </p:nvSpPr>
        <p:spPr>
          <a:xfrm rot="0">
            <a:off x="8185276" y="5076825"/>
            <a:ext cx="1917447" cy="580363"/>
          </a:xfrm>
          <a:prstGeom prst="rect">
            <a:avLst/>
          </a:prstGeom>
        </p:spPr>
        <p:txBody>
          <a:bodyPr anchor="t" rtlCol="false" tIns="0" lIns="0" bIns="0" rIns="0">
            <a:spAutoFit/>
          </a:bodyPr>
          <a:lstStyle/>
          <a:p>
            <a:pPr algn="ctr">
              <a:lnSpc>
                <a:spcPts val="4759"/>
              </a:lnSpc>
            </a:pPr>
            <a:r>
              <a:rPr lang="en-US" sz="3399" u="sng">
                <a:solidFill>
                  <a:srgbClr val="131416"/>
                </a:solidFill>
                <a:latin typeface="Open Sans 2"/>
                <a:ea typeface="Open Sans 2"/>
                <a:cs typeface="Open Sans 2"/>
                <a:sym typeface="Open Sans 2"/>
                <a:hlinkClick r:id="rId5" tooltip="https://conclase.net/c/edd/cap8"/>
              </a:rPr>
              <a:t>árbol AVL</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568321" y="4185771"/>
            <a:ext cx="13991100" cy="1148250"/>
          </a:xfrm>
          <a:prstGeom prst="rect">
            <a:avLst/>
          </a:prstGeom>
        </p:spPr>
        <p:txBody>
          <a:bodyPr anchor="t" rtlCol="false" tIns="0" lIns="0" bIns="0" rIns="0">
            <a:spAutoFit/>
          </a:bodyPr>
          <a:lstStyle/>
          <a:p>
            <a:pPr algn="ctr">
              <a:lnSpc>
                <a:spcPts val="8267"/>
              </a:lnSpc>
            </a:pPr>
            <a:r>
              <a:rPr lang="en-US" sz="6098">
                <a:solidFill>
                  <a:srgbClr val="131416"/>
                </a:solidFill>
                <a:latin typeface="Impact"/>
                <a:ea typeface="Impact"/>
                <a:cs typeface="Impact"/>
                <a:sym typeface="Impact"/>
              </a:rPr>
              <a:t>Ejemplo práctico</a:t>
            </a:r>
          </a:p>
        </p:txBody>
      </p:sp>
      <p:grpSp>
        <p:nvGrpSpPr>
          <p:cNvPr name="Group 3" id="3"/>
          <p:cNvGrpSpPr>
            <a:grpSpLocks noChangeAspect="true"/>
          </p:cNvGrpSpPr>
          <p:nvPr/>
        </p:nvGrpSpPr>
        <p:grpSpPr>
          <a:xfrm rot="0">
            <a:off x="0" y="3"/>
            <a:ext cx="4695574" cy="6434676"/>
            <a:chOff x="0" y="0"/>
            <a:chExt cx="6260765" cy="8579568"/>
          </a:xfrm>
        </p:grpSpPr>
        <p:sp>
          <p:nvSpPr>
            <p:cNvPr name="Freeform 4" id="4"/>
            <p:cNvSpPr/>
            <p:nvPr/>
          </p:nvSpPr>
          <p:spPr>
            <a:xfrm flipH="false" flipV="false" rot="0">
              <a:off x="0" y="0"/>
              <a:ext cx="6260719" cy="8579612"/>
            </a:xfrm>
            <a:custGeom>
              <a:avLst/>
              <a:gdLst/>
              <a:ahLst/>
              <a:cxnLst/>
              <a:rect r="r" b="b" t="t" l="l"/>
              <a:pathLst>
                <a:path h="8579612" w="6260719">
                  <a:moveTo>
                    <a:pt x="0" y="0"/>
                  </a:moveTo>
                  <a:lnTo>
                    <a:pt x="6260719" y="0"/>
                  </a:lnTo>
                  <a:lnTo>
                    <a:pt x="6260719" y="8579612"/>
                  </a:lnTo>
                  <a:lnTo>
                    <a:pt x="0" y="8579612"/>
                  </a:lnTo>
                  <a:lnTo>
                    <a:pt x="0" y="0"/>
                  </a:lnTo>
                  <a:close/>
                </a:path>
              </a:pathLst>
            </a:custGeom>
            <a:blipFill>
              <a:blip r:embed="rId3"/>
              <a:stretch>
                <a:fillRect l="0" t="0" r="0" b="0"/>
              </a:stretch>
            </a:blipFill>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148439" y="3868264"/>
            <a:ext cx="13991100" cy="1148250"/>
          </a:xfrm>
          <a:prstGeom prst="rect">
            <a:avLst/>
          </a:prstGeom>
        </p:spPr>
        <p:txBody>
          <a:bodyPr anchor="t" rtlCol="false" tIns="0" lIns="0" bIns="0" rIns="0">
            <a:spAutoFit/>
          </a:bodyPr>
          <a:lstStyle/>
          <a:p>
            <a:pPr algn="ctr">
              <a:lnSpc>
                <a:spcPts val="8267"/>
              </a:lnSpc>
            </a:pPr>
            <a:r>
              <a:rPr lang="en-US" sz="6098">
                <a:solidFill>
                  <a:srgbClr val="131416"/>
                </a:solidFill>
                <a:latin typeface="Impact"/>
                <a:ea typeface="Impact"/>
                <a:cs typeface="Impact"/>
                <a:sym typeface="Impact"/>
              </a:rPr>
              <a:t>Practiquemos lo aprendido</a:t>
            </a:r>
          </a:p>
        </p:txBody>
      </p:sp>
      <p:grpSp>
        <p:nvGrpSpPr>
          <p:cNvPr name="Group 3" id="3"/>
          <p:cNvGrpSpPr>
            <a:grpSpLocks noChangeAspect="true"/>
          </p:cNvGrpSpPr>
          <p:nvPr/>
        </p:nvGrpSpPr>
        <p:grpSpPr>
          <a:xfrm rot="0">
            <a:off x="0" y="-5"/>
            <a:ext cx="4077824" cy="4077824"/>
            <a:chOff x="0" y="0"/>
            <a:chExt cx="5437099" cy="5437099"/>
          </a:xfrm>
        </p:grpSpPr>
        <p:sp>
          <p:nvSpPr>
            <p:cNvPr name="Freeform 4" id="4"/>
            <p:cNvSpPr/>
            <p:nvPr/>
          </p:nvSpPr>
          <p:spPr>
            <a:xfrm flipH="false" flipV="false" rot="0">
              <a:off x="0" y="0"/>
              <a:ext cx="5437124" cy="5437124"/>
            </a:xfrm>
            <a:custGeom>
              <a:avLst/>
              <a:gdLst/>
              <a:ahLst/>
              <a:cxnLst/>
              <a:rect r="r" b="b" t="t" l="l"/>
              <a:pathLst>
                <a:path h="5437124" w="5437124">
                  <a:moveTo>
                    <a:pt x="0" y="0"/>
                  </a:moveTo>
                  <a:lnTo>
                    <a:pt x="5437124" y="0"/>
                  </a:lnTo>
                  <a:lnTo>
                    <a:pt x="5437124" y="5437124"/>
                  </a:lnTo>
                  <a:lnTo>
                    <a:pt x="0" y="5437124"/>
                  </a:lnTo>
                  <a:lnTo>
                    <a:pt x="0" y="0"/>
                  </a:lnTo>
                  <a:close/>
                </a:path>
              </a:pathLst>
            </a:custGeom>
            <a:blipFill>
              <a:blip r:embed="rId3"/>
              <a:stretch>
                <a:fillRect l="0" t="0" r="0" b="0"/>
              </a:stretch>
            </a:blipFill>
          </p:spPr>
        </p:sp>
      </p:grpSp>
      <p:grpSp>
        <p:nvGrpSpPr>
          <p:cNvPr name="Group 5" id="5"/>
          <p:cNvGrpSpPr/>
          <p:nvPr/>
        </p:nvGrpSpPr>
        <p:grpSpPr>
          <a:xfrm rot="0">
            <a:off x="13447195" y="5334021"/>
            <a:ext cx="4626468" cy="4575998"/>
            <a:chOff x="0" y="0"/>
            <a:chExt cx="6168624" cy="6101331"/>
          </a:xfrm>
        </p:grpSpPr>
        <p:sp>
          <p:nvSpPr>
            <p:cNvPr name="Freeform 6" id="6"/>
            <p:cNvSpPr/>
            <p:nvPr/>
          </p:nvSpPr>
          <p:spPr>
            <a:xfrm flipH="false" flipV="false" rot="0">
              <a:off x="0" y="0"/>
              <a:ext cx="6168644" cy="6101334"/>
            </a:xfrm>
            <a:custGeom>
              <a:avLst/>
              <a:gdLst/>
              <a:ahLst/>
              <a:cxnLst/>
              <a:rect r="r" b="b" t="t" l="l"/>
              <a:pathLst>
                <a:path h="6101334" w="6168644">
                  <a:moveTo>
                    <a:pt x="0" y="0"/>
                  </a:moveTo>
                  <a:lnTo>
                    <a:pt x="6168644" y="0"/>
                  </a:lnTo>
                  <a:lnTo>
                    <a:pt x="6168644" y="6101334"/>
                  </a:lnTo>
                  <a:lnTo>
                    <a:pt x="0" y="6101334"/>
                  </a:lnTo>
                  <a:lnTo>
                    <a:pt x="0" y="0"/>
                  </a:lnTo>
                  <a:close/>
                </a:path>
              </a:pathLst>
            </a:custGeom>
            <a:blipFill>
              <a:blip r:embed="rId4"/>
              <a:stretch>
                <a:fillRect l="0" t="-22" r="0" b="-22"/>
              </a:stretch>
            </a:blipFill>
          </p:spPr>
        </p:sp>
      </p:grpSp>
      <p:sp>
        <p:nvSpPr>
          <p:cNvPr name="TextBox 7" id="7"/>
          <p:cNvSpPr txBox="true"/>
          <p:nvPr/>
        </p:nvSpPr>
        <p:spPr>
          <a:xfrm rot="0">
            <a:off x="14236857" y="6685277"/>
            <a:ext cx="3238200" cy="2141550"/>
          </a:xfrm>
          <a:prstGeom prst="rect">
            <a:avLst/>
          </a:prstGeom>
        </p:spPr>
        <p:txBody>
          <a:bodyPr anchor="t" rtlCol="false" tIns="0" lIns="0" bIns="0" rIns="0">
            <a:spAutoFit/>
          </a:bodyPr>
          <a:lstStyle/>
          <a:p>
            <a:pPr algn="l">
              <a:lnSpc>
                <a:spcPts val="3383"/>
              </a:lnSpc>
            </a:pPr>
            <a:r>
              <a:rPr lang="en-US" sz="2014">
                <a:solidFill>
                  <a:srgbClr val="131416"/>
                </a:solidFill>
                <a:latin typeface="Open Sans 1"/>
                <a:ea typeface="Open Sans 1"/>
                <a:cs typeface="Open Sans 1"/>
                <a:sym typeface="Open Sans 1"/>
              </a:rPr>
              <a:t>Crearas la actividad donde los alumnos practicarán por sí solos los conocimientos abordados en esta sesión.</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6902" y="0"/>
            <a:ext cx="18254198" cy="10287001"/>
            <a:chOff x="0" y="0"/>
            <a:chExt cx="24338931" cy="13716001"/>
          </a:xfrm>
        </p:grpSpPr>
        <p:sp>
          <p:nvSpPr>
            <p:cNvPr name="Freeform 3" id="3"/>
            <p:cNvSpPr/>
            <p:nvPr/>
          </p:nvSpPr>
          <p:spPr>
            <a:xfrm flipH="false" flipV="false" rot="0">
              <a:off x="0" y="0"/>
              <a:ext cx="24338914" cy="13716000"/>
            </a:xfrm>
            <a:custGeom>
              <a:avLst/>
              <a:gdLst/>
              <a:ahLst/>
              <a:cxnLst/>
              <a:rect r="r" b="b" t="t" l="l"/>
              <a:pathLst>
                <a:path h="13716000" w="24338914">
                  <a:moveTo>
                    <a:pt x="0" y="0"/>
                  </a:moveTo>
                  <a:lnTo>
                    <a:pt x="24338914" y="0"/>
                  </a:lnTo>
                  <a:lnTo>
                    <a:pt x="24338914" y="13716000"/>
                  </a:lnTo>
                  <a:lnTo>
                    <a:pt x="0" y="13716000"/>
                  </a:lnTo>
                  <a:lnTo>
                    <a:pt x="0" y="0"/>
                  </a:lnTo>
                  <a:close/>
                </a:path>
              </a:pathLst>
            </a:custGeom>
            <a:blipFill>
              <a:blip r:embed="rId3">
                <a:alphaModFix amt="62000"/>
              </a:blip>
              <a:stretch>
                <a:fillRect l="0" t="0" r="0" b="0"/>
              </a:stretch>
            </a:blipFill>
          </p:spPr>
        </p:sp>
      </p:grpSp>
      <p:graphicFrame>
        <p:nvGraphicFramePr>
          <p:cNvPr name="Table 4" id="4"/>
          <p:cNvGraphicFramePr>
            <a:graphicFrameLocks noGrp="true"/>
          </p:cNvGraphicFramePr>
          <p:nvPr/>
        </p:nvGraphicFramePr>
        <p:xfrm>
          <a:off x="16900" y="1507250"/>
          <a:ext cx="10439400" cy="2006600"/>
        </p:xfrm>
        <a:graphic>
          <a:graphicData uri="http://schemas.openxmlformats.org/drawingml/2006/table">
            <a:tbl>
              <a:tblPr/>
              <a:tblGrid>
                <a:gridCol w="5520146"/>
                <a:gridCol w="4919254"/>
              </a:tblGrid>
              <a:tr h="639647">
                <a:tc>
                  <a:txBody>
                    <a:bodyPr anchor="t" rtlCol="false"/>
                    <a:lstStyle/>
                    <a:p>
                      <a:pPr algn="l">
                        <a:lnSpc>
                          <a:spcPts val="3359"/>
                        </a:lnSpc>
                        <a:defRPr/>
                      </a:pPr>
                      <a:r>
                        <a:rPr lang="en-US" b="true" sz="2799">
                          <a:solidFill>
                            <a:srgbClr val="000000"/>
                          </a:solidFill>
                          <a:latin typeface="Arial Bold"/>
                          <a:ea typeface="Arial Bold"/>
                          <a:cs typeface="Arial Bold"/>
                          <a:sym typeface="Arial Bold"/>
                        </a:rPr>
                        <a:t>Nombre de la actividad:</a:t>
                      </a:r>
                      <a:endParaRPr lang="en-US" sz="1100"/>
                    </a:p>
                  </a:txBody>
                  <a:tcPr marL="182850" marR="182850" marT="182850" marB="1828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182850" marR="182850" marT="182850" marB="1828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15787">
                <a:tc>
                  <a:txBody>
                    <a:bodyPr anchor="t" rtlCol="false"/>
                    <a:lstStyle/>
                    <a:p>
                      <a:pPr algn="l">
                        <a:lnSpc>
                          <a:spcPts val="3359"/>
                        </a:lnSpc>
                        <a:defRPr/>
                      </a:pPr>
                      <a:r>
                        <a:rPr lang="en-US" b="true" sz="2799">
                          <a:solidFill>
                            <a:srgbClr val="000000"/>
                          </a:solidFill>
                          <a:latin typeface="Arial Bold"/>
                          <a:ea typeface="Arial Bold"/>
                          <a:cs typeface="Arial Bold"/>
                          <a:sym typeface="Arial Bold"/>
                        </a:rPr>
                        <a:t>Cantidad de participantes:</a:t>
                      </a:r>
                      <a:endParaRPr lang="en-US" sz="1100"/>
                    </a:p>
                  </a:txBody>
                  <a:tcPr marL="182850" marR="182850" marT="182850" marB="1828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182850" marR="182850" marT="182850" marB="1828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651166">
                <a:tc>
                  <a:txBody>
                    <a:bodyPr anchor="t" rtlCol="false"/>
                    <a:lstStyle/>
                    <a:p>
                      <a:pPr algn="l">
                        <a:lnSpc>
                          <a:spcPts val="3359"/>
                        </a:lnSpc>
                        <a:defRPr/>
                      </a:pPr>
                      <a:r>
                        <a:rPr lang="en-US" b="true" sz="2799">
                          <a:solidFill>
                            <a:srgbClr val="000000"/>
                          </a:solidFill>
                          <a:latin typeface="Arial Bold"/>
                          <a:ea typeface="Arial Bold"/>
                          <a:cs typeface="Arial Bold"/>
                          <a:sym typeface="Arial Bold"/>
                        </a:rPr>
                        <a:t>Doy fe que esta actividad está planificada en dtt (Sí/No):</a:t>
                      </a:r>
                      <a:endParaRPr lang="en-US" sz="1100"/>
                    </a:p>
                  </a:txBody>
                  <a:tcPr marL="182850" marR="182850" marT="182850" marB="1828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182850" marR="182850" marT="182850" marB="1828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182850" y="4445700"/>
            <a:ext cx="17672100" cy="453750"/>
          </a:xfrm>
          <a:prstGeom prst="rect">
            <a:avLst/>
          </a:prstGeom>
        </p:spPr>
        <p:txBody>
          <a:bodyPr anchor="t" rtlCol="false" tIns="0" lIns="0" bIns="0" rIns="0">
            <a:spAutoFit/>
          </a:bodyPr>
          <a:lstStyle/>
          <a:p>
            <a:pPr algn="l">
              <a:lnSpc>
                <a:spcPts val="3359"/>
              </a:lnSpc>
            </a:pPr>
            <a:r>
              <a:rPr lang="en-US" b="true" sz="2799">
                <a:solidFill>
                  <a:srgbClr val="000000"/>
                </a:solidFill>
                <a:latin typeface="Arial Bold"/>
                <a:ea typeface="Arial Bold"/>
                <a:cs typeface="Arial Bold"/>
                <a:sym typeface="Arial Bold"/>
              </a:rPr>
              <a:t>Participantes: llenar las siguientes cajas de texto (tomar información del chat del meet)</a:t>
            </a:r>
          </a:p>
        </p:txBody>
      </p:sp>
      <p:grpSp>
        <p:nvGrpSpPr>
          <p:cNvPr name="Group 6" id="6"/>
          <p:cNvGrpSpPr/>
          <p:nvPr/>
        </p:nvGrpSpPr>
        <p:grpSpPr>
          <a:xfrm rot="0">
            <a:off x="7375" y="4946275"/>
            <a:ext cx="6186450" cy="757950"/>
            <a:chOff x="0" y="0"/>
            <a:chExt cx="8248600" cy="1010600"/>
          </a:xfrm>
        </p:grpSpPr>
        <p:sp>
          <p:nvSpPr>
            <p:cNvPr name="Freeform 7" id="7"/>
            <p:cNvSpPr/>
            <p:nvPr/>
          </p:nvSpPr>
          <p:spPr>
            <a:xfrm flipH="false" flipV="false" rot="0">
              <a:off x="0" y="0"/>
              <a:ext cx="8248650" cy="1010539"/>
            </a:xfrm>
            <a:custGeom>
              <a:avLst/>
              <a:gdLst/>
              <a:ahLst/>
              <a:cxnLst/>
              <a:rect r="r" b="b" t="t" l="l"/>
              <a:pathLst>
                <a:path h="1010539" w="8248650">
                  <a:moveTo>
                    <a:pt x="12700" y="0"/>
                  </a:moveTo>
                  <a:lnTo>
                    <a:pt x="8235950" y="0"/>
                  </a:lnTo>
                  <a:cubicBezTo>
                    <a:pt x="8242935" y="0"/>
                    <a:pt x="8248650" y="5715"/>
                    <a:pt x="8248650" y="12700"/>
                  </a:cubicBezTo>
                  <a:lnTo>
                    <a:pt x="8248650" y="997839"/>
                  </a:lnTo>
                  <a:cubicBezTo>
                    <a:pt x="8248650" y="1004824"/>
                    <a:pt x="8242935" y="1010539"/>
                    <a:pt x="8235950" y="1010539"/>
                  </a:cubicBezTo>
                  <a:lnTo>
                    <a:pt x="12700" y="1010539"/>
                  </a:lnTo>
                  <a:cubicBezTo>
                    <a:pt x="5715" y="1010539"/>
                    <a:pt x="0" y="1004824"/>
                    <a:pt x="0" y="997839"/>
                  </a:cubicBezTo>
                  <a:lnTo>
                    <a:pt x="0" y="12700"/>
                  </a:lnTo>
                  <a:cubicBezTo>
                    <a:pt x="0" y="5715"/>
                    <a:pt x="5715" y="0"/>
                    <a:pt x="12700" y="0"/>
                  </a:cubicBezTo>
                  <a:moveTo>
                    <a:pt x="12700" y="25400"/>
                  </a:moveTo>
                  <a:lnTo>
                    <a:pt x="12700" y="12700"/>
                  </a:lnTo>
                  <a:lnTo>
                    <a:pt x="25400" y="12700"/>
                  </a:lnTo>
                  <a:lnTo>
                    <a:pt x="25400" y="997839"/>
                  </a:lnTo>
                  <a:lnTo>
                    <a:pt x="12700" y="997839"/>
                  </a:lnTo>
                  <a:lnTo>
                    <a:pt x="12700" y="985139"/>
                  </a:lnTo>
                  <a:lnTo>
                    <a:pt x="8235950" y="985139"/>
                  </a:lnTo>
                  <a:lnTo>
                    <a:pt x="8235950" y="997839"/>
                  </a:lnTo>
                  <a:lnTo>
                    <a:pt x="8223250" y="997839"/>
                  </a:lnTo>
                  <a:lnTo>
                    <a:pt x="8223250" y="12700"/>
                  </a:lnTo>
                  <a:lnTo>
                    <a:pt x="8235950" y="12700"/>
                  </a:lnTo>
                  <a:lnTo>
                    <a:pt x="8235950" y="25400"/>
                  </a:lnTo>
                  <a:lnTo>
                    <a:pt x="12700" y="25400"/>
                  </a:lnTo>
                  <a:close/>
                </a:path>
              </a:pathLst>
            </a:custGeom>
            <a:solidFill>
              <a:srgbClr val="000000"/>
            </a:solidFill>
          </p:spPr>
        </p:sp>
      </p:grpSp>
      <p:graphicFrame>
        <p:nvGraphicFramePr>
          <p:cNvPr name="Table 8" id="8"/>
          <p:cNvGraphicFramePr>
            <a:graphicFrameLocks noGrp="true"/>
          </p:cNvGraphicFramePr>
          <p:nvPr/>
        </p:nvGraphicFramePr>
        <p:xfrm>
          <a:off x="10656400" y="1940050"/>
          <a:ext cx="7378700" cy="2006600"/>
        </p:xfrm>
        <a:graphic>
          <a:graphicData uri="http://schemas.openxmlformats.org/drawingml/2006/table">
            <a:tbl>
              <a:tblPr/>
              <a:tblGrid>
                <a:gridCol w="3042074"/>
                <a:gridCol w="4336626"/>
              </a:tblGrid>
              <a:tr h="639647">
                <a:tc>
                  <a:txBody>
                    <a:bodyPr anchor="t" rtlCol="false"/>
                    <a:lstStyle/>
                    <a:p>
                      <a:pPr algn="l">
                        <a:lnSpc>
                          <a:spcPts val="3359"/>
                        </a:lnSpc>
                        <a:defRPr/>
                      </a:pPr>
                      <a:r>
                        <a:rPr lang="en-US" b="true" sz="2799">
                          <a:solidFill>
                            <a:srgbClr val="000000"/>
                          </a:solidFill>
                          <a:latin typeface="Arial Bold"/>
                          <a:ea typeface="Arial Bold"/>
                          <a:cs typeface="Arial Bold"/>
                          <a:sym typeface="Arial Bold"/>
                        </a:rPr>
                        <a:t>Hora de inicio:</a:t>
                      </a:r>
                      <a:endParaRPr lang="en-US" sz="1100"/>
                    </a:p>
                  </a:txBody>
                  <a:tcPr marL="182850" marR="182850" marT="182850" marB="1828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182850" marR="182850" marT="182850" marB="1828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715787">
                <a:tc>
                  <a:txBody>
                    <a:bodyPr anchor="t" rtlCol="false"/>
                    <a:lstStyle/>
                    <a:p>
                      <a:pPr algn="l">
                        <a:lnSpc>
                          <a:spcPts val="3359"/>
                        </a:lnSpc>
                        <a:defRPr/>
                      </a:pPr>
                      <a:r>
                        <a:rPr lang="en-US" b="true" sz="2799">
                          <a:solidFill>
                            <a:srgbClr val="000000"/>
                          </a:solidFill>
                          <a:latin typeface="Arial Bold"/>
                          <a:ea typeface="Arial Bold"/>
                          <a:cs typeface="Arial Bold"/>
                          <a:sym typeface="Arial Bold"/>
                        </a:rPr>
                        <a:t>Hora de fin:</a:t>
                      </a:r>
                      <a:endParaRPr lang="en-US" sz="1100"/>
                    </a:p>
                  </a:txBody>
                  <a:tcPr marL="182850" marR="182850" marT="182850" marB="1828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182850" marR="182850" marT="182850" marB="1828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651166">
                <a:tc>
                  <a:txBody>
                    <a:bodyPr anchor="t" rtlCol="false"/>
                    <a:lstStyle/>
                    <a:p>
                      <a:pPr algn="l">
                        <a:lnSpc>
                          <a:spcPts val="3359"/>
                        </a:lnSpc>
                        <a:defRPr/>
                      </a:pPr>
                      <a:r>
                        <a:rPr lang="en-US" b="true" sz="2799">
                          <a:solidFill>
                            <a:srgbClr val="000000"/>
                          </a:solidFill>
                          <a:latin typeface="Arial Bold"/>
                          <a:ea typeface="Arial Bold"/>
                          <a:cs typeface="Arial Bold"/>
                          <a:sym typeface="Arial Bold"/>
                        </a:rPr>
                        <a:t>Duración (min):</a:t>
                      </a:r>
                      <a:endParaRPr lang="en-US" sz="1100"/>
                    </a:p>
                  </a:txBody>
                  <a:tcPr marL="182850" marR="182850" marT="182850" marB="1828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182850" marR="182850" marT="182850" marB="18285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pSp>
        <p:nvGrpSpPr>
          <p:cNvPr name="Group 9" id="9"/>
          <p:cNvGrpSpPr/>
          <p:nvPr/>
        </p:nvGrpSpPr>
        <p:grpSpPr>
          <a:xfrm rot="0">
            <a:off x="6252075" y="4946275"/>
            <a:ext cx="6186450" cy="757950"/>
            <a:chOff x="0" y="0"/>
            <a:chExt cx="8248600" cy="1010600"/>
          </a:xfrm>
        </p:grpSpPr>
        <p:sp>
          <p:nvSpPr>
            <p:cNvPr name="Freeform 10" id="10"/>
            <p:cNvSpPr/>
            <p:nvPr/>
          </p:nvSpPr>
          <p:spPr>
            <a:xfrm flipH="false" flipV="false" rot="0">
              <a:off x="0" y="0"/>
              <a:ext cx="8248650" cy="1010539"/>
            </a:xfrm>
            <a:custGeom>
              <a:avLst/>
              <a:gdLst/>
              <a:ahLst/>
              <a:cxnLst/>
              <a:rect r="r" b="b" t="t" l="l"/>
              <a:pathLst>
                <a:path h="1010539" w="8248650">
                  <a:moveTo>
                    <a:pt x="12700" y="0"/>
                  </a:moveTo>
                  <a:lnTo>
                    <a:pt x="8235950" y="0"/>
                  </a:lnTo>
                  <a:cubicBezTo>
                    <a:pt x="8242935" y="0"/>
                    <a:pt x="8248650" y="5715"/>
                    <a:pt x="8248650" y="12700"/>
                  </a:cubicBezTo>
                  <a:lnTo>
                    <a:pt x="8248650" y="997839"/>
                  </a:lnTo>
                  <a:cubicBezTo>
                    <a:pt x="8248650" y="1004824"/>
                    <a:pt x="8242935" y="1010539"/>
                    <a:pt x="8235950" y="1010539"/>
                  </a:cubicBezTo>
                  <a:lnTo>
                    <a:pt x="12700" y="1010539"/>
                  </a:lnTo>
                  <a:cubicBezTo>
                    <a:pt x="5715" y="1010539"/>
                    <a:pt x="0" y="1004824"/>
                    <a:pt x="0" y="997839"/>
                  </a:cubicBezTo>
                  <a:lnTo>
                    <a:pt x="0" y="12700"/>
                  </a:lnTo>
                  <a:cubicBezTo>
                    <a:pt x="0" y="5715"/>
                    <a:pt x="5715" y="0"/>
                    <a:pt x="12700" y="0"/>
                  </a:cubicBezTo>
                  <a:moveTo>
                    <a:pt x="12700" y="25400"/>
                  </a:moveTo>
                  <a:lnTo>
                    <a:pt x="12700" y="12700"/>
                  </a:lnTo>
                  <a:lnTo>
                    <a:pt x="25400" y="12700"/>
                  </a:lnTo>
                  <a:lnTo>
                    <a:pt x="25400" y="997839"/>
                  </a:lnTo>
                  <a:lnTo>
                    <a:pt x="12700" y="997839"/>
                  </a:lnTo>
                  <a:lnTo>
                    <a:pt x="12700" y="985139"/>
                  </a:lnTo>
                  <a:lnTo>
                    <a:pt x="8235950" y="985139"/>
                  </a:lnTo>
                  <a:lnTo>
                    <a:pt x="8235950" y="997839"/>
                  </a:lnTo>
                  <a:lnTo>
                    <a:pt x="8223250" y="997839"/>
                  </a:lnTo>
                  <a:lnTo>
                    <a:pt x="8223250" y="12700"/>
                  </a:lnTo>
                  <a:lnTo>
                    <a:pt x="8235950" y="12700"/>
                  </a:lnTo>
                  <a:lnTo>
                    <a:pt x="8235950" y="25400"/>
                  </a:lnTo>
                  <a:lnTo>
                    <a:pt x="12700" y="25400"/>
                  </a:lnTo>
                  <a:close/>
                </a:path>
              </a:pathLst>
            </a:custGeom>
            <a:solidFill>
              <a:srgbClr val="000000"/>
            </a:solidFill>
          </p:spPr>
        </p:sp>
      </p:grpSp>
      <p:grpSp>
        <p:nvGrpSpPr>
          <p:cNvPr name="Group 11" id="11"/>
          <p:cNvGrpSpPr/>
          <p:nvPr/>
        </p:nvGrpSpPr>
        <p:grpSpPr>
          <a:xfrm rot="0">
            <a:off x="12496775" y="4946275"/>
            <a:ext cx="5783850" cy="757950"/>
            <a:chOff x="0" y="0"/>
            <a:chExt cx="7711800" cy="1010600"/>
          </a:xfrm>
        </p:grpSpPr>
        <p:sp>
          <p:nvSpPr>
            <p:cNvPr name="Freeform 12" id="12"/>
            <p:cNvSpPr/>
            <p:nvPr/>
          </p:nvSpPr>
          <p:spPr>
            <a:xfrm flipH="false" flipV="false" rot="0">
              <a:off x="0" y="0"/>
              <a:ext cx="7711821" cy="1010539"/>
            </a:xfrm>
            <a:custGeom>
              <a:avLst/>
              <a:gdLst/>
              <a:ahLst/>
              <a:cxnLst/>
              <a:rect r="r" b="b" t="t" l="l"/>
              <a:pathLst>
                <a:path h="1010539" w="7711821">
                  <a:moveTo>
                    <a:pt x="12700" y="0"/>
                  </a:moveTo>
                  <a:lnTo>
                    <a:pt x="7699121" y="0"/>
                  </a:lnTo>
                  <a:cubicBezTo>
                    <a:pt x="7706106" y="0"/>
                    <a:pt x="7711821" y="5715"/>
                    <a:pt x="7711821" y="12700"/>
                  </a:cubicBezTo>
                  <a:lnTo>
                    <a:pt x="7711821" y="997839"/>
                  </a:lnTo>
                  <a:cubicBezTo>
                    <a:pt x="7711821" y="1004824"/>
                    <a:pt x="7706106" y="1010539"/>
                    <a:pt x="7699121" y="1010539"/>
                  </a:cubicBezTo>
                  <a:lnTo>
                    <a:pt x="12700" y="1010539"/>
                  </a:lnTo>
                  <a:cubicBezTo>
                    <a:pt x="5715" y="1010539"/>
                    <a:pt x="0" y="1004824"/>
                    <a:pt x="0" y="997839"/>
                  </a:cubicBezTo>
                  <a:lnTo>
                    <a:pt x="0" y="12700"/>
                  </a:lnTo>
                  <a:cubicBezTo>
                    <a:pt x="0" y="5715"/>
                    <a:pt x="5715" y="0"/>
                    <a:pt x="12700" y="0"/>
                  </a:cubicBezTo>
                  <a:moveTo>
                    <a:pt x="12700" y="25400"/>
                  </a:moveTo>
                  <a:lnTo>
                    <a:pt x="12700" y="12700"/>
                  </a:lnTo>
                  <a:lnTo>
                    <a:pt x="25400" y="12700"/>
                  </a:lnTo>
                  <a:lnTo>
                    <a:pt x="25400" y="997839"/>
                  </a:lnTo>
                  <a:lnTo>
                    <a:pt x="12700" y="997839"/>
                  </a:lnTo>
                  <a:lnTo>
                    <a:pt x="12700" y="985139"/>
                  </a:lnTo>
                  <a:lnTo>
                    <a:pt x="7699121" y="985139"/>
                  </a:lnTo>
                  <a:lnTo>
                    <a:pt x="7699121" y="997839"/>
                  </a:lnTo>
                  <a:lnTo>
                    <a:pt x="7686421" y="997839"/>
                  </a:lnTo>
                  <a:lnTo>
                    <a:pt x="7686421" y="12700"/>
                  </a:lnTo>
                  <a:lnTo>
                    <a:pt x="7699121" y="12700"/>
                  </a:lnTo>
                  <a:lnTo>
                    <a:pt x="7699121" y="25400"/>
                  </a:lnTo>
                  <a:lnTo>
                    <a:pt x="12700" y="25400"/>
                  </a:lnTo>
                  <a:close/>
                </a:path>
              </a:pathLst>
            </a:custGeom>
            <a:solidFill>
              <a:srgbClr val="000000"/>
            </a:solidFill>
          </p:spPr>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91489" y="6501678"/>
            <a:ext cx="6705000" cy="1064775"/>
          </a:xfrm>
          <a:prstGeom prst="rect">
            <a:avLst/>
          </a:prstGeom>
        </p:spPr>
        <p:txBody>
          <a:bodyPr anchor="t" rtlCol="false" tIns="0" lIns="0" bIns="0" rIns="0">
            <a:spAutoFit/>
          </a:bodyPr>
          <a:lstStyle/>
          <a:p>
            <a:pPr algn="ctr">
              <a:lnSpc>
                <a:spcPts val="8879"/>
              </a:lnSpc>
            </a:pPr>
            <a:r>
              <a:rPr lang="en-US" sz="4999">
                <a:solidFill>
                  <a:srgbClr val="131416"/>
                </a:solidFill>
                <a:latin typeface="Arial"/>
                <a:ea typeface="Arial"/>
                <a:cs typeface="Arial"/>
                <a:sym typeface="Arial"/>
              </a:rPr>
              <a:t>DUDAS ¿?</a:t>
            </a:r>
          </a:p>
        </p:txBody>
      </p:sp>
      <p:grpSp>
        <p:nvGrpSpPr>
          <p:cNvPr name="Group 3" id="3"/>
          <p:cNvGrpSpPr>
            <a:grpSpLocks noChangeAspect="true"/>
          </p:cNvGrpSpPr>
          <p:nvPr/>
        </p:nvGrpSpPr>
        <p:grpSpPr>
          <a:xfrm rot="0">
            <a:off x="4576287" y="699975"/>
            <a:ext cx="9135424" cy="5691801"/>
            <a:chOff x="0" y="0"/>
            <a:chExt cx="12180565" cy="7589068"/>
          </a:xfrm>
        </p:grpSpPr>
        <p:sp>
          <p:nvSpPr>
            <p:cNvPr name="Freeform 4" id="4"/>
            <p:cNvSpPr/>
            <p:nvPr/>
          </p:nvSpPr>
          <p:spPr>
            <a:xfrm flipH="false" flipV="false" rot="0">
              <a:off x="0" y="0"/>
              <a:ext cx="12180570" cy="7589012"/>
            </a:xfrm>
            <a:custGeom>
              <a:avLst/>
              <a:gdLst/>
              <a:ahLst/>
              <a:cxnLst/>
              <a:rect r="r" b="b" t="t" l="l"/>
              <a:pathLst>
                <a:path h="7589012" w="12180570">
                  <a:moveTo>
                    <a:pt x="0" y="0"/>
                  </a:moveTo>
                  <a:lnTo>
                    <a:pt x="12180570" y="0"/>
                  </a:lnTo>
                  <a:lnTo>
                    <a:pt x="12180570" y="7589012"/>
                  </a:lnTo>
                  <a:lnTo>
                    <a:pt x="0" y="7589012"/>
                  </a:lnTo>
                  <a:lnTo>
                    <a:pt x="0" y="0"/>
                  </a:lnTo>
                  <a:close/>
                </a:path>
              </a:pathLst>
            </a:custGeom>
            <a:blipFill>
              <a:blip r:embed="rId3"/>
              <a:stretch>
                <a:fillRect l="0" t="0" r="0" b="0"/>
              </a:stretch>
            </a:blipFill>
          </p:spPr>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571995" y="5023654"/>
            <a:ext cx="8658900" cy="2067600"/>
          </a:xfrm>
          <a:prstGeom prst="rect">
            <a:avLst/>
          </a:prstGeom>
        </p:spPr>
        <p:txBody>
          <a:bodyPr anchor="t" rtlCol="false" tIns="0" lIns="0" bIns="0" rIns="0">
            <a:spAutoFit/>
          </a:bodyPr>
          <a:lstStyle/>
          <a:p>
            <a:pPr algn="just">
              <a:lnSpc>
                <a:spcPts val="7611"/>
              </a:lnSpc>
            </a:pPr>
            <a:r>
              <a:rPr lang="en-US" sz="6098">
                <a:solidFill>
                  <a:srgbClr val="131416"/>
                </a:solidFill>
                <a:latin typeface="Impact"/>
                <a:ea typeface="Impact"/>
                <a:cs typeface="Impact"/>
                <a:sym typeface="Impact"/>
              </a:rPr>
              <a:t>¡GRACIAS POR SU  ATENCIÓN!</a:t>
            </a:r>
          </a:p>
          <a:p>
            <a:pPr algn="just">
              <a:lnSpc>
                <a:spcPts val="1747"/>
              </a:lnSpc>
            </a:pPr>
          </a:p>
        </p:txBody>
      </p:sp>
      <p:grpSp>
        <p:nvGrpSpPr>
          <p:cNvPr name="Group 3" id="3"/>
          <p:cNvGrpSpPr/>
          <p:nvPr/>
        </p:nvGrpSpPr>
        <p:grpSpPr>
          <a:xfrm rot="0">
            <a:off x="7765363" y="596600"/>
            <a:ext cx="2757268" cy="3770970"/>
            <a:chOff x="0" y="0"/>
            <a:chExt cx="3676357" cy="5027960"/>
          </a:xfrm>
        </p:grpSpPr>
        <p:sp>
          <p:nvSpPr>
            <p:cNvPr name="Freeform 4" id="4"/>
            <p:cNvSpPr/>
            <p:nvPr/>
          </p:nvSpPr>
          <p:spPr>
            <a:xfrm flipH="false" flipV="false" rot="0">
              <a:off x="0" y="0"/>
              <a:ext cx="3676396" cy="5027930"/>
            </a:xfrm>
            <a:custGeom>
              <a:avLst/>
              <a:gdLst/>
              <a:ahLst/>
              <a:cxnLst/>
              <a:rect r="r" b="b" t="t" l="l"/>
              <a:pathLst>
                <a:path h="5027930" w="3676396">
                  <a:moveTo>
                    <a:pt x="0" y="0"/>
                  </a:moveTo>
                  <a:lnTo>
                    <a:pt x="3676396" y="0"/>
                  </a:lnTo>
                  <a:lnTo>
                    <a:pt x="3676396" y="5027930"/>
                  </a:lnTo>
                  <a:lnTo>
                    <a:pt x="0" y="5027930"/>
                  </a:lnTo>
                  <a:lnTo>
                    <a:pt x="0" y="0"/>
                  </a:lnTo>
                  <a:close/>
                </a:path>
              </a:pathLst>
            </a:custGeom>
            <a:blipFill>
              <a:blip r:embed="rId3"/>
              <a:stretch>
                <a:fillRect l="-7" t="0" r="-6" b="0"/>
              </a:stretch>
            </a:blipFill>
          </p:spPr>
        </p:sp>
      </p:grpSp>
      <p:sp>
        <p:nvSpPr>
          <p:cNvPr name="TextBox 5" id="5"/>
          <p:cNvSpPr txBox="true"/>
          <p:nvPr/>
        </p:nvSpPr>
        <p:spPr>
          <a:xfrm rot="0">
            <a:off x="2411098" y="7785435"/>
            <a:ext cx="13465804" cy="833755"/>
          </a:xfrm>
          <a:prstGeom prst="rect">
            <a:avLst/>
          </a:prstGeom>
        </p:spPr>
        <p:txBody>
          <a:bodyPr anchor="t" rtlCol="false" tIns="0" lIns="0" bIns="0" rIns="0">
            <a:spAutoFit/>
          </a:bodyPr>
          <a:lstStyle/>
          <a:p>
            <a:pPr algn="ctr">
              <a:lnSpc>
                <a:spcPts val="3552"/>
              </a:lnSpc>
            </a:pPr>
            <a:r>
              <a:rPr lang="en-US" sz="2000">
                <a:solidFill>
                  <a:srgbClr val="131416"/>
                </a:solidFill>
                <a:latin typeface="Arial"/>
                <a:ea typeface="Arial"/>
                <a:cs typeface="Arial"/>
                <a:sym typeface="Arial"/>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DAG3PWYUmfI</dc:identifier>
  <dcterms:modified xsi:type="dcterms:W3CDTF">2011-08-01T06:04:30Z</dcterms:modified>
  <cp:revision>1</cp:revision>
  <dc:title>Semana7_cococys</dc:title>
</cp:coreProperties>
</file>