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Lobster"/>
      <p:regular r:id="rId26"/>
    </p:embeddedFont>
    <p:embeddedFont>
      <p:font typeface="Pacifico"/>
      <p:regular r:id="rId27"/>
    </p:embeddedFont>
    <p:embeddedFont>
      <p:font typeface="Helvetica Neue"/>
      <p:bold r:id="rId28"/>
      <p:boldItalic r:id="rId29"/>
    </p:embeddedFont>
    <p:embeddedFont>
      <p:font typeface="Open Sans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hd8LBQCFvklKe4Bq6hKedkNvtv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5694D5-612E-4D0C-8CC4-A88B512321B2}">
  <a:tblStyle styleId="{455694D5-612E-4D0C-8CC4-A88B512321B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obster-regular.fntdata"/><Relationship Id="rId25" Type="http://schemas.openxmlformats.org/officeDocument/2006/relationships/slide" Target="slides/slide19.xml"/><Relationship Id="rId28" Type="http://schemas.openxmlformats.org/officeDocument/2006/relationships/font" Target="fonts/HelveticaNeue-bold.fntdata"/><Relationship Id="rId27" Type="http://schemas.openxmlformats.org/officeDocument/2006/relationships/font" Target="fonts/Pacific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2" name="Google Shape;102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3" name="Google Shape;103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6" name="Google Shape;11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7" name="Google Shape;117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9" name="Google Shape;159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0" name="Google Shape;160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0" name="Google Shape;170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1" name="Google Shape;171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73" name="Google Shape;173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1" name="Google Shape;181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2" name="Google Shape;182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84" name="Google Shape;184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5" name="Google Shape;205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6" name="Google Shape;206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08" name="Google Shape;208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9" name="Google Shape;209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7" name="Google Shape;217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19" name="Google Shape;219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1" name="Google Shape;241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43" name="Google Shape;243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4" name="Google Shape;274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5" name="Google Shape;275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8" name="Google Shape;278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4" name="Google Shape;284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5" name="Google Shape;285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8" name="Google Shape;288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6" name="Google Shape;296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7" name="Google Shape;297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0" name="Google Shape;300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7" name="Google Shape;307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8" name="Google Shape;308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1" name="Google Shape;311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7" name="Google Shape;317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8" name="Google Shape;318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1" name="Google Shape;321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9" name="Google Shape;329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0" name="Google Shape;330;p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3" name="Google Shape;333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4" name="Google Shape;344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5" name="Google Shape;345;p1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8" name="Google Shape;348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4" name="Google Shape;354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55" name="Google Shape;355;p1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8" name="Google Shape;358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hyperlink" Target="https://www.geeksforgeeks.org/queue-data-structure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58187" cy="10287000"/>
          </a:xfrm>
          <a:custGeom>
            <a:rect b="b" l="l" r="r" t="t"/>
            <a:pathLst>
              <a:path extrusionOk="0" h="13716000" w="24344249">
                <a:moveTo>
                  <a:pt x="0" y="0"/>
                </a:moveTo>
                <a:lnTo>
                  <a:pt x="24344249" y="0"/>
                </a:lnTo>
                <a:lnTo>
                  <a:pt x="24344249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1"/>
          <p:cNvGraphicFramePr/>
          <p:nvPr/>
        </p:nvGraphicFramePr>
        <p:xfrm>
          <a:off x="11506200" y="2233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{455694D5-612E-4D0C-8CC4-A88B512321B2}</a:tableStyleId>
              </a:tblPr>
              <a:tblGrid>
                <a:gridCol w="2987500"/>
                <a:gridCol w="3286300"/>
              </a:tblGrid>
              <a:tr h="135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7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7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99"/>
                        <a:t>xx/xx/xx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7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7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17:20 - 19:00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4" name="Google Shape;94;p1"/>
          <p:cNvGrpSpPr/>
          <p:nvPr/>
        </p:nvGrpSpPr>
        <p:grpSpPr>
          <a:xfrm>
            <a:off x="3953101" y="4743450"/>
            <a:ext cx="11746501" cy="1344665"/>
            <a:chOff x="0" y="-381000"/>
            <a:chExt cx="15662001" cy="1792887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5662001" cy="1411887"/>
            </a:xfrm>
            <a:custGeom>
              <a:rect b="b" l="l" r="r" t="t"/>
              <a:pathLst>
                <a:path extrusionOk="0" h="1411887" w="15662001">
                  <a:moveTo>
                    <a:pt x="0" y="0"/>
                  </a:moveTo>
                  <a:lnTo>
                    <a:pt x="15662001" y="0"/>
                  </a:lnTo>
                  <a:lnTo>
                    <a:pt x="15662001" y="1411887"/>
                  </a:lnTo>
                  <a:lnTo>
                    <a:pt x="0" y="1411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0" y="-381000"/>
              <a:ext cx="15662000" cy="179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7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73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ESTRUCTURAS DE DATOS [B]</a:t>
              </a:r>
              <a:endParaRPr/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4929319" y="6416499"/>
            <a:ext cx="8399700" cy="960803"/>
            <a:chOff x="0" y="-266700"/>
            <a:chExt cx="11199600" cy="1281071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1199600" cy="1014371"/>
            </a:xfrm>
            <a:custGeom>
              <a:rect b="b" l="l" r="r" t="t"/>
              <a:pathLst>
                <a:path extrusionOk="0" h="1014371" w="11199600">
                  <a:moveTo>
                    <a:pt x="0" y="0"/>
                  </a:moveTo>
                  <a:lnTo>
                    <a:pt x="11199600" y="0"/>
                  </a:lnTo>
                  <a:lnTo>
                    <a:pt x="11199600" y="1014371"/>
                  </a:lnTo>
                  <a:lnTo>
                    <a:pt x="0" y="10143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0" y="-266700"/>
              <a:ext cx="11199600" cy="1281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7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1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Nombre auxiliar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890249" y="7326425"/>
            <a:ext cx="8526600" cy="981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 de datos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812698" y="1820318"/>
            <a:ext cx="14451084" cy="378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con politicas de acceso especial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063303" y="8630951"/>
            <a:ext cx="6981379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028700" y="9096375"/>
            <a:ext cx="66675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28600" y="9473954"/>
            <a:ext cx="8115300" cy="533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8044675" y="0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176619" y="4699462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23" name="Google Shape;123;p3"/>
          <p:cNvGrpSpPr/>
          <p:nvPr/>
        </p:nvGrpSpPr>
        <p:grpSpPr>
          <a:xfrm>
            <a:off x="176619" y="4391897"/>
            <a:ext cx="4345084" cy="973973"/>
            <a:chOff x="0" y="-171450"/>
            <a:chExt cx="5793445" cy="1298630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5793445" cy="1127180"/>
            </a:xfrm>
            <a:custGeom>
              <a:rect b="b" l="l" r="r" t="t"/>
              <a:pathLst>
                <a:path extrusionOk="0" h="1127180" w="5793445">
                  <a:moveTo>
                    <a:pt x="0" y="0"/>
                  </a:moveTo>
                  <a:lnTo>
                    <a:pt x="5793445" y="0"/>
                  </a:lnTo>
                  <a:lnTo>
                    <a:pt x="5793445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5" name="Google Shape;125;p3"/>
            <p:cNvSpPr txBox="1"/>
            <p:nvPr/>
          </p:nvSpPr>
          <p:spPr>
            <a:xfrm>
              <a:off x="0" y="-171450"/>
              <a:ext cx="5793445" cy="1298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Pila</a:t>
              </a:r>
              <a:endParaRPr/>
            </a:p>
          </p:txBody>
        </p:sp>
      </p:grpSp>
      <p:sp>
        <p:nvSpPr>
          <p:cNvPr id="126" name="Google Shape;126;p3"/>
          <p:cNvSpPr/>
          <p:nvPr/>
        </p:nvSpPr>
        <p:spPr>
          <a:xfrm>
            <a:off x="87865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" l="0" r="7" t="0"/>
            </a:stretch>
          </a:blipFill>
          <a:ln>
            <a:noFill/>
          </a:ln>
        </p:spPr>
      </p:sp>
      <p:sp>
        <p:nvSpPr>
          <p:cNvPr id="127" name="Google Shape;127;p3"/>
          <p:cNvSpPr/>
          <p:nvPr/>
        </p:nvSpPr>
        <p:spPr>
          <a:xfrm>
            <a:off x="1866989" y="3303305"/>
            <a:ext cx="4115181" cy="1267206"/>
          </a:xfrm>
          <a:custGeom>
            <a:rect b="b" l="l" r="r" t="t"/>
            <a:pathLst>
              <a:path extrusionOk="0" h="1689608" w="5486908">
                <a:moveTo>
                  <a:pt x="4458208" y="0"/>
                </a:moveTo>
                <a:lnTo>
                  <a:pt x="0" y="0"/>
                </a:lnTo>
                <a:lnTo>
                  <a:pt x="0" y="1689608"/>
                </a:lnTo>
                <a:lnTo>
                  <a:pt x="4458208" y="1689608"/>
                </a:lnTo>
                <a:lnTo>
                  <a:pt x="5486908" y="844804"/>
                </a:lnTo>
                <a:lnTo>
                  <a:pt x="4458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28" name="Google Shape;128;p3"/>
          <p:cNvGrpSpPr/>
          <p:nvPr/>
        </p:nvGrpSpPr>
        <p:grpSpPr>
          <a:xfrm>
            <a:off x="1866989" y="2885396"/>
            <a:ext cx="3681207" cy="1685071"/>
            <a:chOff x="0" y="-171450"/>
            <a:chExt cx="4908276" cy="2246762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4908276" cy="2075312"/>
            </a:xfrm>
            <a:custGeom>
              <a:rect b="b" l="l" r="r" t="t"/>
              <a:pathLst>
                <a:path extrusionOk="0"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0" name="Google Shape;130;p3"/>
            <p:cNvSpPr txBox="1"/>
            <p:nvPr/>
          </p:nvSpPr>
          <p:spPr>
            <a:xfrm>
              <a:off x="0" y="-171450"/>
              <a:ext cx="4908276" cy="2246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31" name="Google Shape;131;p3"/>
          <p:cNvSpPr/>
          <p:nvPr/>
        </p:nvSpPr>
        <p:spPr>
          <a:xfrm>
            <a:off x="651754" y="3429735"/>
            <a:ext cx="753904" cy="872966"/>
          </a:xfrm>
          <a:custGeom>
            <a:rect b="b" l="l" r="r" t="t"/>
            <a:pathLst>
              <a:path extrusionOk="0" h="1163955" w="1005205">
                <a:moveTo>
                  <a:pt x="0" y="0"/>
                </a:moveTo>
                <a:lnTo>
                  <a:pt x="1005205" y="0"/>
                </a:lnTo>
                <a:lnTo>
                  <a:pt x="1005205" y="1163955"/>
                </a:lnTo>
                <a:lnTo>
                  <a:pt x="0" y="116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" l="0" r="1" t="-36"/>
            </a:stretch>
          </a:blipFill>
          <a:ln>
            <a:noFill/>
          </a:ln>
        </p:spPr>
      </p:sp>
      <p:sp>
        <p:nvSpPr>
          <p:cNvPr id="132" name="Google Shape;132;p3"/>
          <p:cNvSpPr txBox="1"/>
          <p:nvPr/>
        </p:nvSpPr>
        <p:spPr>
          <a:xfrm>
            <a:off x="651749" y="233725"/>
            <a:ext cx="7710301" cy="256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0105990" y="143117"/>
            <a:ext cx="8416800" cy="255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11739805" y="3232617"/>
            <a:ext cx="5353621" cy="1267206"/>
          </a:xfrm>
          <a:custGeom>
            <a:rect b="b" l="l" r="r" t="t"/>
            <a:pathLst>
              <a:path extrusionOk="0" h="1689608" w="7138162">
                <a:moveTo>
                  <a:pt x="6109462" y="0"/>
                </a:moveTo>
                <a:lnTo>
                  <a:pt x="0" y="0"/>
                </a:lnTo>
                <a:lnTo>
                  <a:pt x="0" y="1689608"/>
                </a:lnTo>
                <a:lnTo>
                  <a:pt x="6109462" y="1689608"/>
                </a:lnTo>
                <a:lnTo>
                  <a:pt x="7138162" y="844804"/>
                </a:lnTo>
                <a:lnTo>
                  <a:pt x="61094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35" name="Google Shape;135;p3"/>
          <p:cNvGrpSpPr/>
          <p:nvPr/>
        </p:nvGrpSpPr>
        <p:grpSpPr>
          <a:xfrm>
            <a:off x="11739805" y="2598609"/>
            <a:ext cx="4919663" cy="1901170"/>
            <a:chOff x="0" y="-266700"/>
            <a:chExt cx="6559551" cy="2534893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6559551" cy="2268193"/>
            </a:xfrm>
            <a:custGeom>
              <a:rect b="b" l="l" r="r" t="t"/>
              <a:pathLst>
                <a:path extrusionOk="0" h="2268193" w="6559551">
                  <a:moveTo>
                    <a:pt x="0" y="0"/>
                  </a:moveTo>
                  <a:lnTo>
                    <a:pt x="6559551" y="0"/>
                  </a:lnTo>
                  <a:lnTo>
                    <a:pt x="6559551" y="2268193"/>
                  </a:lnTo>
                  <a:lnTo>
                    <a:pt x="0" y="2268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7" name="Google Shape;137;p3"/>
            <p:cNvSpPr txBox="1"/>
            <p:nvPr/>
          </p:nvSpPr>
          <p:spPr>
            <a:xfrm>
              <a:off x="0" y="-266700"/>
              <a:ext cx="6559551" cy="2534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/>
            </a:p>
          </p:txBody>
        </p:sp>
      </p:grpSp>
      <p:sp>
        <p:nvSpPr>
          <p:cNvPr id="138" name="Google Shape;138;p3"/>
          <p:cNvSpPr/>
          <p:nvPr/>
        </p:nvSpPr>
        <p:spPr>
          <a:xfrm>
            <a:off x="11739805" y="5032666"/>
            <a:ext cx="5353621" cy="1267206"/>
          </a:xfrm>
          <a:custGeom>
            <a:rect b="b" l="l" r="r" t="t"/>
            <a:pathLst>
              <a:path extrusionOk="0" h="1689608" w="7138162">
                <a:moveTo>
                  <a:pt x="6109462" y="0"/>
                </a:moveTo>
                <a:lnTo>
                  <a:pt x="0" y="0"/>
                </a:lnTo>
                <a:lnTo>
                  <a:pt x="0" y="1689608"/>
                </a:lnTo>
                <a:lnTo>
                  <a:pt x="6109462" y="1689608"/>
                </a:lnTo>
                <a:lnTo>
                  <a:pt x="7138162" y="844804"/>
                </a:lnTo>
                <a:lnTo>
                  <a:pt x="61094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39" name="Google Shape;139;p3"/>
          <p:cNvGrpSpPr/>
          <p:nvPr/>
        </p:nvGrpSpPr>
        <p:grpSpPr>
          <a:xfrm>
            <a:off x="11739805" y="4398658"/>
            <a:ext cx="4919663" cy="1901170"/>
            <a:chOff x="0" y="-266700"/>
            <a:chExt cx="6559551" cy="2534893"/>
          </a:xfrm>
        </p:grpSpPr>
        <p:sp>
          <p:nvSpPr>
            <p:cNvPr id="140" name="Google Shape;140;p3"/>
            <p:cNvSpPr/>
            <p:nvPr/>
          </p:nvSpPr>
          <p:spPr>
            <a:xfrm>
              <a:off x="0" y="0"/>
              <a:ext cx="6559551" cy="2268193"/>
            </a:xfrm>
            <a:custGeom>
              <a:rect b="b" l="l" r="r" t="t"/>
              <a:pathLst>
                <a:path extrusionOk="0" h="2268193" w="6559551">
                  <a:moveTo>
                    <a:pt x="0" y="0"/>
                  </a:moveTo>
                  <a:lnTo>
                    <a:pt x="6559551" y="0"/>
                  </a:lnTo>
                  <a:lnTo>
                    <a:pt x="6559551" y="2268193"/>
                  </a:lnTo>
                  <a:lnTo>
                    <a:pt x="0" y="2268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1" name="Google Shape;141;p3"/>
            <p:cNvSpPr txBox="1"/>
            <p:nvPr/>
          </p:nvSpPr>
          <p:spPr>
            <a:xfrm>
              <a:off x="0" y="-266700"/>
              <a:ext cx="6559551" cy="2534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sp>
        <p:nvSpPr>
          <p:cNvPr id="142" name="Google Shape;142;p3"/>
          <p:cNvSpPr/>
          <p:nvPr/>
        </p:nvSpPr>
        <p:spPr>
          <a:xfrm>
            <a:off x="176619" y="5623280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43" name="Google Shape;143;p3"/>
          <p:cNvGrpSpPr/>
          <p:nvPr/>
        </p:nvGrpSpPr>
        <p:grpSpPr>
          <a:xfrm>
            <a:off x="176619" y="5315715"/>
            <a:ext cx="4345084" cy="973972"/>
            <a:chOff x="0" y="-171450"/>
            <a:chExt cx="5793445" cy="1298630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5793445" cy="1127180"/>
            </a:xfrm>
            <a:custGeom>
              <a:rect b="b" l="l" r="r" t="t"/>
              <a:pathLst>
                <a:path extrusionOk="0" h="1127180" w="5793445">
                  <a:moveTo>
                    <a:pt x="0" y="0"/>
                  </a:moveTo>
                  <a:lnTo>
                    <a:pt x="5793445" y="0"/>
                  </a:lnTo>
                  <a:lnTo>
                    <a:pt x="5793445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5" name="Google Shape;145;p3"/>
            <p:cNvSpPr txBox="1"/>
            <p:nvPr/>
          </p:nvSpPr>
          <p:spPr>
            <a:xfrm>
              <a:off x="0" y="-171450"/>
              <a:ext cx="5793445" cy="1298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Cola</a:t>
              </a:r>
              <a:endParaRPr/>
            </a:p>
          </p:txBody>
        </p:sp>
      </p:grpSp>
      <p:sp>
        <p:nvSpPr>
          <p:cNvPr id="146" name="Google Shape;146;p3"/>
          <p:cNvSpPr/>
          <p:nvPr/>
        </p:nvSpPr>
        <p:spPr>
          <a:xfrm>
            <a:off x="176619" y="6604853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47" name="Google Shape;147;p3"/>
          <p:cNvGrpSpPr/>
          <p:nvPr/>
        </p:nvGrpSpPr>
        <p:grpSpPr>
          <a:xfrm>
            <a:off x="1405646" y="6328621"/>
            <a:ext cx="4345084" cy="973973"/>
            <a:chOff x="0" y="-171450"/>
            <a:chExt cx="5793445" cy="1298630"/>
          </a:xfrm>
        </p:grpSpPr>
        <p:sp>
          <p:nvSpPr>
            <p:cNvPr id="148" name="Google Shape;148;p3"/>
            <p:cNvSpPr/>
            <p:nvPr/>
          </p:nvSpPr>
          <p:spPr>
            <a:xfrm>
              <a:off x="0" y="0"/>
              <a:ext cx="5793445" cy="1127180"/>
            </a:xfrm>
            <a:custGeom>
              <a:rect b="b" l="l" r="r" t="t"/>
              <a:pathLst>
                <a:path extrusionOk="0" h="1127180" w="5793445">
                  <a:moveTo>
                    <a:pt x="0" y="0"/>
                  </a:moveTo>
                  <a:lnTo>
                    <a:pt x="5793445" y="0"/>
                  </a:lnTo>
                  <a:lnTo>
                    <a:pt x="5793445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9" name="Google Shape;149;p3"/>
            <p:cNvSpPr txBox="1"/>
            <p:nvPr/>
          </p:nvSpPr>
          <p:spPr>
            <a:xfrm>
              <a:off x="0" y="-171450"/>
              <a:ext cx="5793445" cy="1298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Mapeo lexicografico</a:t>
              </a:r>
              <a:endParaRPr/>
            </a:p>
          </p:txBody>
        </p:sp>
      </p:grpSp>
      <p:sp>
        <p:nvSpPr>
          <p:cNvPr id="150" name="Google Shape;150;p3"/>
          <p:cNvSpPr/>
          <p:nvPr/>
        </p:nvSpPr>
        <p:spPr>
          <a:xfrm>
            <a:off x="176619" y="7528435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51" name="Google Shape;151;p3"/>
          <p:cNvGrpSpPr/>
          <p:nvPr/>
        </p:nvGrpSpPr>
        <p:grpSpPr>
          <a:xfrm>
            <a:off x="651749" y="7180757"/>
            <a:ext cx="4345084" cy="973973"/>
            <a:chOff x="0" y="-171450"/>
            <a:chExt cx="5793445" cy="1298630"/>
          </a:xfrm>
        </p:grpSpPr>
        <p:sp>
          <p:nvSpPr>
            <p:cNvPr id="152" name="Google Shape;152;p3"/>
            <p:cNvSpPr/>
            <p:nvPr/>
          </p:nvSpPr>
          <p:spPr>
            <a:xfrm>
              <a:off x="0" y="0"/>
              <a:ext cx="5793445" cy="1127180"/>
            </a:xfrm>
            <a:custGeom>
              <a:rect b="b" l="l" r="r" t="t"/>
              <a:pathLst>
                <a:path extrusionOk="0" h="1127180" w="5793445">
                  <a:moveTo>
                    <a:pt x="0" y="0"/>
                  </a:moveTo>
                  <a:lnTo>
                    <a:pt x="5793445" y="0"/>
                  </a:lnTo>
                  <a:lnTo>
                    <a:pt x="5793445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3" name="Google Shape;153;p3"/>
            <p:cNvSpPr txBox="1"/>
            <p:nvPr/>
          </p:nvSpPr>
          <p:spPr>
            <a:xfrm>
              <a:off x="0" y="-171450"/>
              <a:ext cx="5793445" cy="1298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Ejemplo</a:t>
              </a:r>
              <a:endParaRPr/>
            </a:p>
          </p:txBody>
        </p:sp>
      </p:grpSp>
      <p:sp>
        <p:nvSpPr>
          <p:cNvPr id="154" name="Google Shape;154;p3"/>
          <p:cNvSpPr/>
          <p:nvPr/>
        </p:nvSpPr>
        <p:spPr>
          <a:xfrm>
            <a:off x="878654" y="562328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" l="0" r="7" t="0"/>
            </a:stretch>
          </a:blipFill>
          <a:ln>
            <a:noFill/>
          </a:ln>
        </p:spPr>
      </p:sp>
      <p:sp>
        <p:nvSpPr>
          <p:cNvPr id="155" name="Google Shape;155;p3"/>
          <p:cNvSpPr/>
          <p:nvPr/>
        </p:nvSpPr>
        <p:spPr>
          <a:xfrm>
            <a:off x="878654" y="6604853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" l="0" r="7" t="0"/>
            </a:stretch>
          </a:blipFill>
          <a:ln>
            <a:noFill/>
          </a:ln>
        </p:spPr>
      </p:sp>
      <p:sp>
        <p:nvSpPr>
          <p:cNvPr id="156" name="Google Shape;156;p3"/>
          <p:cNvSpPr/>
          <p:nvPr/>
        </p:nvSpPr>
        <p:spPr>
          <a:xfrm>
            <a:off x="878654" y="760463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" l="0" r="7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/>
        </p:nvSpPr>
        <p:spPr>
          <a:xfrm>
            <a:off x="1374889" y="444814"/>
            <a:ext cx="13991100" cy="114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3161767" y="2854177"/>
            <a:ext cx="14137736" cy="4340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 estructuras de datos lineales y no lineales usando programación orientada a objetos para desarrollar soluciones eficientes. 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0" y="5954209"/>
            <a:ext cx="3161772" cy="4332780"/>
          </a:xfrm>
          <a:custGeom>
            <a:rect b="b" l="l" r="r" t="t"/>
            <a:pathLst>
              <a:path extrusionOk="0" h="9563989" w="6979158">
                <a:moveTo>
                  <a:pt x="0" y="0"/>
                </a:moveTo>
                <a:lnTo>
                  <a:pt x="6979158" y="0"/>
                </a:lnTo>
                <a:lnTo>
                  <a:pt x="6979158" y="9563989"/>
                </a:lnTo>
                <a:lnTo>
                  <a:pt x="0" y="95639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/>
        </p:nvSpPr>
        <p:spPr>
          <a:xfrm>
            <a:off x="6387273" y="339407"/>
            <a:ext cx="5513455" cy="114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Pila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1360585" y="2657737"/>
            <a:ext cx="6131143" cy="570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7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Una pila es una estructura de datos de entradas ordenadas tales que solo se introduce y elimina por un extremo, llamado cima o tope. Permite agregar nodos a la pila y eliminarlos de esta sólo desde su</a:t>
            </a:r>
            <a:endParaRPr/>
          </a:p>
          <a:p>
            <a:pPr indent="0" lvl="0" marL="0" marR="0" rtl="0" algn="just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7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parte superior. Por esta razón, a una pila se le conoce como estructura de datos UEPS (último en entrar, primero en salir) o LIFO (Last-Input, First- Output).</a:t>
            </a:r>
            <a:endParaRPr/>
          </a:p>
          <a:p>
            <a:pPr indent="0" lvl="0" marL="0" marR="0" rtl="0" algn="just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7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069832" y="2434966"/>
            <a:ext cx="9581960" cy="6640830"/>
          </a:xfrm>
          <a:custGeom>
            <a:rect b="b" l="l" r="r" t="t"/>
            <a:pathLst>
              <a:path extrusionOk="0" h="8854440" w="12775946">
                <a:moveTo>
                  <a:pt x="0" y="0"/>
                </a:moveTo>
                <a:lnTo>
                  <a:pt x="12775946" y="0"/>
                </a:lnTo>
                <a:lnTo>
                  <a:pt x="12775946" y="8854440"/>
                </a:lnTo>
                <a:lnTo>
                  <a:pt x="0" y="8854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/>
        </p:nvSpPr>
        <p:spPr>
          <a:xfrm>
            <a:off x="4217337" y="819150"/>
            <a:ext cx="9853327" cy="1114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Operaciones de una pila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1028700" y="2726592"/>
            <a:ext cx="4574971" cy="8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1028700" y="3692852"/>
            <a:ext cx="4574971" cy="36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1028700" y="4174981"/>
            <a:ext cx="4714980" cy="982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Este método se encarga de agregar un nuevo elemento a la pila.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6559050" y="2726592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6559050" y="3683327"/>
            <a:ext cx="4574971" cy="36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6559050" y="4165456"/>
            <a:ext cx="4714980" cy="130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Se encarga de remover el elemento que se encuentre hasta arriba en la pila y retornarlo.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12187406" y="2726592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12187406" y="3683327"/>
            <a:ext cx="4574971" cy="36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PEEK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12187406" y="4165456"/>
            <a:ext cx="4714980" cy="130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También es conocido como “Top” y se encarga de retornar el elemento superior en la pila, sin eliminarlo.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3793875" y="6152813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3793875" y="7095547"/>
            <a:ext cx="4574971" cy="360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EMPTY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3793875" y="7577677"/>
            <a:ext cx="4714980" cy="658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Retorna un valor que indica si la pila se encuentra vacía o no.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9355684" y="6152813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9355684" y="7095547"/>
            <a:ext cx="4574971" cy="360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SIZE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9355684" y="7577677"/>
            <a:ext cx="4714980" cy="360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Retorna el tamaño de la pila.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/>
          <p:nvPr/>
        </p:nvSpPr>
        <p:spPr>
          <a:xfrm>
            <a:off x="6387273" y="339407"/>
            <a:ext cx="5513455" cy="114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Cola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1466673" y="2456136"/>
            <a:ext cx="4617495" cy="6237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7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Una cola es una estructura de datos que almacena elementos en una lista y permite acceder a los datos por uno de los dos extremos de la lista. Un elemento se inserta en la cola (parte final) de la lista y se suprime o elimina por la frente (parte inicial,</a:t>
            </a:r>
            <a:endParaRPr/>
          </a:p>
          <a:p>
            <a:pPr indent="0" lvl="0" marL="0" marR="0" rtl="0" algn="just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7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cabeza) de la lista</a:t>
            </a:r>
            <a:endParaRPr/>
          </a:p>
          <a:p>
            <a:pPr indent="0" lvl="0" marL="0" marR="0" rtl="0" algn="just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7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7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8127991" y="2570436"/>
            <a:ext cx="9131331" cy="5440871"/>
          </a:xfrm>
          <a:custGeom>
            <a:rect b="b" l="l" r="r" t="t"/>
            <a:pathLst>
              <a:path extrusionOk="0" h="7254494" w="12175109">
                <a:moveTo>
                  <a:pt x="0" y="0"/>
                </a:moveTo>
                <a:lnTo>
                  <a:pt x="12175109" y="0"/>
                </a:lnTo>
                <a:lnTo>
                  <a:pt x="12175109" y="7254494"/>
                </a:lnTo>
                <a:lnTo>
                  <a:pt x="0" y="7254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 txBox="1"/>
          <p:nvPr/>
        </p:nvSpPr>
        <p:spPr>
          <a:xfrm>
            <a:off x="4217337" y="819150"/>
            <a:ext cx="9853327" cy="1114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Operaciones de una cola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1028700" y="2726592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1028700" y="3683327"/>
            <a:ext cx="4574971" cy="36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1028700" y="4165456"/>
            <a:ext cx="4714980" cy="658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Ingresa un nuevo valor al final de la cola.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6559050" y="2726592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6559050" y="3683327"/>
            <a:ext cx="4574971" cy="36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</a:t>
            </a:r>
            <a:endParaRPr/>
          </a:p>
        </p:txBody>
      </p:sp>
      <p:sp>
        <p:nvSpPr>
          <p:cNvPr id="228" name="Google Shape;228;p8"/>
          <p:cNvSpPr txBox="1"/>
          <p:nvPr/>
        </p:nvSpPr>
        <p:spPr>
          <a:xfrm>
            <a:off x="6559050" y="4165456"/>
            <a:ext cx="4714980" cy="982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Saca el elemento que se encuentre al inicio de la cola (el primero).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12187406" y="2726592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12187406" y="3683327"/>
            <a:ext cx="4574971" cy="36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PEEK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12187406" y="4165456"/>
            <a:ext cx="4714980" cy="982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Se encarga de retornar el elemento superior en la cola, sin eliminarlo.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3793875" y="6152813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3793875" y="7095547"/>
            <a:ext cx="4574971" cy="360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EMPTY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3793875" y="7577677"/>
            <a:ext cx="4714980" cy="658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Retorna un valor que indica si la cola se encuentra vacía o no.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9324224" y="6152813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9324224" y="7095547"/>
            <a:ext cx="4574971" cy="360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SIZE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9324224" y="7577677"/>
            <a:ext cx="4714980" cy="33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Retorna el tamaño de la cola.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/>
          <p:nvPr/>
        </p:nvSpPr>
        <p:spPr>
          <a:xfrm>
            <a:off x="6578306" y="503577"/>
            <a:ext cx="4117330" cy="982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Aplicaciones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1108127" y="2896725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1108127" y="3853460"/>
            <a:ext cx="4574971" cy="36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SIMULACIÓN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1108127" y="4335589"/>
            <a:ext cx="4714980" cy="2925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 Las colas se utilizan para modelar sistemas de colas en la teoría de la probabilidad y la simulación de eventos discretos. Esto es útil para comprender y predecir el comportamiento de sistemas como líneas de espera en bancos, supermercados, centros de llamadas, etc.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6786510" y="2896725"/>
            <a:ext cx="4590494" cy="823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6786510" y="3858222"/>
            <a:ext cx="4590494" cy="713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GESTIÓN DE RECURSOS COMPARTIDOS</a:t>
            </a:r>
            <a:endParaRPr/>
          </a:p>
        </p:txBody>
      </p:sp>
      <p:sp>
        <p:nvSpPr>
          <p:cNvPr id="252" name="Google Shape;252;p9"/>
          <p:cNvSpPr txBox="1"/>
          <p:nvPr/>
        </p:nvSpPr>
        <p:spPr>
          <a:xfrm>
            <a:off x="6578306" y="4714139"/>
            <a:ext cx="4730978" cy="422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Las colas se utilizan para gestionar el acceso a recursos compartidos entre múltiples procesos o hilos en sistemas concurrentes. Por ejemplo, en sistemas operativos, las solicitudes de recursos como la CPU o los dispositivos de E/S pueden ponerse en colas y gestionarse de manera eficiente para evitar conflictos y garantizar un uso equitativo de los recursos.</a:t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12221878" y="2896725"/>
            <a:ext cx="4574971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31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12221878" y="3853460"/>
            <a:ext cx="4574971" cy="360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3A53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 DE IMPRESIÓN</a:t>
            </a:r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12221878" y="4335589"/>
            <a:ext cx="4714980" cy="2277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En entornos donde varios usuarios comparten una impresora, las solicitudes de impresión se pueden poner en una cola para gestionar el acceso a la impresora de manera justa y eficiente.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/>
          <p:nvPr/>
        </p:nvSpPr>
        <p:spPr>
          <a:xfrm>
            <a:off x="4089082" y="2507409"/>
            <a:ext cx="10109835" cy="5797420"/>
          </a:xfrm>
          <a:custGeom>
            <a:rect b="b" l="l" r="r" t="t"/>
            <a:pathLst>
              <a:path extrusionOk="0" h="5797420" w="10109835">
                <a:moveTo>
                  <a:pt x="0" y="0"/>
                </a:moveTo>
                <a:lnTo>
                  <a:pt x="10109836" y="0"/>
                </a:lnTo>
                <a:lnTo>
                  <a:pt x="10109836" y="5797420"/>
                </a:lnTo>
                <a:lnTo>
                  <a:pt x="0" y="5797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0"/>
          <p:cNvSpPr txBox="1"/>
          <p:nvPr/>
        </p:nvSpPr>
        <p:spPr>
          <a:xfrm>
            <a:off x="1028700" y="920344"/>
            <a:ext cx="7858756" cy="95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Mapeo lexicografico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/>
          <p:nvPr/>
        </p:nvSpPr>
        <p:spPr>
          <a:xfrm>
            <a:off x="5967989" y="3347285"/>
            <a:ext cx="9978514" cy="5722115"/>
          </a:xfrm>
          <a:custGeom>
            <a:rect b="b" l="l" r="r" t="t"/>
            <a:pathLst>
              <a:path extrusionOk="0" h="5722115" w="9978514">
                <a:moveTo>
                  <a:pt x="0" y="0"/>
                </a:moveTo>
                <a:lnTo>
                  <a:pt x="9978514" y="0"/>
                </a:lnTo>
                <a:lnTo>
                  <a:pt x="9978514" y="5722115"/>
                </a:lnTo>
                <a:lnTo>
                  <a:pt x="0" y="5722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1"/>
          <p:cNvSpPr txBox="1"/>
          <p:nvPr/>
        </p:nvSpPr>
        <p:spPr>
          <a:xfrm>
            <a:off x="1028700" y="814902"/>
            <a:ext cx="1987191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ROW-MAJOR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1028700" y="4930216"/>
            <a:ext cx="2590333" cy="220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COLUMN-MAJOR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1028700" y="7437139"/>
            <a:ext cx="4604881" cy="1330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3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Loc(i,j) = j * nRows +i </a:t>
            </a:r>
            <a:endParaRPr/>
          </a:p>
          <a:p>
            <a:pPr indent="0" lvl="0" marL="0" marR="0" rtl="0" algn="l">
              <a:lnSpc>
                <a:spcPct val="1873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nRows = Número de filas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751238" y="3099635"/>
            <a:ext cx="5216751" cy="1339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2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Loc(i,j) = i * noCols + j </a:t>
            </a:r>
            <a:endParaRPr/>
          </a:p>
          <a:p>
            <a:pPr indent="0" lvl="0" marL="0" marR="0" rtl="0" algn="l">
              <a:lnSpc>
                <a:spcPct val="1872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noCols = Número de columnas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7251125" y="929202"/>
            <a:ext cx="4312617" cy="1313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fila</a:t>
            </a:r>
            <a:endParaRPr/>
          </a:p>
          <a:p>
            <a:pPr indent="0" lvl="0" marL="0" marR="0" rtl="0" algn="l">
              <a:lnSpc>
                <a:spcPct val="187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 = columna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 txBox="1"/>
          <p:nvPr/>
        </p:nvSpPr>
        <p:spPr>
          <a:xfrm>
            <a:off x="2507390" y="762000"/>
            <a:ext cx="13503300" cy="13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6352638" y="3654434"/>
            <a:ext cx="5812805" cy="3130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333" lvl="2" marL="777998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⚬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Pila</a:t>
            </a:r>
            <a:endParaRPr/>
          </a:p>
          <a:p>
            <a:pPr indent="-259333" lvl="2" marL="777998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⚬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Cola</a:t>
            </a:r>
            <a:endParaRPr/>
          </a:p>
          <a:p>
            <a:pPr indent="-259333" lvl="2" marL="777998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⚬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Push y pop</a:t>
            </a:r>
            <a:endParaRPr/>
          </a:p>
          <a:p>
            <a:pPr indent="-259333" lvl="2" marL="777998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⚬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Enqueue y Dequeue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/>
          <p:nvPr/>
        </p:nvSpPr>
        <p:spPr>
          <a:xfrm>
            <a:off x="9144000" y="1898891"/>
            <a:ext cx="7860228" cy="7725737"/>
          </a:xfrm>
          <a:custGeom>
            <a:rect b="b" l="l" r="r" t="t"/>
            <a:pathLst>
              <a:path extrusionOk="0" h="7725737" w="7860228">
                <a:moveTo>
                  <a:pt x="0" y="0"/>
                </a:moveTo>
                <a:lnTo>
                  <a:pt x="7860228" y="0"/>
                </a:lnTo>
                <a:lnTo>
                  <a:pt x="7860228" y="7725737"/>
                </a:lnTo>
                <a:lnTo>
                  <a:pt x="0" y="7725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13"/>
          <p:cNvSpPr txBox="1"/>
          <p:nvPr/>
        </p:nvSpPr>
        <p:spPr>
          <a:xfrm>
            <a:off x="2507390" y="762000"/>
            <a:ext cx="13503300" cy="13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</a:t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626469" y="2146227"/>
            <a:ext cx="7874701" cy="1606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75" u="none" cap="none" strike="noStrike">
                <a:solidFill>
                  <a:srgbClr val="3A53BF"/>
                </a:solidFill>
                <a:latin typeface="Arial"/>
                <a:ea typeface="Arial"/>
                <a:cs typeface="Arial"/>
                <a:sym typeface="Arial"/>
              </a:rPr>
              <a:t>Resilencia</a:t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1028700" y="4838193"/>
            <a:ext cx="7487699" cy="1780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 importar lo complicado que sean los proyectos hay que seguir adelante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"/>
          <p:cNvSpPr txBox="1"/>
          <p:nvPr/>
        </p:nvSpPr>
        <p:spPr>
          <a:xfrm>
            <a:off x="2507390" y="762000"/>
            <a:ext cx="13503300" cy="13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0" y="0"/>
            <a:ext cx="7000209" cy="4361402"/>
          </a:xfrm>
          <a:custGeom>
            <a:rect b="b" l="l" r="r" t="t"/>
            <a:pathLst>
              <a:path extrusionOk="0" h="5815203" w="9333611">
                <a:moveTo>
                  <a:pt x="0" y="0"/>
                </a:moveTo>
                <a:lnTo>
                  <a:pt x="9333611" y="0"/>
                </a:lnTo>
                <a:lnTo>
                  <a:pt x="9333611" y="5815203"/>
                </a:lnTo>
                <a:lnTo>
                  <a:pt x="0" y="5815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0" t="0"/>
            </a:stretch>
          </a:blipFill>
          <a:ln>
            <a:noFill/>
          </a:ln>
        </p:spPr>
      </p:sp>
      <p:sp>
        <p:nvSpPr>
          <p:cNvPr id="304" name="Google Shape;304;p14"/>
          <p:cNvSpPr txBox="1"/>
          <p:nvPr/>
        </p:nvSpPr>
        <p:spPr>
          <a:xfrm>
            <a:off x="4517529" y="4490865"/>
            <a:ext cx="9252942" cy="64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sng" cap="none" strike="noStrik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GeeksforGeeks. (2023). Queue Data Structure.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 txBox="1"/>
          <p:nvPr/>
        </p:nvSpPr>
        <p:spPr>
          <a:xfrm>
            <a:off x="2568321" y="4185771"/>
            <a:ext cx="13991100" cy="114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0" y="3"/>
            <a:ext cx="4695539" cy="6434709"/>
          </a:xfrm>
          <a:custGeom>
            <a:rect b="b" l="l" r="r" t="t"/>
            <a:pathLst>
              <a:path extrusionOk="0" h="8579612" w="6260719">
                <a:moveTo>
                  <a:pt x="0" y="0"/>
                </a:moveTo>
                <a:lnTo>
                  <a:pt x="6260719" y="0"/>
                </a:lnTo>
                <a:lnTo>
                  <a:pt x="6260719" y="8579612"/>
                </a:lnTo>
                <a:lnTo>
                  <a:pt x="0" y="85796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/>
        </p:nvSpPr>
        <p:spPr>
          <a:xfrm>
            <a:off x="2148439" y="3868264"/>
            <a:ext cx="13991100" cy="114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0" y="-5"/>
            <a:ext cx="4077843" cy="4077843"/>
          </a:xfrm>
          <a:custGeom>
            <a:rect b="b" l="l" r="r" t="t"/>
            <a:pathLst>
              <a:path extrusionOk="0" h="5437124" w="5437124">
                <a:moveTo>
                  <a:pt x="0" y="0"/>
                </a:moveTo>
                <a:lnTo>
                  <a:pt x="5437124" y="0"/>
                </a:lnTo>
                <a:lnTo>
                  <a:pt x="5437124" y="5437124"/>
                </a:lnTo>
                <a:lnTo>
                  <a:pt x="0" y="5437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16"/>
          <p:cNvSpPr/>
          <p:nvPr/>
        </p:nvSpPr>
        <p:spPr>
          <a:xfrm>
            <a:off x="13447195" y="5334021"/>
            <a:ext cx="4626483" cy="4576000"/>
          </a:xfrm>
          <a:custGeom>
            <a:rect b="b" l="l" r="r" t="t"/>
            <a:pathLst>
              <a:path extrusionOk="0" h="6101334" w="6168644">
                <a:moveTo>
                  <a:pt x="0" y="0"/>
                </a:moveTo>
                <a:lnTo>
                  <a:pt x="6168644" y="0"/>
                </a:lnTo>
                <a:lnTo>
                  <a:pt x="6168644" y="6101334"/>
                </a:lnTo>
                <a:lnTo>
                  <a:pt x="0" y="6101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2" l="0" r="0" t="-22"/>
            </a:stretch>
          </a:blipFill>
          <a:ln>
            <a:noFill/>
          </a:ln>
        </p:spPr>
      </p:sp>
      <p:sp>
        <p:nvSpPr>
          <p:cNvPr id="326" name="Google Shape;326;p16"/>
          <p:cNvSpPr txBox="1"/>
          <p:nvPr/>
        </p:nvSpPr>
        <p:spPr>
          <a:xfrm>
            <a:off x="14236857" y="6685277"/>
            <a:ext cx="3238200" cy="214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Crearas la actividad donde los alumnos practicarán por sí solos los conocimientos abordados en esta sesión.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"/>
          <p:cNvSpPr/>
          <p:nvPr/>
        </p:nvSpPr>
        <p:spPr>
          <a:xfrm>
            <a:off x="16902" y="0"/>
            <a:ext cx="18254185" cy="10287000"/>
          </a:xfrm>
          <a:custGeom>
            <a:rect b="b" l="l" r="r" t="t"/>
            <a:pathLst>
              <a:path extrusionOk="0" h="13716000" w="24338914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336" name="Google Shape;336;p17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{455694D5-612E-4D0C-8CC4-A88B512321B2}</a:tableStyleId>
              </a:tblPr>
              <a:tblGrid>
                <a:gridCol w="5520150"/>
                <a:gridCol w="4919250"/>
              </a:tblGrid>
              <a:tr h="63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de la actividad: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Cantidad de participantes: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Doy fe que esta actividad está planificada en dtt (Sí/No):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7" name="Google Shape;337;p17"/>
          <p:cNvSpPr txBox="1"/>
          <p:nvPr/>
        </p:nvSpPr>
        <p:spPr>
          <a:xfrm>
            <a:off x="182850" y="4445700"/>
            <a:ext cx="17672100" cy="45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7375" y="4946275"/>
            <a:ext cx="6186488" cy="757904"/>
          </a:xfrm>
          <a:custGeom>
            <a:rect b="b" l="l" r="r" t="t"/>
            <a:pathLst>
              <a:path extrusionOk="0" h="1010539" w="8248650">
                <a:moveTo>
                  <a:pt x="12700" y="0"/>
                </a:moveTo>
                <a:lnTo>
                  <a:pt x="8235950" y="0"/>
                </a:lnTo>
                <a:cubicBezTo>
                  <a:pt x="8242935" y="0"/>
                  <a:pt x="8248650" y="5715"/>
                  <a:pt x="8248650" y="12700"/>
                </a:cubicBezTo>
                <a:lnTo>
                  <a:pt x="8248650" y="997839"/>
                </a:lnTo>
                <a:cubicBezTo>
                  <a:pt x="8248650" y="1004824"/>
                  <a:pt x="8242935" y="1010539"/>
                  <a:pt x="8235950" y="1010539"/>
                </a:cubicBezTo>
                <a:lnTo>
                  <a:pt x="12700" y="1010539"/>
                </a:lnTo>
                <a:cubicBezTo>
                  <a:pt x="5715" y="1010539"/>
                  <a:pt x="0" y="1004824"/>
                  <a:pt x="0" y="997839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997839"/>
                </a:lnTo>
                <a:lnTo>
                  <a:pt x="12700" y="997839"/>
                </a:lnTo>
                <a:lnTo>
                  <a:pt x="12700" y="985139"/>
                </a:lnTo>
                <a:lnTo>
                  <a:pt x="8235950" y="985139"/>
                </a:lnTo>
                <a:lnTo>
                  <a:pt x="8235950" y="997839"/>
                </a:lnTo>
                <a:lnTo>
                  <a:pt x="8223250" y="997839"/>
                </a:lnTo>
                <a:lnTo>
                  <a:pt x="8223250" y="12700"/>
                </a:lnTo>
                <a:lnTo>
                  <a:pt x="8235950" y="12700"/>
                </a:lnTo>
                <a:lnTo>
                  <a:pt x="8235950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39" name="Google Shape;339;p17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{455694D5-612E-4D0C-8CC4-A88B512321B2}</a:tableStyleId>
              </a:tblPr>
              <a:tblGrid>
                <a:gridCol w="3042075"/>
                <a:gridCol w="4336625"/>
              </a:tblGrid>
              <a:tr h="63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fin: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Duración (min):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" name="Google Shape;340;p17"/>
          <p:cNvSpPr/>
          <p:nvPr/>
        </p:nvSpPr>
        <p:spPr>
          <a:xfrm>
            <a:off x="6252075" y="4946275"/>
            <a:ext cx="6186488" cy="757904"/>
          </a:xfrm>
          <a:custGeom>
            <a:rect b="b" l="l" r="r" t="t"/>
            <a:pathLst>
              <a:path extrusionOk="0" h="1010539" w="8248650">
                <a:moveTo>
                  <a:pt x="12700" y="0"/>
                </a:moveTo>
                <a:lnTo>
                  <a:pt x="8235950" y="0"/>
                </a:lnTo>
                <a:cubicBezTo>
                  <a:pt x="8242935" y="0"/>
                  <a:pt x="8248650" y="5715"/>
                  <a:pt x="8248650" y="12700"/>
                </a:cubicBezTo>
                <a:lnTo>
                  <a:pt x="8248650" y="997839"/>
                </a:lnTo>
                <a:cubicBezTo>
                  <a:pt x="8248650" y="1004824"/>
                  <a:pt x="8242935" y="1010539"/>
                  <a:pt x="8235950" y="1010539"/>
                </a:cubicBezTo>
                <a:lnTo>
                  <a:pt x="12700" y="1010539"/>
                </a:lnTo>
                <a:cubicBezTo>
                  <a:pt x="5715" y="1010539"/>
                  <a:pt x="0" y="1004824"/>
                  <a:pt x="0" y="997839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997839"/>
                </a:lnTo>
                <a:lnTo>
                  <a:pt x="12700" y="997839"/>
                </a:lnTo>
                <a:lnTo>
                  <a:pt x="12700" y="985139"/>
                </a:lnTo>
                <a:lnTo>
                  <a:pt x="8235950" y="985139"/>
                </a:lnTo>
                <a:lnTo>
                  <a:pt x="8235950" y="997839"/>
                </a:lnTo>
                <a:lnTo>
                  <a:pt x="8223250" y="997839"/>
                </a:lnTo>
                <a:lnTo>
                  <a:pt x="8223250" y="12700"/>
                </a:lnTo>
                <a:lnTo>
                  <a:pt x="8235950" y="12700"/>
                </a:lnTo>
                <a:lnTo>
                  <a:pt x="8235950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12496775" y="4946275"/>
            <a:ext cx="5783866" cy="757904"/>
          </a:xfrm>
          <a:custGeom>
            <a:rect b="b" l="l" r="r" t="t"/>
            <a:pathLst>
              <a:path extrusionOk="0" h="1010539" w="7711821">
                <a:moveTo>
                  <a:pt x="12700" y="0"/>
                </a:moveTo>
                <a:lnTo>
                  <a:pt x="7699121" y="0"/>
                </a:lnTo>
                <a:cubicBezTo>
                  <a:pt x="7706106" y="0"/>
                  <a:pt x="7711821" y="5715"/>
                  <a:pt x="7711821" y="12700"/>
                </a:cubicBezTo>
                <a:lnTo>
                  <a:pt x="7711821" y="997839"/>
                </a:lnTo>
                <a:cubicBezTo>
                  <a:pt x="7711821" y="1004824"/>
                  <a:pt x="7706106" y="1010539"/>
                  <a:pt x="7699121" y="1010539"/>
                </a:cubicBezTo>
                <a:lnTo>
                  <a:pt x="12700" y="1010539"/>
                </a:lnTo>
                <a:cubicBezTo>
                  <a:pt x="5715" y="1010539"/>
                  <a:pt x="0" y="1004824"/>
                  <a:pt x="0" y="997839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997839"/>
                </a:lnTo>
                <a:lnTo>
                  <a:pt x="12700" y="997839"/>
                </a:lnTo>
                <a:lnTo>
                  <a:pt x="12700" y="985139"/>
                </a:lnTo>
                <a:lnTo>
                  <a:pt x="7699121" y="985139"/>
                </a:lnTo>
                <a:lnTo>
                  <a:pt x="7699121" y="997839"/>
                </a:lnTo>
                <a:lnTo>
                  <a:pt x="7686421" y="997839"/>
                </a:lnTo>
                <a:lnTo>
                  <a:pt x="7686421" y="12700"/>
                </a:lnTo>
                <a:lnTo>
                  <a:pt x="7699121" y="12700"/>
                </a:lnTo>
                <a:lnTo>
                  <a:pt x="7699121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"/>
          <p:cNvSpPr txBox="1"/>
          <p:nvPr/>
        </p:nvSpPr>
        <p:spPr>
          <a:xfrm>
            <a:off x="5791489" y="6501678"/>
            <a:ext cx="6705000" cy="106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4576287" y="699975"/>
            <a:ext cx="9135428" cy="5691759"/>
          </a:xfrm>
          <a:custGeom>
            <a:rect b="b" l="l" r="r" t="t"/>
            <a:pathLst>
              <a:path extrusionOk="0" h="7589012" w="12180570">
                <a:moveTo>
                  <a:pt x="0" y="0"/>
                </a:moveTo>
                <a:lnTo>
                  <a:pt x="12180570" y="0"/>
                </a:lnTo>
                <a:lnTo>
                  <a:pt x="12180570" y="7589012"/>
                </a:lnTo>
                <a:lnTo>
                  <a:pt x="0" y="7589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"/>
          <p:cNvSpPr txBox="1"/>
          <p:nvPr/>
        </p:nvSpPr>
        <p:spPr>
          <a:xfrm>
            <a:off x="4571995" y="5023654"/>
            <a:ext cx="86589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8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286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7765363" y="596600"/>
            <a:ext cx="2757297" cy="3770948"/>
          </a:xfrm>
          <a:custGeom>
            <a:rect b="b" l="l" r="r" t="t"/>
            <a:pathLst>
              <a:path extrusionOk="0" h="5027930" w="3676396">
                <a:moveTo>
                  <a:pt x="0" y="0"/>
                </a:moveTo>
                <a:lnTo>
                  <a:pt x="3676396" y="0"/>
                </a:lnTo>
                <a:lnTo>
                  <a:pt x="3676396" y="5027930"/>
                </a:lnTo>
                <a:lnTo>
                  <a:pt x="0" y="502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" r="-6" t="0"/>
            </a:stretch>
          </a:blipFill>
          <a:ln>
            <a:noFill/>
          </a:ln>
        </p:spPr>
      </p:sp>
      <p:sp>
        <p:nvSpPr>
          <p:cNvPr id="362" name="Google Shape;362;p19"/>
          <p:cNvSpPr txBox="1"/>
          <p:nvPr/>
        </p:nvSpPr>
        <p:spPr>
          <a:xfrm>
            <a:off x="2411098" y="7785435"/>
            <a:ext cx="13465804" cy="833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